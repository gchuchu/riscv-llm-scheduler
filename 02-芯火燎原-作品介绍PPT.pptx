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79" r:id="rId3"/>
    <p:sldId id="297" r:id="rId4"/>
    <p:sldId id="298" r:id="rId5"/>
    <p:sldId id="318" r:id="rId6"/>
    <p:sldId id="320" r:id="rId7"/>
    <p:sldId id="307" r:id="rId8"/>
    <p:sldId id="321" r:id="rId9"/>
    <p:sldId id="335" r:id="rId10"/>
    <p:sldId id="337" r:id="rId11"/>
    <p:sldId id="303" r:id="rId12"/>
    <p:sldId id="338" r:id="rId13"/>
    <p:sldId id="342" r:id="rId14"/>
    <p:sldId id="324" r:id="rId15"/>
    <p:sldId id="325" r:id="rId16"/>
    <p:sldId id="326" r:id="rId17"/>
    <p:sldId id="339" r:id="rId18"/>
    <p:sldId id="322" r:id="rId19"/>
    <p:sldId id="311" r:id="rId20"/>
    <p:sldId id="312" r:id="rId21"/>
    <p:sldId id="329" r:id="rId22"/>
    <p:sldId id="330" r:id="rId23"/>
    <p:sldId id="346" r:id="rId24"/>
    <p:sldId id="333" r:id="rId25"/>
    <p:sldId id="316" r:id="rId26"/>
    <p:sldId id="347" r:id="rId27"/>
    <p:sldId id="334" r:id="rId28"/>
    <p:sldId id="344" r:id="rId29"/>
    <p:sldId id="343" r:id="rId30"/>
    <p:sldId id="345" r:id="rId31"/>
    <p:sldId id="314" r:id="rId32"/>
    <p:sldId id="317" r:id="rId33"/>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C3E764B6-3349-7446-97D0-77A2E5ECBD10}">
          <p14:sldIdLst>
            <p14:sldId id="279"/>
            <p14:sldId id="297"/>
            <p14:sldId id="298"/>
            <p14:sldId id="318"/>
            <p14:sldId id="320"/>
            <p14:sldId id="307"/>
            <p14:sldId id="321"/>
            <p14:sldId id="335"/>
            <p14:sldId id="337"/>
            <p14:sldId id="303"/>
            <p14:sldId id="338"/>
            <p14:sldId id="342"/>
            <p14:sldId id="324"/>
            <p14:sldId id="325"/>
            <p14:sldId id="326"/>
            <p14:sldId id="339"/>
            <p14:sldId id="322"/>
            <p14:sldId id="311"/>
            <p14:sldId id="312"/>
            <p14:sldId id="329"/>
            <p14:sldId id="330"/>
            <p14:sldId id="346"/>
            <p14:sldId id="333"/>
            <p14:sldId id="316"/>
            <p14:sldId id="347"/>
            <p14:sldId id="334"/>
            <p14:sldId id="344"/>
            <p14:sldId id="343"/>
            <p14:sldId id="345"/>
            <p14:sldId id="314"/>
            <p14:sldId id="31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7F08"/>
    <a:srgbClr val="08F1F4"/>
    <a:srgbClr val="0C0588"/>
    <a:srgbClr val="0AE9F5"/>
    <a:srgbClr val="00C9DC"/>
    <a:srgbClr val="969696"/>
    <a:srgbClr val="254FEB"/>
    <a:srgbClr val="F0F5FC"/>
    <a:srgbClr val="0A3CF5"/>
    <a:srgbClr val="0A0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555" autoAdjust="0"/>
    <p:restoredTop sz="96405"/>
  </p:normalViewPr>
  <p:slideViewPr>
    <p:cSldViewPr snapToGrid="0" snapToObjects="1">
      <p:cViewPr varScale="1">
        <p:scale>
          <a:sx n="104" d="100"/>
          <a:sy n="104" d="100"/>
        </p:scale>
        <p:origin x="144"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90.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2A1F87-F110-1C45-9864-1659D3ED583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39FF4-4997-9F4F-A2B0-9107E5679A8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noFill/>
        <a:effectLst/>
      </p:bgPr>
    </p:bg>
    <p:spTree>
      <p:nvGrpSpPr>
        <p:cNvPr id="1" name=""/>
        <p:cNvGrpSpPr/>
        <p:nvPr/>
      </p:nvGrpSpPr>
      <p:grpSpPr>
        <a:xfrm>
          <a:off x="0" y="0"/>
          <a:ext cx="0" cy="0"/>
          <a:chOff x="0" y="0"/>
          <a:chExt cx="0" cy="0"/>
        </a:xfrm>
      </p:grpSpPr>
      <p:pic>
        <p:nvPicPr>
          <p:cNvPr id="12" name="图片 11"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7" name="标题 1"/>
          <p:cNvSpPr>
            <a:spLocks noGrp="1"/>
          </p:cNvSpPr>
          <p:nvPr>
            <p:ph type="ctrTitle" hasCustomPrompt="1"/>
          </p:nvPr>
        </p:nvSpPr>
        <p:spPr>
          <a:xfrm>
            <a:off x="1157605" y="1861820"/>
            <a:ext cx="9876790" cy="1758950"/>
          </a:xfrm>
        </p:spPr>
        <p:txBody>
          <a:bodyPr anchor="t">
            <a:noAutofit/>
          </a:bodyPr>
          <a:lstStyle>
            <a:lvl1pPr algn="ctr">
              <a:lnSpc>
                <a:spcPct val="100000"/>
              </a:lnSpc>
              <a:defRPr sz="6000" b="1" i="0">
                <a:solidFill>
                  <a:schemeClr val="bg1"/>
                </a:solidFill>
                <a:latin typeface="+mj-ea"/>
                <a:ea typeface="+mj-ea"/>
              </a:defRPr>
            </a:lvl1pPr>
          </a:lstStyle>
          <a:p>
            <a:r>
              <a:rPr kumimoji="1" lang="zh-CN" altLang="en-US" dirty="0"/>
              <a:t>单击此处编辑作品名称</a:t>
            </a:r>
            <a:endParaRPr kumimoji="1" lang="zh-CN" altLang="en-US" dirty="0"/>
          </a:p>
        </p:txBody>
      </p:sp>
      <p:sp>
        <p:nvSpPr>
          <p:cNvPr id="38" name="日期占位符 3"/>
          <p:cNvSpPr>
            <a:spLocks noGrp="1"/>
          </p:cNvSpPr>
          <p:nvPr>
            <p:ph type="dt" sz="half" idx="10"/>
          </p:nvPr>
        </p:nvSpPr>
        <p:spPr>
          <a:xfrm>
            <a:off x="838200" y="6356350"/>
            <a:ext cx="2743200" cy="365125"/>
          </a:xfrm>
        </p:spPr>
        <p:txBody>
          <a:bodyPr/>
          <a:lstStyle/>
          <a:p>
            <a:fld id="{DBA00916-396A-A444-B6A6-572F44C7530F}" type="datetimeFigureOut">
              <a:rPr kumimoji="1" lang="zh-CN" altLang="en-US" smtClean="0"/>
            </a:fld>
            <a:endParaRPr kumimoji="1" lang="zh-CN" altLang="en-US"/>
          </a:p>
        </p:txBody>
      </p:sp>
      <p:sp>
        <p:nvSpPr>
          <p:cNvPr id="39" name="页脚占位符 4"/>
          <p:cNvSpPr>
            <a:spLocks noGrp="1"/>
          </p:cNvSpPr>
          <p:nvPr>
            <p:ph type="ftr" sz="quarter" idx="11"/>
          </p:nvPr>
        </p:nvSpPr>
        <p:spPr>
          <a:xfrm>
            <a:off x="4038600" y="6356350"/>
            <a:ext cx="4114800" cy="365125"/>
          </a:xfrm>
        </p:spPr>
        <p:txBody>
          <a:bodyPr/>
          <a:lstStyle/>
          <a:p>
            <a:endParaRPr kumimoji="1" lang="zh-CN" altLang="en-US"/>
          </a:p>
        </p:txBody>
      </p:sp>
      <p:sp>
        <p:nvSpPr>
          <p:cNvPr id="40" name="灯片编号占位符 5"/>
          <p:cNvSpPr>
            <a:spLocks noGrp="1"/>
          </p:cNvSpPr>
          <p:nvPr>
            <p:ph type="sldNum" sz="quarter" idx="12"/>
          </p:nvPr>
        </p:nvSpPr>
        <p:spPr>
          <a:xfrm>
            <a:off x="8610600" y="6356350"/>
            <a:ext cx="2743200" cy="365125"/>
          </a:xfrm>
        </p:spPr>
        <p:txBody>
          <a:bodyPr/>
          <a:lstStyle/>
          <a:p>
            <a:fld id="{F0B36D65-86F8-1345-A972-51E3FE9D2458}" type="slidenum">
              <a:rPr kumimoji="1" lang="zh-CN" altLang="en-US" smtClean="0"/>
            </a:fld>
            <a:endParaRPr kumimoji="1" lang="zh-CN" altLang="en-US"/>
          </a:p>
        </p:txBody>
      </p:sp>
      <p:sp>
        <p:nvSpPr>
          <p:cNvPr id="4" name="文本占位符 9"/>
          <p:cNvSpPr>
            <a:spLocks noGrp="1"/>
          </p:cNvSpPr>
          <p:nvPr>
            <p:ph type="body" sz="quarter" idx="14" hasCustomPrompt="1"/>
          </p:nvPr>
        </p:nvSpPr>
        <p:spPr>
          <a:xfrm>
            <a:off x="5099050" y="4641215"/>
            <a:ext cx="3993515"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编辑队伍名称</a:t>
            </a:r>
            <a:r>
              <a:rPr kumimoji="1" lang="en-US" altLang="zh-CN" dirty="0"/>
              <a:t> </a:t>
            </a:r>
            <a:r>
              <a:rPr kumimoji="1" lang="zh-CN" altLang="en-US" dirty="0"/>
              <a:t>禁止出现学校和成员信息</a:t>
            </a:r>
            <a:endParaRPr kumimoji="1" lang="zh-CN" altLang="en-US" dirty="0"/>
          </a:p>
        </p:txBody>
      </p:sp>
      <p:sp>
        <p:nvSpPr>
          <p:cNvPr id="7" name="文本占位符 9"/>
          <p:cNvSpPr>
            <a:spLocks noGrp="1"/>
          </p:cNvSpPr>
          <p:nvPr>
            <p:ph type="body" sz="quarter" idx="20" hasCustomPrompt="1"/>
          </p:nvPr>
        </p:nvSpPr>
        <p:spPr>
          <a:xfrm>
            <a:off x="5099050" y="5077460"/>
            <a:ext cx="3992880"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编辑完成日期</a:t>
            </a:r>
            <a:r>
              <a:rPr kumimoji="1" lang="en-US" altLang="zh-CN" dirty="0"/>
              <a:t> </a:t>
            </a:r>
            <a:r>
              <a:rPr kumimoji="1" lang="zh-CN" altLang="en-US" dirty="0">
                <a:sym typeface="+mn-ea"/>
              </a:rPr>
              <a:t>禁止出现学校和成员信息</a:t>
            </a:r>
            <a:endParaRPr kumimoji="1" lang="zh-CN" altLang="en-US" dirty="0"/>
          </a:p>
          <a:p>
            <a:pPr lvl="0"/>
            <a:endParaRPr kumimoji="1" lang="en-US" altLang="zh-CN" dirty="0"/>
          </a:p>
        </p:txBody>
      </p:sp>
      <p:sp>
        <p:nvSpPr>
          <p:cNvPr id="9" name="文本占位符 9"/>
          <p:cNvSpPr>
            <a:spLocks noGrp="1"/>
          </p:cNvSpPr>
          <p:nvPr>
            <p:ph type="body" sz="quarter" idx="22" hasCustomPrompt="1"/>
          </p:nvPr>
        </p:nvSpPr>
        <p:spPr>
          <a:xfrm>
            <a:off x="3937218" y="4640664"/>
            <a:ext cx="1161805" cy="290369"/>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参赛团队：</a:t>
            </a:r>
            <a:endParaRPr kumimoji="1" lang="zh-CN" altLang="en-US" dirty="0"/>
          </a:p>
        </p:txBody>
      </p:sp>
      <p:sp>
        <p:nvSpPr>
          <p:cNvPr id="54" name="文本占位符 9"/>
          <p:cNvSpPr>
            <a:spLocks noGrp="1"/>
          </p:cNvSpPr>
          <p:nvPr>
            <p:ph type="body" sz="quarter" idx="25" hasCustomPrompt="1"/>
          </p:nvPr>
        </p:nvSpPr>
        <p:spPr>
          <a:xfrm>
            <a:off x="3937218" y="5077480"/>
            <a:ext cx="1161805" cy="290371"/>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完成日期：</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grpSp>
        <p:nvGrpSpPr>
          <p:cNvPr id="105" name="组合 104"/>
          <p:cNvGrpSpPr/>
          <p:nvPr userDrawn="1"/>
        </p:nvGrpSpPr>
        <p:grpSpPr>
          <a:xfrm>
            <a:off x="364475" y="2361991"/>
            <a:ext cx="4978706" cy="1729076"/>
            <a:chOff x="342441" y="2221843"/>
            <a:chExt cx="4978706" cy="1729076"/>
          </a:xfrm>
        </p:grpSpPr>
        <p:sp>
          <p:nvSpPr>
            <p:cNvPr id="107" name="标题 1"/>
            <p:cNvSpPr txBox="1"/>
            <p:nvPr userDrawn="1">
              <p:custDataLst>
                <p:tags r:id="rId2"/>
              </p:custDataLst>
            </p:nvPr>
          </p:nvSpPr>
          <p:spPr>
            <a:xfrm>
              <a:off x="1168706" y="3243360"/>
              <a:ext cx="3326176" cy="70755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a:solidFill>
                    <a:schemeClr val="tx2">
                      <a:lumMod val="50000"/>
                    </a:schemeClr>
                  </a:solidFill>
                  <a:latin typeface="+mj-lt"/>
                  <a:ea typeface="+mj-ea"/>
                  <a:cs typeface="+mj-cs"/>
                </a:defRPr>
              </a:lvl1pPr>
            </a:lstStyle>
            <a:p>
              <a:r>
                <a:rPr kumimoji="1" lang="en-US" altLang="zh-CN" sz="4000" dirty="0">
                  <a:solidFill>
                    <a:schemeClr val="tx2">
                      <a:lumMod val="20000"/>
                      <a:lumOff val="80000"/>
                      <a:alpha val="30000"/>
                    </a:schemeClr>
                  </a:solidFill>
                </a:rPr>
                <a:t>CONTENTS</a:t>
              </a:r>
              <a:endParaRPr kumimoji="1" lang="en-US" altLang="zh-CN" sz="4000" dirty="0">
                <a:solidFill>
                  <a:schemeClr val="tx2">
                    <a:lumMod val="20000"/>
                    <a:lumOff val="80000"/>
                    <a:alpha val="30000"/>
                  </a:schemeClr>
                </a:solidFill>
              </a:endParaRPr>
            </a:p>
          </p:txBody>
        </p:sp>
        <p:sp>
          <p:nvSpPr>
            <p:cNvPr id="112" name="标题 1"/>
            <p:cNvSpPr txBox="1"/>
            <p:nvPr userDrawn="1">
              <p:custDataLst>
                <p:tags r:id="rId3"/>
              </p:custDataLst>
            </p:nvPr>
          </p:nvSpPr>
          <p:spPr>
            <a:xfrm>
              <a:off x="342441" y="2221843"/>
              <a:ext cx="4978706" cy="102151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a:solidFill>
                    <a:schemeClr val="tx2">
                      <a:lumMod val="50000"/>
                    </a:schemeClr>
                  </a:solidFill>
                  <a:latin typeface="+mj-lt"/>
                  <a:ea typeface="+mj-ea"/>
                  <a:cs typeface="+mj-cs"/>
                </a:defRPr>
              </a:lvl1pPr>
            </a:lstStyle>
            <a:p>
              <a:r>
                <a:rPr kumimoji="1" lang="zh-CN" altLang="en-US" sz="6600" dirty="0">
                  <a:solidFill>
                    <a:srgbClr val="080A12"/>
                  </a:solidFill>
                </a:rPr>
                <a:t>目录</a:t>
              </a:r>
              <a:endParaRPr kumimoji="1" lang="zh-CN" altLang="en-US" sz="6600" dirty="0">
                <a:solidFill>
                  <a:srgbClr val="080A12"/>
                </a:solidFill>
              </a:endParaRPr>
            </a:p>
          </p:txBody>
        </p:sp>
      </p:grpSp>
      <p:pic>
        <p:nvPicPr>
          <p:cNvPr id="2" name="图片 1"/>
          <p:cNvPicPr>
            <a:picLocks noChangeAspect="1"/>
          </p:cNvPicPr>
          <p:nvPr userDrawn="1"/>
        </p:nvPicPr>
        <p:blipFill>
          <a:blip r:embed="rId4">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noFill/>
        <a:effectLst/>
      </p:bgPr>
    </p:bg>
    <p:spTree>
      <p:nvGrpSpPr>
        <p:cNvPr id="1" name=""/>
        <p:cNvGrpSpPr/>
        <p:nvPr/>
      </p:nvGrpSpPr>
      <p:grpSpPr>
        <a:xfrm>
          <a:off x="0" y="0"/>
          <a:ext cx="0" cy="0"/>
          <a:chOff x="0" y="0"/>
          <a:chExt cx="0" cy="0"/>
        </a:xfrm>
      </p:grpSpPr>
      <p:pic>
        <p:nvPicPr>
          <p:cNvPr id="7" name="图片 6"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28" name="标题 1"/>
          <p:cNvSpPr txBox="1"/>
          <p:nvPr userDrawn="1"/>
        </p:nvSpPr>
        <p:spPr>
          <a:xfrm>
            <a:off x="2316480" y="2591380"/>
            <a:ext cx="2661920" cy="838835"/>
          </a:xfrm>
          <a:prstGeom prst="rect">
            <a:avLst/>
          </a:prstGeom>
          <a:noFill/>
        </p:spPr>
        <p:txBody>
          <a:bodyPr vert="horz" wrap="square" lIns="90000" tIns="45720" rIns="91440" bIns="45720" rtlCol="0" anchor="ctr">
            <a:spAutoFit/>
          </a:bodyPr>
          <a:lstStyle>
            <a:lvl1pPr algn="ctr" defTabSz="914400" rtl="0" eaLnBrk="1" latinLnBrk="0" hangingPunct="1">
              <a:lnSpc>
                <a:spcPct val="90000"/>
              </a:lnSpc>
              <a:spcBef>
                <a:spcPct val="0"/>
              </a:spcBef>
              <a:buNone/>
              <a:defRPr sz="8800" b="1" kern="1200">
                <a:solidFill>
                  <a:schemeClr val="bg1"/>
                </a:solidFill>
                <a:latin typeface="+mj-lt"/>
                <a:ea typeface="+mj-ea"/>
                <a:cs typeface="+mj-cs"/>
              </a:defRPr>
            </a:lvl1pPr>
          </a:lstStyle>
          <a:p>
            <a:pPr algn="r"/>
            <a:r>
              <a:rPr kumimoji="1" lang="en-US" altLang="zh-CN" sz="5400" b="1" cap="none" spc="0" dirty="0">
                <a:ln w="6600">
                  <a:noFill/>
                  <a:prstDash val="solid"/>
                </a:ln>
                <a:solidFill>
                  <a:schemeClr val="bg1"/>
                </a:solidFill>
                <a:effectLst/>
              </a:rPr>
              <a:t>Part 01</a:t>
            </a:r>
            <a:endParaRPr kumimoji="1" lang="en-US" altLang="zh-CN" sz="5400" b="1" cap="none" spc="0" dirty="0">
              <a:ln w="6600">
                <a:noFill/>
                <a:prstDash val="solid"/>
              </a:ln>
              <a:solidFill>
                <a:schemeClr val="bg1"/>
              </a:solidFill>
              <a:effectLst/>
            </a:endParaRPr>
          </a:p>
        </p:txBody>
      </p:sp>
      <p:sp>
        <p:nvSpPr>
          <p:cNvPr id="29" name="文本占位符 17"/>
          <p:cNvSpPr>
            <a:spLocks noGrp="1"/>
          </p:cNvSpPr>
          <p:nvPr>
            <p:ph type="body" sz="quarter" idx="13" hasCustomPrompt="1"/>
          </p:nvPr>
        </p:nvSpPr>
        <p:spPr>
          <a:xfrm>
            <a:off x="5192421" y="2453241"/>
            <a:ext cx="4304799" cy="1115113"/>
          </a:xfrm>
        </p:spPr>
        <p:txBody>
          <a:bodyPr lIns="90000" anchor="ctr">
            <a:noAutofit/>
          </a:bodyPr>
          <a:lstStyle>
            <a:lvl1pPr marL="0" indent="0" algn="l">
              <a:buNone/>
              <a:defRPr sz="6600" b="1">
                <a:solidFill>
                  <a:schemeClr val="bg1"/>
                </a:solidFill>
                <a:latin typeface="+mj-ea"/>
                <a:ea typeface="+mj-ea"/>
              </a:defRPr>
            </a:lvl1pPr>
          </a:lstStyle>
          <a:p>
            <a:pPr lvl="0"/>
            <a:r>
              <a:rPr kumimoji="1" lang="zh-CN" altLang="en-US" dirty="0"/>
              <a:t>项目介绍</a:t>
            </a:r>
            <a:endParaRPr kumimoji="1" lang="zh-CN" altLang="en-US" dirty="0"/>
          </a:p>
        </p:txBody>
      </p:sp>
      <p:sp>
        <p:nvSpPr>
          <p:cNvPr id="42" name="文本占位符 41"/>
          <p:cNvSpPr>
            <a:spLocks noGrp="1"/>
          </p:cNvSpPr>
          <p:nvPr>
            <p:ph type="body" sz="quarter" idx="14" hasCustomPrompt="1"/>
          </p:nvPr>
        </p:nvSpPr>
        <p:spPr>
          <a:xfrm>
            <a:off x="2330450" y="3770630"/>
            <a:ext cx="7531100" cy="972185"/>
          </a:xfrm>
        </p:spPr>
        <p:txBody>
          <a:bodyPr>
            <a:normAutofit/>
          </a:bodyPr>
          <a:lstStyle>
            <a:lvl1pPr marL="0" indent="0" algn="r">
              <a:lnSpc>
                <a:spcPct val="150000"/>
              </a:lnSpc>
              <a:buNone/>
              <a:defRPr sz="1400">
                <a:solidFill>
                  <a:schemeClr val="bg1"/>
                </a:solidFill>
                <a:latin typeface="+mj-ea"/>
                <a:ea typeface="+mj-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zh-CN" altLang="en-US" dirty="0"/>
              <a:t>单击编辑文本，文字是您思想的提炼，为了最终演示的良好效果，请尽量言简意赅的阐述观点</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25"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defRPr>
            </a:lvl1pPr>
          </a:lstStyle>
          <a:p>
            <a:r>
              <a:rPr lang="en-US" altLang="zh-CN" dirty="0"/>
              <a:t>1.1 </a:t>
            </a:r>
            <a:r>
              <a:rPr lang="zh-CN" altLang="en-US" dirty="0"/>
              <a:t>设计背景</a:t>
            </a:r>
            <a:endParaRPr lang="zh-CN" altLang="en-US" dirty="0"/>
          </a:p>
        </p:txBody>
      </p:sp>
      <p:sp>
        <p:nvSpPr>
          <p:cNvPr id="8" name="任意多边形 7"/>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1.2 </a:t>
            </a:r>
            <a:r>
              <a:rPr lang="zh-CN" altLang="en-US" dirty="0"/>
              <a:t>设计目标</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1.3 </a:t>
            </a:r>
            <a:r>
              <a:rPr lang="zh-CN" altLang="en-US" dirty="0"/>
              <a:t>设计简介</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1.4 </a:t>
            </a:r>
            <a:r>
              <a:rPr lang="zh-CN" altLang="en-US" dirty="0"/>
              <a:t>作品原创性情况说明</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仅标题">
    <p:bg>
      <p:bgPr>
        <a:noFill/>
        <a:effectLst/>
      </p:bgPr>
    </p:bg>
    <p:spTree>
      <p:nvGrpSpPr>
        <p:cNvPr id="1" name=""/>
        <p:cNvGrpSpPr/>
        <p:nvPr/>
      </p:nvGrpSpPr>
      <p:grpSpPr>
        <a:xfrm>
          <a:off x="0" y="0"/>
          <a:ext cx="0" cy="0"/>
          <a:chOff x="0" y="0"/>
          <a:chExt cx="0" cy="0"/>
        </a:xfrm>
      </p:grpSpPr>
      <p:pic>
        <p:nvPicPr>
          <p:cNvPr id="7" name="图片 6"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14" name="标题 1"/>
          <p:cNvSpPr txBox="1"/>
          <p:nvPr userDrawn="1">
            <p:custDataLst>
              <p:tags r:id="rId3"/>
            </p:custDataLst>
          </p:nvPr>
        </p:nvSpPr>
        <p:spPr>
          <a:xfrm>
            <a:off x="2316480" y="2591380"/>
            <a:ext cx="2661920" cy="838835"/>
          </a:xfrm>
          <a:prstGeom prst="rect">
            <a:avLst/>
          </a:prstGeom>
          <a:noFill/>
        </p:spPr>
        <p:txBody>
          <a:bodyPr vert="horz" wrap="square" lIns="90000" tIns="45720" rIns="91440" bIns="45720" rtlCol="0" anchor="ctr">
            <a:spAutoFit/>
          </a:bodyPr>
          <a:lstStyle>
            <a:lvl1pPr algn="ctr" defTabSz="914400" rtl="0" eaLnBrk="1" latinLnBrk="0" hangingPunct="1">
              <a:lnSpc>
                <a:spcPct val="90000"/>
              </a:lnSpc>
              <a:spcBef>
                <a:spcPct val="0"/>
              </a:spcBef>
              <a:buNone/>
              <a:defRPr sz="8800" b="1" kern="1200">
                <a:solidFill>
                  <a:schemeClr val="bg1"/>
                </a:solidFill>
                <a:latin typeface="+mj-lt"/>
                <a:ea typeface="+mj-ea"/>
                <a:cs typeface="+mj-cs"/>
              </a:defRPr>
            </a:lvl1pPr>
          </a:lstStyle>
          <a:p>
            <a:pPr algn="r"/>
            <a:r>
              <a:rPr kumimoji="1" lang="en-US" altLang="zh-CN" sz="5400" b="1" cap="none" spc="0" dirty="0">
                <a:ln w="6600">
                  <a:noFill/>
                  <a:prstDash val="solid"/>
                </a:ln>
                <a:solidFill>
                  <a:schemeClr val="bg1"/>
                </a:solidFill>
                <a:effectLst/>
              </a:rPr>
              <a:t>Part 02</a:t>
            </a:r>
            <a:endParaRPr kumimoji="1" lang="en-US" altLang="zh-CN" sz="5400" b="1" cap="none" spc="0" dirty="0">
              <a:ln w="6600">
                <a:noFill/>
                <a:prstDash val="solid"/>
              </a:ln>
              <a:solidFill>
                <a:schemeClr val="bg1"/>
              </a:solidFill>
              <a:effectLst/>
            </a:endParaRPr>
          </a:p>
        </p:txBody>
      </p:sp>
      <p:sp>
        <p:nvSpPr>
          <p:cNvPr id="15" name="文本占位符 17"/>
          <p:cNvSpPr>
            <a:spLocks noGrp="1"/>
          </p:cNvSpPr>
          <p:nvPr>
            <p:ph type="body" sz="quarter" idx="13" hasCustomPrompt="1"/>
            <p:custDataLst>
              <p:tags r:id="rId4"/>
            </p:custDataLst>
          </p:nvPr>
        </p:nvSpPr>
        <p:spPr>
          <a:xfrm>
            <a:off x="5192421" y="2453241"/>
            <a:ext cx="4304799" cy="1115113"/>
          </a:xfrm>
        </p:spPr>
        <p:txBody>
          <a:bodyPr lIns="90000" anchor="ctr">
            <a:noAutofit/>
          </a:bodyPr>
          <a:lstStyle>
            <a:lvl1pPr marL="0" indent="0" algn="l">
              <a:buNone/>
              <a:defRPr sz="6600" b="1">
                <a:solidFill>
                  <a:schemeClr val="bg1"/>
                </a:solidFill>
                <a:latin typeface="+mj-ea"/>
                <a:ea typeface="+mj-ea"/>
              </a:defRPr>
            </a:lvl1pPr>
          </a:lstStyle>
          <a:p>
            <a:pPr lvl="0"/>
            <a:r>
              <a:rPr kumimoji="1" lang="zh-CN" altLang="en-US" dirty="0"/>
              <a:t>项目亮点</a:t>
            </a:r>
            <a:endParaRPr kumimoji="1" lang="zh-CN" altLang="en-US" dirty="0"/>
          </a:p>
        </p:txBody>
      </p:sp>
      <p:sp>
        <p:nvSpPr>
          <p:cNvPr id="17" name="文本占位符 16"/>
          <p:cNvSpPr>
            <a:spLocks noGrp="1"/>
          </p:cNvSpPr>
          <p:nvPr>
            <p:ph type="body" sz="quarter" idx="14" hasCustomPrompt="1"/>
            <p:custDataLst>
              <p:tags r:id="rId5"/>
            </p:custDataLst>
          </p:nvPr>
        </p:nvSpPr>
        <p:spPr>
          <a:xfrm>
            <a:off x="2330450" y="3770630"/>
            <a:ext cx="7531100" cy="972185"/>
          </a:xfrm>
        </p:spPr>
        <p:txBody>
          <a:bodyPr>
            <a:normAutofit/>
          </a:bodyPr>
          <a:lstStyle>
            <a:lvl1pPr marL="0" indent="0" algn="r">
              <a:lnSpc>
                <a:spcPct val="150000"/>
              </a:lnSpc>
              <a:buNone/>
              <a:defRPr sz="1400">
                <a:solidFill>
                  <a:schemeClr val="bg1"/>
                </a:solidFill>
                <a:latin typeface="+mj-ea"/>
                <a:ea typeface="+mj-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zh-CN" altLang="en-US" dirty="0"/>
              <a:t>单击编辑文本，文字是您思想的提炼，为了最终演示的良好效果，请尽量言简意赅的阐述观点</a:t>
            </a:r>
            <a:endParaRPr kumimoji="1"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2.1 </a:t>
            </a:r>
            <a:r>
              <a:rPr lang="zh-CN" altLang="en-US" dirty="0"/>
              <a:t>功能亮点</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2.2 XX</a:t>
            </a:r>
            <a:r>
              <a:rPr lang="zh-CN" altLang="en-US" dirty="0"/>
              <a:t>亮点</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仅标题">
    <p:bg>
      <p:bgPr>
        <a:noFill/>
        <a:effectLst/>
      </p:bgPr>
    </p:bg>
    <p:spTree>
      <p:nvGrpSpPr>
        <p:cNvPr id="1" name=""/>
        <p:cNvGrpSpPr/>
        <p:nvPr/>
      </p:nvGrpSpPr>
      <p:grpSpPr>
        <a:xfrm>
          <a:off x="0" y="0"/>
          <a:ext cx="0" cy="0"/>
          <a:chOff x="0" y="0"/>
          <a:chExt cx="0" cy="0"/>
        </a:xfrm>
      </p:grpSpPr>
      <p:pic>
        <p:nvPicPr>
          <p:cNvPr id="7" name="图片 6"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15" name="标题 1"/>
          <p:cNvSpPr txBox="1"/>
          <p:nvPr userDrawn="1">
            <p:custDataLst>
              <p:tags r:id="rId3"/>
            </p:custDataLst>
          </p:nvPr>
        </p:nvSpPr>
        <p:spPr>
          <a:xfrm>
            <a:off x="2316480" y="2591380"/>
            <a:ext cx="2661920" cy="838835"/>
          </a:xfrm>
          <a:prstGeom prst="rect">
            <a:avLst/>
          </a:prstGeom>
          <a:noFill/>
        </p:spPr>
        <p:txBody>
          <a:bodyPr vert="horz" wrap="square" lIns="90000" tIns="45720" rIns="91440" bIns="45720" rtlCol="0" anchor="ctr">
            <a:spAutoFit/>
          </a:bodyPr>
          <a:lstStyle>
            <a:lvl1pPr algn="ctr" defTabSz="914400" rtl="0" eaLnBrk="1" latinLnBrk="0" hangingPunct="1">
              <a:lnSpc>
                <a:spcPct val="90000"/>
              </a:lnSpc>
              <a:spcBef>
                <a:spcPct val="0"/>
              </a:spcBef>
              <a:buNone/>
              <a:defRPr sz="8800" b="1" kern="1200">
                <a:solidFill>
                  <a:schemeClr val="bg1"/>
                </a:solidFill>
                <a:latin typeface="+mj-lt"/>
                <a:ea typeface="+mj-ea"/>
                <a:cs typeface="+mj-cs"/>
              </a:defRPr>
            </a:lvl1pPr>
          </a:lstStyle>
          <a:p>
            <a:pPr algn="r"/>
            <a:r>
              <a:rPr kumimoji="1" lang="en-US" altLang="zh-CN" sz="5400" b="1" cap="none" spc="0" dirty="0">
                <a:ln w="6600">
                  <a:noFill/>
                  <a:prstDash val="solid"/>
                </a:ln>
                <a:solidFill>
                  <a:schemeClr val="bg1"/>
                </a:solidFill>
                <a:effectLst/>
              </a:rPr>
              <a:t>Part 03</a:t>
            </a:r>
            <a:endParaRPr kumimoji="1" lang="en-US" altLang="zh-CN" sz="5400" b="1" cap="none" spc="0" dirty="0">
              <a:ln w="6600">
                <a:noFill/>
                <a:prstDash val="solid"/>
              </a:ln>
              <a:solidFill>
                <a:schemeClr val="bg1"/>
              </a:solidFill>
              <a:effectLst/>
            </a:endParaRPr>
          </a:p>
        </p:txBody>
      </p:sp>
      <p:sp>
        <p:nvSpPr>
          <p:cNvPr id="16" name="文本占位符 17"/>
          <p:cNvSpPr>
            <a:spLocks noGrp="1"/>
          </p:cNvSpPr>
          <p:nvPr>
            <p:ph type="body" sz="quarter" idx="13" hasCustomPrompt="1"/>
            <p:custDataLst>
              <p:tags r:id="rId4"/>
            </p:custDataLst>
          </p:nvPr>
        </p:nvSpPr>
        <p:spPr>
          <a:xfrm>
            <a:off x="5192421" y="2453241"/>
            <a:ext cx="4304799" cy="1115113"/>
          </a:xfrm>
        </p:spPr>
        <p:txBody>
          <a:bodyPr lIns="90000" anchor="ctr">
            <a:noAutofit/>
          </a:bodyPr>
          <a:lstStyle>
            <a:lvl1pPr marL="0" indent="0" algn="l">
              <a:buNone/>
              <a:defRPr sz="6600" b="1">
                <a:solidFill>
                  <a:schemeClr val="bg1"/>
                </a:solidFill>
                <a:latin typeface="+mj-ea"/>
                <a:ea typeface="+mj-ea"/>
              </a:defRPr>
            </a:lvl1pPr>
          </a:lstStyle>
          <a:p>
            <a:pPr lvl="0"/>
            <a:r>
              <a:rPr kumimoji="1" lang="zh-CN" altLang="en-US" dirty="0"/>
              <a:t>技术难点</a:t>
            </a:r>
            <a:endParaRPr kumimoji="1" lang="zh-CN" altLang="en-US" dirty="0"/>
          </a:p>
        </p:txBody>
      </p:sp>
      <p:sp>
        <p:nvSpPr>
          <p:cNvPr id="17" name="文本占位符 16"/>
          <p:cNvSpPr>
            <a:spLocks noGrp="1"/>
          </p:cNvSpPr>
          <p:nvPr>
            <p:ph type="body" sz="quarter" idx="14" hasCustomPrompt="1"/>
            <p:custDataLst>
              <p:tags r:id="rId5"/>
            </p:custDataLst>
          </p:nvPr>
        </p:nvSpPr>
        <p:spPr>
          <a:xfrm>
            <a:off x="2330450" y="3770630"/>
            <a:ext cx="7531100" cy="972185"/>
          </a:xfrm>
        </p:spPr>
        <p:txBody>
          <a:bodyPr>
            <a:normAutofit/>
          </a:bodyPr>
          <a:lstStyle>
            <a:lvl1pPr marL="0" indent="0" algn="r">
              <a:lnSpc>
                <a:spcPct val="150000"/>
              </a:lnSpc>
              <a:buNone/>
              <a:defRPr sz="1400">
                <a:solidFill>
                  <a:schemeClr val="bg1"/>
                </a:solidFill>
                <a:latin typeface="+mj-ea"/>
                <a:ea typeface="+mj-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zh-CN" altLang="en-US" dirty="0"/>
              <a:t>单击编辑文本，文字是您思想的提炼，为了最终演示的良好效果，请尽量言简意赅的阐述观点</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3.1</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3.2</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仅标题">
    <p:bg>
      <p:bgPr>
        <a:noFill/>
        <a:effectLst/>
      </p:bgPr>
    </p:bg>
    <p:spTree>
      <p:nvGrpSpPr>
        <p:cNvPr id="1" name=""/>
        <p:cNvGrpSpPr/>
        <p:nvPr/>
      </p:nvGrpSpPr>
      <p:grpSpPr>
        <a:xfrm>
          <a:off x="0" y="0"/>
          <a:ext cx="0" cy="0"/>
          <a:chOff x="0" y="0"/>
          <a:chExt cx="0" cy="0"/>
        </a:xfrm>
      </p:grpSpPr>
      <p:pic>
        <p:nvPicPr>
          <p:cNvPr id="7" name="图片 6"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15" name="标题 1"/>
          <p:cNvSpPr txBox="1"/>
          <p:nvPr userDrawn="1">
            <p:custDataLst>
              <p:tags r:id="rId3"/>
            </p:custDataLst>
          </p:nvPr>
        </p:nvSpPr>
        <p:spPr>
          <a:xfrm>
            <a:off x="2316480" y="2591380"/>
            <a:ext cx="2661920" cy="838835"/>
          </a:xfrm>
          <a:prstGeom prst="rect">
            <a:avLst/>
          </a:prstGeom>
          <a:noFill/>
        </p:spPr>
        <p:txBody>
          <a:bodyPr vert="horz" wrap="square" lIns="90000" tIns="45720" rIns="91440" bIns="45720" rtlCol="0" anchor="ctr">
            <a:spAutoFit/>
          </a:bodyPr>
          <a:lstStyle>
            <a:lvl1pPr algn="ctr" defTabSz="914400" rtl="0" eaLnBrk="1" latinLnBrk="0" hangingPunct="1">
              <a:lnSpc>
                <a:spcPct val="90000"/>
              </a:lnSpc>
              <a:spcBef>
                <a:spcPct val="0"/>
              </a:spcBef>
              <a:buNone/>
              <a:defRPr sz="8800" b="1" kern="1200">
                <a:solidFill>
                  <a:schemeClr val="bg1"/>
                </a:solidFill>
                <a:latin typeface="+mj-lt"/>
                <a:ea typeface="+mj-ea"/>
                <a:cs typeface="+mj-cs"/>
              </a:defRPr>
            </a:lvl1pPr>
          </a:lstStyle>
          <a:p>
            <a:pPr algn="r"/>
            <a:r>
              <a:rPr kumimoji="1" lang="en-US" altLang="zh-CN" sz="5400" b="1" cap="none" spc="0" dirty="0">
                <a:ln w="6600">
                  <a:noFill/>
                  <a:prstDash val="solid"/>
                </a:ln>
                <a:solidFill>
                  <a:schemeClr val="bg1"/>
                </a:solidFill>
                <a:effectLst/>
              </a:rPr>
              <a:t>Part 04</a:t>
            </a:r>
            <a:endParaRPr kumimoji="1" lang="en-US" altLang="zh-CN" sz="5400" b="1" cap="none" spc="0" dirty="0">
              <a:ln w="6600">
                <a:noFill/>
                <a:prstDash val="solid"/>
              </a:ln>
              <a:solidFill>
                <a:schemeClr val="bg1"/>
              </a:solidFill>
              <a:effectLst/>
            </a:endParaRPr>
          </a:p>
        </p:txBody>
      </p:sp>
      <p:sp>
        <p:nvSpPr>
          <p:cNvPr id="16" name="文本占位符 17"/>
          <p:cNvSpPr>
            <a:spLocks noGrp="1"/>
          </p:cNvSpPr>
          <p:nvPr>
            <p:ph type="body" sz="quarter" idx="13" hasCustomPrompt="1"/>
            <p:custDataLst>
              <p:tags r:id="rId4"/>
            </p:custDataLst>
          </p:nvPr>
        </p:nvSpPr>
        <p:spPr>
          <a:xfrm>
            <a:off x="5192421" y="2453241"/>
            <a:ext cx="4304799" cy="1115113"/>
          </a:xfrm>
        </p:spPr>
        <p:txBody>
          <a:bodyPr lIns="90000" anchor="ctr">
            <a:noAutofit/>
          </a:bodyPr>
          <a:lstStyle>
            <a:lvl1pPr marL="0" indent="0" algn="l">
              <a:buNone/>
              <a:defRPr sz="6600" b="1">
                <a:solidFill>
                  <a:schemeClr val="bg1"/>
                </a:solidFill>
                <a:latin typeface="+mj-ea"/>
                <a:ea typeface="+mj-ea"/>
              </a:defRPr>
            </a:lvl1pPr>
          </a:lstStyle>
          <a:p>
            <a:pPr lvl="0"/>
            <a:r>
              <a:rPr kumimoji="1" lang="zh-CN" altLang="en-US" dirty="0"/>
              <a:t>项目测试</a:t>
            </a:r>
            <a:endParaRPr kumimoji="1" lang="zh-CN" altLang="en-US" dirty="0"/>
          </a:p>
        </p:txBody>
      </p:sp>
      <p:sp>
        <p:nvSpPr>
          <p:cNvPr id="17" name="文本占位符 16"/>
          <p:cNvSpPr>
            <a:spLocks noGrp="1"/>
          </p:cNvSpPr>
          <p:nvPr>
            <p:ph type="body" sz="quarter" idx="14" hasCustomPrompt="1"/>
            <p:custDataLst>
              <p:tags r:id="rId5"/>
            </p:custDataLst>
          </p:nvPr>
        </p:nvSpPr>
        <p:spPr>
          <a:xfrm>
            <a:off x="2330450" y="3770630"/>
            <a:ext cx="7531100" cy="972185"/>
          </a:xfrm>
        </p:spPr>
        <p:txBody>
          <a:bodyPr>
            <a:normAutofit/>
          </a:bodyPr>
          <a:lstStyle>
            <a:lvl1pPr marL="0" indent="0" algn="r">
              <a:lnSpc>
                <a:spcPct val="150000"/>
              </a:lnSpc>
              <a:buNone/>
              <a:defRPr sz="1400">
                <a:solidFill>
                  <a:schemeClr val="bg1"/>
                </a:solidFill>
                <a:latin typeface="+mj-ea"/>
                <a:ea typeface="+mj-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zh-CN" altLang="en-US" dirty="0"/>
              <a:t>单击编辑文本，文字是您思想的提炼，为了最终演示的良好效果，请尽量言简意赅的阐述观点</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9" name="内容占位符 8"/>
          <p:cNvSpPr>
            <a:spLocks noGrp="1"/>
          </p:cNvSpPr>
          <p:nvPr>
            <p:ph sz="quarter" idx="14"/>
          </p:nvPr>
        </p:nvSpPr>
        <p:spPr>
          <a:xfrm>
            <a:off x="529218" y="1445886"/>
            <a:ext cx="11133563" cy="4622027"/>
          </a:xfrm>
        </p:spPr>
        <p:txBody>
          <a:bodyPr/>
          <a:lstStyle>
            <a:lvl1pPr>
              <a:defRPr b="0" i="0">
                <a:solidFill>
                  <a:srgbClr val="090509"/>
                </a:solidFill>
                <a:latin typeface="+mn-ea"/>
                <a:ea typeface="+mn-ea"/>
              </a:defRPr>
            </a:lvl1pPr>
            <a:lvl2pPr>
              <a:defRPr b="0" i="0">
                <a:solidFill>
                  <a:srgbClr val="090509"/>
                </a:solidFill>
                <a:latin typeface="+mn-ea"/>
                <a:ea typeface="+mn-ea"/>
              </a:defRPr>
            </a:lvl2pPr>
            <a:lvl3pPr>
              <a:defRPr b="0" i="0">
                <a:solidFill>
                  <a:srgbClr val="090509"/>
                </a:solidFill>
                <a:latin typeface="+mn-ea"/>
                <a:ea typeface="+mn-ea"/>
              </a:defRPr>
            </a:lvl3pPr>
            <a:lvl4pPr>
              <a:defRPr b="0" i="0">
                <a:solidFill>
                  <a:srgbClr val="090509"/>
                </a:solidFill>
                <a:latin typeface="+mn-ea"/>
                <a:ea typeface="+mn-ea"/>
              </a:defRPr>
            </a:lvl4pPr>
            <a:lvl5pPr>
              <a:defRPr b="0" i="0">
                <a:solidFill>
                  <a:srgbClr val="090509"/>
                </a:solidFill>
                <a:latin typeface="+mn-ea"/>
                <a:ea typeface="+mn-ea"/>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4.1 </a:t>
            </a:r>
            <a:r>
              <a:rPr lang="zh-CN" altLang="en-US" dirty="0"/>
              <a:t>项目测试结果说明</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仅标题">
    <p:bg>
      <p:bgPr>
        <a:noFill/>
        <a:effectLst/>
      </p:bgPr>
    </p:bg>
    <p:spTree>
      <p:nvGrpSpPr>
        <p:cNvPr id="1" name=""/>
        <p:cNvGrpSpPr/>
        <p:nvPr/>
      </p:nvGrpSpPr>
      <p:grpSpPr>
        <a:xfrm>
          <a:off x="0" y="0"/>
          <a:ext cx="0" cy="0"/>
          <a:chOff x="0" y="0"/>
          <a:chExt cx="0" cy="0"/>
        </a:xfrm>
      </p:grpSpPr>
      <p:pic>
        <p:nvPicPr>
          <p:cNvPr id="7" name="图片 6"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15" name="标题 1"/>
          <p:cNvSpPr txBox="1"/>
          <p:nvPr userDrawn="1">
            <p:custDataLst>
              <p:tags r:id="rId3"/>
            </p:custDataLst>
          </p:nvPr>
        </p:nvSpPr>
        <p:spPr>
          <a:xfrm>
            <a:off x="2316480" y="2591380"/>
            <a:ext cx="2661920" cy="838835"/>
          </a:xfrm>
          <a:prstGeom prst="rect">
            <a:avLst/>
          </a:prstGeom>
          <a:noFill/>
        </p:spPr>
        <p:txBody>
          <a:bodyPr vert="horz" wrap="square" lIns="90000" tIns="45720" rIns="91440" bIns="45720" rtlCol="0" anchor="ctr">
            <a:spAutoFit/>
          </a:bodyPr>
          <a:lstStyle>
            <a:lvl1pPr algn="ctr" defTabSz="914400" rtl="0" eaLnBrk="1" latinLnBrk="0" hangingPunct="1">
              <a:lnSpc>
                <a:spcPct val="90000"/>
              </a:lnSpc>
              <a:spcBef>
                <a:spcPct val="0"/>
              </a:spcBef>
              <a:buNone/>
              <a:defRPr sz="8800" b="1" kern="1200">
                <a:solidFill>
                  <a:schemeClr val="bg1"/>
                </a:solidFill>
                <a:latin typeface="+mj-lt"/>
                <a:ea typeface="+mj-ea"/>
                <a:cs typeface="+mj-cs"/>
              </a:defRPr>
            </a:lvl1pPr>
          </a:lstStyle>
          <a:p>
            <a:pPr algn="r"/>
            <a:r>
              <a:rPr kumimoji="1" lang="en-US" altLang="zh-CN" sz="5400" b="1" cap="none" spc="0" dirty="0">
                <a:ln w="6600">
                  <a:noFill/>
                  <a:prstDash val="solid"/>
                </a:ln>
                <a:solidFill>
                  <a:schemeClr val="bg1"/>
                </a:solidFill>
                <a:effectLst/>
              </a:rPr>
              <a:t>Part 05</a:t>
            </a:r>
            <a:endParaRPr kumimoji="1" lang="en-US" altLang="zh-CN" sz="5400" b="1" cap="none" spc="0" dirty="0">
              <a:ln w="6600">
                <a:noFill/>
                <a:prstDash val="solid"/>
              </a:ln>
              <a:solidFill>
                <a:schemeClr val="bg1"/>
              </a:solidFill>
              <a:effectLst/>
            </a:endParaRPr>
          </a:p>
        </p:txBody>
      </p:sp>
      <p:sp>
        <p:nvSpPr>
          <p:cNvPr id="16" name="文本占位符 17"/>
          <p:cNvSpPr>
            <a:spLocks noGrp="1"/>
          </p:cNvSpPr>
          <p:nvPr>
            <p:ph type="body" sz="quarter" idx="13" hasCustomPrompt="1"/>
            <p:custDataLst>
              <p:tags r:id="rId4"/>
            </p:custDataLst>
          </p:nvPr>
        </p:nvSpPr>
        <p:spPr>
          <a:xfrm>
            <a:off x="5192421" y="2453241"/>
            <a:ext cx="4304799" cy="1115113"/>
          </a:xfrm>
        </p:spPr>
        <p:txBody>
          <a:bodyPr lIns="90000" anchor="ctr">
            <a:noAutofit/>
          </a:bodyPr>
          <a:lstStyle>
            <a:lvl1pPr marL="0" indent="0" algn="l">
              <a:buNone/>
              <a:defRPr sz="6600" b="1">
                <a:solidFill>
                  <a:schemeClr val="bg1"/>
                </a:solidFill>
                <a:latin typeface="+mj-ea"/>
                <a:ea typeface="+mj-ea"/>
              </a:defRPr>
            </a:lvl1pPr>
          </a:lstStyle>
          <a:p>
            <a:pPr lvl="0"/>
            <a:r>
              <a:rPr kumimoji="1" lang="zh-CN" altLang="en-US" dirty="0"/>
              <a:t>作品演示</a:t>
            </a:r>
            <a:endParaRPr kumimoji="1" lang="zh-CN" altLang="en-US" dirty="0"/>
          </a:p>
        </p:txBody>
      </p:sp>
      <p:sp>
        <p:nvSpPr>
          <p:cNvPr id="17" name="文本占位符 16"/>
          <p:cNvSpPr>
            <a:spLocks noGrp="1"/>
          </p:cNvSpPr>
          <p:nvPr>
            <p:ph type="body" sz="quarter" idx="14" hasCustomPrompt="1"/>
            <p:custDataLst>
              <p:tags r:id="rId5"/>
            </p:custDataLst>
          </p:nvPr>
        </p:nvSpPr>
        <p:spPr>
          <a:xfrm>
            <a:off x="2330450" y="3770630"/>
            <a:ext cx="7531100" cy="972185"/>
          </a:xfrm>
        </p:spPr>
        <p:txBody>
          <a:bodyPr>
            <a:normAutofit/>
          </a:bodyPr>
          <a:lstStyle>
            <a:lvl1pPr marL="0" indent="0" algn="r">
              <a:lnSpc>
                <a:spcPct val="150000"/>
              </a:lnSpc>
              <a:buNone/>
              <a:defRPr sz="1400">
                <a:solidFill>
                  <a:schemeClr val="bg1"/>
                </a:solidFill>
                <a:latin typeface="+mj-ea"/>
                <a:ea typeface="+mj-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zh-CN" altLang="en-US" dirty="0"/>
              <a:t>单击编辑文本，文字是您思想的提炼，为了最终演示的良好效果，请尽量言简意赅的阐述观点</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仅标题">
    <p:bg>
      <p:bgPr>
        <a:solidFill>
          <a:srgbClr val="F0F5FC"/>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
        <p:nvSpPr>
          <p:cNvPr id="6" name="媒体占位符 5"/>
          <p:cNvSpPr>
            <a:spLocks noGrp="1"/>
          </p:cNvSpPr>
          <p:nvPr>
            <p:ph type="media" sz="quarter" idx="15"/>
          </p:nvPr>
        </p:nvSpPr>
        <p:spPr>
          <a:xfrm>
            <a:off x="529218" y="1419861"/>
            <a:ext cx="11133563" cy="4648052"/>
          </a:xfrm>
        </p:spPr>
        <p:txBody>
          <a:bodyPr/>
          <a:lstStyle>
            <a:lvl1pPr>
              <a:defRPr b="0" i="0">
                <a:solidFill>
                  <a:srgbClr val="090509"/>
                </a:solidFill>
                <a:latin typeface="+mn-ea"/>
                <a:ea typeface="+mn-ea"/>
              </a:defRPr>
            </a:lvl1pPr>
          </a:lstStyle>
          <a:p>
            <a:endParaRPr kumimoji="1" lang="zh-CN" altLang="en-US"/>
          </a:p>
        </p:txBody>
      </p:sp>
      <p:sp>
        <p:nvSpPr>
          <p:cNvPr id="8" name="任意形状 24"/>
          <p:cNvSpPr/>
          <p:nvPr userDrawn="1">
            <p:custDataLst>
              <p:tags r:id="rId2"/>
            </p:custDataLst>
          </p:nvPr>
        </p:nvSpPr>
        <p:spPr>
          <a:xfrm>
            <a:off x="1" y="6533215"/>
            <a:ext cx="12192553" cy="214286"/>
          </a:xfrm>
          <a:custGeom>
            <a:avLst/>
            <a:gdLst>
              <a:gd name="connsiteX0" fmla="*/ 12080953 w 12192553"/>
              <a:gd name="connsiteY0" fmla="*/ 0 h 214286"/>
              <a:gd name="connsiteX1" fmla="*/ 12192553 w 12192553"/>
              <a:gd name="connsiteY1" fmla="*/ 0 h 214286"/>
              <a:gd name="connsiteX2" fmla="*/ 12192553 w 12192553"/>
              <a:gd name="connsiteY2" fmla="*/ 214286 h 214286"/>
              <a:gd name="connsiteX3" fmla="*/ 12080953 w 12192553"/>
              <a:gd name="connsiteY3" fmla="*/ 214286 h 214286"/>
              <a:gd name="connsiteX4" fmla="*/ 11883483 w 12192553"/>
              <a:gd name="connsiteY4" fmla="*/ 0 h 214286"/>
              <a:gd name="connsiteX5" fmla="*/ 11995083 w 12192553"/>
              <a:gd name="connsiteY5" fmla="*/ 0 h 214286"/>
              <a:gd name="connsiteX6" fmla="*/ 11995083 w 12192553"/>
              <a:gd name="connsiteY6" fmla="*/ 214286 h 214286"/>
              <a:gd name="connsiteX7" fmla="*/ 11883483 w 12192553"/>
              <a:gd name="connsiteY7" fmla="*/ 214286 h 214286"/>
              <a:gd name="connsiteX8" fmla="*/ 11686013 w 12192553"/>
              <a:gd name="connsiteY8" fmla="*/ 0 h 214286"/>
              <a:gd name="connsiteX9" fmla="*/ 11797613 w 12192553"/>
              <a:gd name="connsiteY9" fmla="*/ 0 h 214286"/>
              <a:gd name="connsiteX10" fmla="*/ 11797613 w 12192553"/>
              <a:gd name="connsiteY10" fmla="*/ 214286 h 214286"/>
              <a:gd name="connsiteX11" fmla="*/ 11686013 w 12192553"/>
              <a:gd name="connsiteY11" fmla="*/ 214286 h 214286"/>
              <a:gd name="connsiteX12" fmla="*/ 0 w 12192553"/>
              <a:gd name="connsiteY12" fmla="*/ 0 h 214286"/>
              <a:gd name="connsiteX13" fmla="*/ 11588399 w 12192553"/>
              <a:gd name="connsiteY13" fmla="*/ 0 h 214286"/>
              <a:gd name="connsiteX14" fmla="*/ 11588399 w 12192553"/>
              <a:gd name="connsiteY14" fmla="*/ 214286 h 214286"/>
              <a:gd name="connsiteX15" fmla="*/ 0 w 12192553"/>
              <a:gd name="connsiteY15" fmla="*/ 214286 h 2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553" h="214286">
                <a:moveTo>
                  <a:pt x="12080953" y="0"/>
                </a:moveTo>
                <a:lnTo>
                  <a:pt x="12192553" y="0"/>
                </a:lnTo>
                <a:lnTo>
                  <a:pt x="12192553" y="214286"/>
                </a:lnTo>
                <a:lnTo>
                  <a:pt x="12080953"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a:gsLst>
              <a:gs pos="100000">
                <a:srgbClr val="642FFF"/>
              </a:gs>
              <a:gs pos="0">
                <a:srgbClr val="254FEB"/>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2" name="标题 11"/>
          <p:cNvSpPr>
            <a:spLocks noGrp="1"/>
          </p:cNvSpPr>
          <p:nvPr>
            <p:ph type="title" hasCustomPrompt="1"/>
            <p:custDataLst>
              <p:tags r:id="rId3"/>
            </p:custDataLst>
          </p:nvPr>
        </p:nvSpPr>
        <p:spPr>
          <a:xfrm>
            <a:off x="528955" y="522605"/>
            <a:ext cx="7624445" cy="491490"/>
          </a:xfrm>
        </p:spPr>
        <p:txBody>
          <a:bodyPr wrap="square" anchor="ctr" anchorCtr="0">
            <a:spAutoFit/>
          </a:bodyPr>
          <a:lstStyle>
            <a:lvl1pPr>
              <a:lnSpc>
                <a:spcPct val="100000"/>
              </a:lnSpc>
              <a:defRPr sz="2600" b="1">
                <a:solidFill>
                  <a:srgbClr val="254FEB"/>
                </a:solidFill>
                <a:effectLst/>
                <a:latin typeface="+mj-ea"/>
                <a:ea typeface="+mj-ea"/>
                <a:cs typeface="+mj-ea"/>
              </a:defRPr>
            </a:lvl1pPr>
          </a:lstStyle>
          <a:p>
            <a:r>
              <a:rPr lang="en-US" altLang="zh-CN" dirty="0"/>
              <a:t>5.1 </a:t>
            </a:r>
            <a:r>
              <a:rPr lang="zh-CN" altLang="en-US" dirty="0"/>
              <a:t>作品演示播放</a:t>
            </a:r>
            <a:endParaRPr lang="zh-CN" altLang="en-US" dirty="0"/>
          </a:p>
        </p:txBody>
      </p:sp>
      <p:sp>
        <p:nvSpPr>
          <p:cNvPr id="10" name="任意多边形 9"/>
          <p:cNvSpPr/>
          <p:nvPr userDrawn="1">
            <p:custDataLst>
              <p:tags r:id="rId4"/>
            </p:custDataLst>
          </p:nvPr>
        </p:nvSpPr>
        <p:spPr>
          <a:xfrm>
            <a:off x="589280" y="1022985"/>
            <a:ext cx="793750" cy="78105"/>
          </a:xfrm>
          <a:custGeom>
            <a:avLst/>
            <a:gdLst>
              <a:gd name="adj" fmla="val 84552"/>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250" h="123">
                <a:moveTo>
                  <a:pt x="0" y="123"/>
                </a:moveTo>
                <a:lnTo>
                  <a:pt x="104" y="0"/>
                </a:lnTo>
                <a:lnTo>
                  <a:pt x="218" y="0"/>
                </a:lnTo>
                <a:lnTo>
                  <a:pt x="114" y="123"/>
                </a:lnTo>
                <a:lnTo>
                  <a:pt x="0" y="123"/>
                </a:lnTo>
                <a:close/>
                <a:moveTo>
                  <a:pt x="172" y="123"/>
                </a:moveTo>
                <a:lnTo>
                  <a:pt x="276" y="0"/>
                </a:lnTo>
                <a:lnTo>
                  <a:pt x="390" y="0"/>
                </a:lnTo>
                <a:lnTo>
                  <a:pt x="286" y="123"/>
                </a:lnTo>
                <a:lnTo>
                  <a:pt x="172" y="123"/>
                </a:lnTo>
                <a:close/>
                <a:moveTo>
                  <a:pt x="344" y="123"/>
                </a:moveTo>
                <a:lnTo>
                  <a:pt x="448" y="0"/>
                </a:lnTo>
                <a:lnTo>
                  <a:pt x="562" y="0"/>
                </a:lnTo>
                <a:lnTo>
                  <a:pt x="458" y="123"/>
                </a:lnTo>
                <a:lnTo>
                  <a:pt x="344" y="123"/>
                </a:lnTo>
                <a:close/>
                <a:moveTo>
                  <a:pt x="516" y="123"/>
                </a:moveTo>
                <a:lnTo>
                  <a:pt x="620" y="0"/>
                </a:lnTo>
                <a:lnTo>
                  <a:pt x="734" y="0"/>
                </a:lnTo>
                <a:lnTo>
                  <a:pt x="630" y="123"/>
                </a:lnTo>
                <a:lnTo>
                  <a:pt x="516" y="123"/>
                </a:lnTo>
                <a:close/>
                <a:moveTo>
                  <a:pt x="688" y="123"/>
                </a:moveTo>
                <a:lnTo>
                  <a:pt x="792" y="0"/>
                </a:lnTo>
                <a:lnTo>
                  <a:pt x="906" y="0"/>
                </a:lnTo>
                <a:lnTo>
                  <a:pt x="802" y="123"/>
                </a:lnTo>
                <a:lnTo>
                  <a:pt x="688" y="123"/>
                </a:lnTo>
                <a:close/>
                <a:moveTo>
                  <a:pt x="860" y="123"/>
                </a:moveTo>
                <a:lnTo>
                  <a:pt x="964" y="0"/>
                </a:lnTo>
                <a:lnTo>
                  <a:pt x="1078" y="0"/>
                </a:lnTo>
                <a:lnTo>
                  <a:pt x="974" y="123"/>
                </a:lnTo>
                <a:lnTo>
                  <a:pt x="860" y="123"/>
                </a:lnTo>
                <a:close/>
                <a:moveTo>
                  <a:pt x="1032" y="123"/>
                </a:moveTo>
                <a:lnTo>
                  <a:pt x="1136" y="0"/>
                </a:lnTo>
                <a:lnTo>
                  <a:pt x="1250" y="0"/>
                </a:lnTo>
                <a:lnTo>
                  <a:pt x="1146" y="123"/>
                </a:lnTo>
                <a:lnTo>
                  <a:pt x="1032" y="123"/>
                </a:lnTo>
                <a:close/>
              </a:path>
            </a:pathLst>
          </a:custGeom>
          <a:gradFill>
            <a:gsLst>
              <a:gs pos="29000">
                <a:srgbClr val="254FEB"/>
              </a:gs>
              <a:gs pos="100000">
                <a:srgbClr val="254FEB">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a:blip r:embed="rId5">
            <a:clrChange>
              <a:clrFrom>
                <a:srgbClr val="FFFFFF">
                  <a:alpha val="100000"/>
                </a:srgbClr>
              </a:clrFrom>
              <a:clrTo>
                <a:srgbClr val="FFFFFF">
                  <a:alpha val="100000"/>
                  <a:alpha val="0"/>
                </a:srgbClr>
              </a:clrTo>
            </a:clrChange>
          </a:blip>
          <a:stretch>
            <a:fillRect/>
          </a:stretch>
        </p:blipFill>
        <p:spPr>
          <a:xfrm>
            <a:off x="8815705" y="137795"/>
            <a:ext cx="3376291" cy="5976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标题幻灯片">
    <p:bg>
      <p:bgPr>
        <a:noFill/>
        <a:effectLst/>
      </p:bgPr>
    </p:bg>
    <p:spTree>
      <p:nvGrpSpPr>
        <p:cNvPr id="1" name=""/>
        <p:cNvGrpSpPr/>
        <p:nvPr/>
      </p:nvGrpSpPr>
      <p:grpSpPr>
        <a:xfrm>
          <a:off x="0" y="0"/>
          <a:ext cx="0" cy="0"/>
          <a:chOff x="0" y="0"/>
          <a:chExt cx="0" cy="0"/>
        </a:xfrm>
      </p:grpSpPr>
      <p:pic>
        <p:nvPicPr>
          <p:cNvPr id="12" name="图片 11"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7" name="标题 1"/>
          <p:cNvSpPr>
            <a:spLocks noGrp="1"/>
          </p:cNvSpPr>
          <p:nvPr>
            <p:ph type="ctrTitle" hasCustomPrompt="1"/>
          </p:nvPr>
        </p:nvSpPr>
        <p:spPr>
          <a:xfrm>
            <a:off x="1157605" y="1861820"/>
            <a:ext cx="9876790" cy="1758950"/>
          </a:xfrm>
        </p:spPr>
        <p:txBody>
          <a:bodyPr anchor="t">
            <a:noAutofit/>
          </a:bodyPr>
          <a:lstStyle>
            <a:lvl1pPr algn="ctr">
              <a:lnSpc>
                <a:spcPct val="100000"/>
              </a:lnSpc>
              <a:defRPr sz="6000" b="1" i="0">
                <a:solidFill>
                  <a:schemeClr val="bg1"/>
                </a:solidFill>
                <a:latin typeface="+mj-ea"/>
                <a:ea typeface="+mj-ea"/>
              </a:defRPr>
            </a:lvl1pPr>
          </a:lstStyle>
          <a:p>
            <a:r>
              <a:rPr kumimoji="1" lang="zh-CN" altLang="en-US" dirty="0"/>
              <a:t>单击此处编辑结束语</a:t>
            </a:r>
            <a:endParaRPr kumimoji="1" lang="zh-CN" altLang="en-US" dirty="0"/>
          </a:p>
        </p:txBody>
      </p:sp>
      <p:sp>
        <p:nvSpPr>
          <p:cNvPr id="38" name="日期占位符 3"/>
          <p:cNvSpPr>
            <a:spLocks noGrp="1"/>
          </p:cNvSpPr>
          <p:nvPr>
            <p:ph type="dt" sz="half" idx="10"/>
          </p:nvPr>
        </p:nvSpPr>
        <p:spPr>
          <a:xfrm>
            <a:off x="838200" y="6356350"/>
            <a:ext cx="2743200" cy="365125"/>
          </a:xfrm>
        </p:spPr>
        <p:txBody>
          <a:bodyPr/>
          <a:lstStyle/>
          <a:p>
            <a:fld id="{DBA00916-396A-A444-B6A6-572F44C7530F}" type="datetimeFigureOut">
              <a:rPr kumimoji="1" lang="zh-CN" altLang="en-US" smtClean="0"/>
            </a:fld>
            <a:endParaRPr kumimoji="1" lang="zh-CN" altLang="en-US"/>
          </a:p>
        </p:txBody>
      </p:sp>
      <p:sp>
        <p:nvSpPr>
          <p:cNvPr id="39" name="页脚占位符 4"/>
          <p:cNvSpPr>
            <a:spLocks noGrp="1"/>
          </p:cNvSpPr>
          <p:nvPr>
            <p:ph type="ftr" sz="quarter" idx="11"/>
          </p:nvPr>
        </p:nvSpPr>
        <p:spPr>
          <a:xfrm>
            <a:off x="4038600" y="6356350"/>
            <a:ext cx="4114800" cy="365125"/>
          </a:xfrm>
        </p:spPr>
        <p:txBody>
          <a:bodyPr/>
          <a:lstStyle/>
          <a:p>
            <a:endParaRPr kumimoji="1" lang="zh-CN" altLang="en-US"/>
          </a:p>
        </p:txBody>
      </p:sp>
      <p:sp>
        <p:nvSpPr>
          <p:cNvPr id="40" name="灯片编号占位符 5"/>
          <p:cNvSpPr>
            <a:spLocks noGrp="1"/>
          </p:cNvSpPr>
          <p:nvPr>
            <p:ph type="sldNum" sz="quarter" idx="12"/>
          </p:nvPr>
        </p:nvSpPr>
        <p:spPr>
          <a:xfrm>
            <a:off x="8610600" y="6356350"/>
            <a:ext cx="2743200" cy="365125"/>
          </a:xfrm>
        </p:spPr>
        <p:txBody>
          <a:bodyPr/>
          <a:lstStyle/>
          <a:p>
            <a:fld id="{F0B36D65-86F8-1345-A972-51E3FE9D2458}" type="slidenum">
              <a:rPr kumimoji="1" lang="zh-CN" altLang="en-US" smtClean="0"/>
            </a:fld>
            <a:endParaRPr kumimoji="1" lang="zh-CN" altLang="en-US"/>
          </a:p>
        </p:txBody>
      </p:sp>
      <p:sp>
        <p:nvSpPr>
          <p:cNvPr id="4" name="文本占位符 9"/>
          <p:cNvSpPr>
            <a:spLocks noGrp="1"/>
          </p:cNvSpPr>
          <p:nvPr>
            <p:ph type="body" sz="quarter" idx="14" hasCustomPrompt="1"/>
          </p:nvPr>
        </p:nvSpPr>
        <p:spPr>
          <a:xfrm>
            <a:off x="5099050" y="4641215"/>
            <a:ext cx="3866515"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编辑队伍名称</a:t>
            </a:r>
            <a:r>
              <a:rPr kumimoji="1" lang="en-US" altLang="zh-CN" dirty="0"/>
              <a:t> </a:t>
            </a:r>
            <a:r>
              <a:rPr kumimoji="1" lang="zh-CN" altLang="en-US" dirty="0">
                <a:sym typeface="+mn-ea"/>
              </a:rPr>
              <a:t>禁止出现学校和成员信息</a:t>
            </a:r>
            <a:endParaRPr kumimoji="1" lang="zh-CN" altLang="en-US" dirty="0"/>
          </a:p>
          <a:p>
            <a:pPr lvl="0"/>
            <a:endParaRPr kumimoji="1" lang="zh-CN" altLang="en-US" dirty="0"/>
          </a:p>
        </p:txBody>
      </p:sp>
      <p:sp>
        <p:nvSpPr>
          <p:cNvPr id="7" name="文本占位符 9"/>
          <p:cNvSpPr>
            <a:spLocks noGrp="1"/>
          </p:cNvSpPr>
          <p:nvPr>
            <p:ph type="body" sz="quarter" idx="20" hasCustomPrompt="1"/>
          </p:nvPr>
        </p:nvSpPr>
        <p:spPr>
          <a:xfrm>
            <a:off x="5099050" y="5077460"/>
            <a:ext cx="3866515"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编辑完成日期</a:t>
            </a:r>
            <a:r>
              <a:rPr kumimoji="1" lang="en-US" altLang="zh-CN" dirty="0"/>
              <a:t> </a:t>
            </a:r>
            <a:r>
              <a:rPr kumimoji="1" lang="zh-CN" altLang="en-US" dirty="0">
                <a:sym typeface="+mn-ea"/>
              </a:rPr>
              <a:t>禁止出现学校和成员信息</a:t>
            </a:r>
            <a:endParaRPr kumimoji="1" lang="zh-CN" altLang="en-US" dirty="0"/>
          </a:p>
          <a:p>
            <a:pPr lvl="0"/>
            <a:endParaRPr kumimoji="1" lang="zh-CN" altLang="en-US" dirty="0"/>
          </a:p>
        </p:txBody>
      </p:sp>
      <p:sp>
        <p:nvSpPr>
          <p:cNvPr id="9" name="文本占位符 9"/>
          <p:cNvSpPr>
            <a:spLocks noGrp="1"/>
          </p:cNvSpPr>
          <p:nvPr>
            <p:ph type="body" sz="quarter" idx="22" hasCustomPrompt="1"/>
          </p:nvPr>
        </p:nvSpPr>
        <p:spPr>
          <a:xfrm>
            <a:off x="3937218" y="4640664"/>
            <a:ext cx="1161805" cy="290369"/>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参赛团队：</a:t>
            </a:r>
            <a:endParaRPr kumimoji="1" lang="zh-CN" altLang="en-US" dirty="0"/>
          </a:p>
        </p:txBody>
      </p:sp>
      <p:sp>
        <p:nvSpPr>
          <p:cNvPr id="54" name="文本占位符 9"/>
          <p:cNvSpPr>
            <a:spLocks noGrp="1"/>
          </p:cNvSpPr>
          <p:nvPr>
            <p:ph type="body" sz="quarter" idx="25" hasCustomPrompt="1"/>
          </p:nvPr>
        </p:nvSpPr>
        <p:spPr>
          <a:xfrm>
            <a:off x="3937218" y="5077480"/>
            <a:ext cx="1161805" cy="290371"/>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完成日期：</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BA00916-396A-A444-B6A6-572F44C7530F}"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0B36D65-86F8-1345-A972-51E3FE9D2458}"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A00916-396A-A444-B6A6-572F44C7530F}"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B36D65-86F8-1345-A972-51E3FE9D245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1" Type="http://schemas.openxmlformats.org/officeDocument/2006/relationships/slideLayout" Target="../slideLayouts/slideLayout2.xml"/><Relationship Id="rId20" Type="http://schemas.openxmlformats.org/officeDocument/2006/relationships/tags" Target="../tags/tag64.xml"/><Relationship Id="rId2" Type="http://schemas.openxmlformats.org/officeDocument/2006/relationships/tags" Target="../tags/tag46.xml"/><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5.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6.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4" Type="http://schemas.openxmlformats.org/officeDocument/2006/relationships/slideLayout" Target="../slideLayouts/slideLayout10.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image" Target="../media/image8.png"/><Relationship Id="rId1" Type="http://schemas.openxmlformats.org/officeDocument/2006/relationships/tags" Target="../tags/tag67.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86.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13.png"/><Relationship Id="rId2" Type="http://schemas.microsoft.com/office/2007/relationships/media" Target="../media/media1.mp4"/><Relationship Id="rId1" Type="http://schemas.openxmlformats.org/officeDocument/2006/relationships/video" Target="../media/media1.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标题 43"/>
          <p:cNvSpPr>
            <a:spLocks noGrp="1"/>
          </p:cNvSpPr>
          <p:nvPr>
            <p:ph type="ctrTitle"/>
          </p:nvPr>
        </p:nvSpPr>
        <p:spPr/>
        <p:txBody>
          <a:bodyPr/>
          <a:lstStyle/>
          <a:p>
            <a:r>
              <a:rPr lang="zh-CN" altLang="en-US" sz="5400" dirty="0"/>
              <a:t>面向 </a:t>
            </a:r>
            <a:r>
              <a:rPr lang="en-US" altLang="zh-CN" sz="5400" dirty="0"/>
              <a:t>RISC-V Vector </a:t>
            </a:r>
            <a:r>
              <a:rPr lang="zh-CN" altLang="en-US" sz="5400" dirty="0"/>
              <a:t>扩展的大语言模型推理并发调度优化</a:t>
            </a:r>
            <a:endParaRPr lang="zh-CN" altLang="en-US" sz="5400" dirty="0"/>
          </a:p>
        </p:txBody>
      </p:sp>
      <p:sp>
        <p:nvSpPr>
          <p:cNvPr id="46" name="文本占位符 45"/>
          <p:cNvSpPr>
            <a:spLocks noGrp="1"/>
          </p:cNvSpPr>
          <p:nvPr>
            <p:ph type="body" sz="quarter" idx="14"/>
          </p:nvPr>
        </p:nvSpPr>
        <p:spPr>
          <a:xfrm>
            <a:off x="5099050" y="4639945"/>
            <a:ext cx="3971290" cy="290195"/>
          </a:xfrm>
        </p:spPr>
        <p:txBody>
          <a:bodyPr/>
          <a:lstStyle/>
          <a:p>
            <a:r>
              <a:rPr lang="zh-CN" altLang="en-US" dirty="0"/>
              <a:t>芯火燎原</a:t>
            </a:r>
            <a:endParaRPr lang="zh-CN" altLang="en-US" dirty="0"/>
          </a:p>
          <a:p>
            <a:endParaRPr lang="zh-CN" altLang="en-US" dirty="0"/>
          </a:p>
        </p:txBody>
      </p:sp>
      <p:sp>
        <p:nvSpPr>
          <p:cNvPr id="49" name="文本占位符 48"/>
          <p:cNvSpPr>
            <a:spLocks noGrp="1"/>
          </p:cNvSpPr>
          <p:nvPr>
            <p:ph type="body" sz="quarter" idx="20"/>
          </p:nvPr>
        </p:nvSpPr>
        <p:spPr>
          <a:xfrm>
            <a:off x="5099050" y="5077460"/>
            <a:ext cx="3997960" cy="290195"/>
          </a:xfrm>
        </p:spPr>
        <p:txBody>
          <a:bodyPr/>
          <a:lstStyle/>
          <a:p>
            <a:r>
              <a:rPr lang="en-US" altLang="zh-CN" dirty="0"/>
              <a:t>2026.7.29</a:t>
            </a:r>
            <a:endParaRPr lang="zh-CN" altLang="en-US" dirty="0"/>
          </a:p>
          <a:p>
            <a:endParaRPr lang="zh-CN" altLang="en-US" dirty="0"/>
          </a:p>
        </p:txBody>
      </p:sp>
      <p:sp>
        <p:nvSpPr>
          <p:cNvPr id="51" name="文本占位符 50"/>
          <p:cNvSpPr>
            <a:spLocks noGrp="1"/>
          </p:cNvSpPr>
          <p:nvPr>
            <p:ph type="body" sz="quarter" idx="22"/>
          </p:nvPr>
        </p:nvSpPr>
        <p:spPr>
          <a:xfrm>
            <a:off x="3937218" y="4640664"/>
            <a:ext cx="1161805" cy="290369"/>
          </a:xfrm>
        </p:spPr>
        <p:txBody>
          <a:bodyPr/>
          <a:lstStyle/>
          <a:p>
            <a:r>
              <a:rPr lang="zh-CN" altLang="en-US"/>
              <a:t>参赛团队：</a:t>
            </a:r>
            <a:endParaRPr lang="zh-CN" altLang="en-US"/>
          </a:p>
        </p:txBody>
      </p:sp>
      <p:sp>
        <p:nvSpPr>
          <p:cNvPr id="54" name="文本占位符 53"/>
          <p:cNvSpPr>
            <a:spLocks noGrp="1"/>
          </p:cNvSpPr>
          <p:nvPr>
            <p:ph type="body" sz="quarter" idx="25"/>
          </p:nvPr>
        </p:nvSpPr>
        <p:spPr/>
        <p:txBody>
          <a:bodyPr/>
          <a:lstStyle/>
          <a:p>
            <a:r>
              <a:rPr lang="zh-CN" altLang="en-US"/>
              <a:t>完成日期：</a:t>
            </a:r>
            <a:endParaRPr lang="zh-CN" altLang="en-US"/>
          </a:p>
        </p:txBody>
      </p:sp>
      <p:sp>
        <p:nvSpPr>
          <p:cNvPr id="13" name="文本框 12"/>
          <p:cNvSpPr txBox="1"/>
          <p:nvPr/>
        </p:nvSpPr>
        <p:spPr>
          <a:xfrm>
            <a:off x="8241030" y="584835"/>
            <a:ext cx="4064000" cy="368300"/>
          </a:xfrm>
          <a:prstGeom prst="rect">
            <a:avLst/>
          </a:prstGeom>
          <a:noFill/>
        </p:spPr>
        <p:txBody>
          <a:bodyPr wrap="square" rtlCol="0">
            <a:spAutoFit/>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userDrawn="1">
            <p:custDataLst>
              <p:tags r:id="rId1"/>
            </p:custDataLst>
          </p:nvPr>
        </p:nvSpPr>
        <p:spPr>
          <a:xfrm>
            <a:off x="5092065" y="1496695"/>
            <a:ext cx="5114925" cy="741045"/>
          </a:xfrm>
          <a:prstGeom prst="round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lumMod val="20000"/>
                  <a:lumOff val="80000"/>
                  <a:alpha val="30000"/>
                </a:schemeClr>
              </a:solidFill>
            </a:endParaRPr>
          </a:p>
        </p:txBody>
      </p:sp>
      <p:sp>
        <p:nvSpPr>
          <p:cNvPr id="28" name="任意形状 10"/>
          <p:cNvSpPr/>
          <p:nvPr userDrawn="1">
            <p:custDataLst>
              <p:tags r:id="rId2"/>
            </p:custDataLst>
          </p:nvPr>
        </p:nvSpPr>
        <p:spPr>
          <a:xfrm rot="5400000">
            <a:off x="5560060" y="1378585"/>
            <a:ext cx="784860" cy="933450"/>
          </a:xfrm>
          <a:custGeom>
            <a:avLst/>
            <a:gdLst>
              <a:gd name="connsiteX0" fmla="*/ 0 w 1021517"/>
              <a:gd name="connsiteY0" fmla="*/ 1048944 h 1219200"/>
              <a:gd name="connsiteX1" fmla="*/ 0 w 1021517"/>
              <a:gd name="connsiteY1" fmla="*/ 343438 h 1219200"/>
              <a:gd name="connsiteX2" fmla="*/ 170256 w 1021517"/>
              <a:gd name="connsiteY2" fmla="*/ 173182 h 1219200"/>
              <a:gd name="connsiteX3" fmla="*/ 412580 w 1021517"/>
              <a:gd name="connsiteY3" fmla="*/ 173182 h 1219200"/>
              <a:gd name="connsiteX4" fmla="*/ 513025 w 1021517"/>
              <a:gd name="connsiteY4" fmla="*/ 0 h 1219200"/>
              <a:gd name="connsiteX5" fmla="*/ 613470 w 1021517"/>
              <a:gd name="connsiteY5" fmla="*/ 173182 h 1219200"/>
              <a:gd name="connsiteX6" fmla="*/ 851261 w 1021517"/>
              <a:gd name="connsiteY6" fmla="*/ 173182 h 1219200"/>
              <a:gd name="connsiteX7" fmla="*/ 1021517 w 1021517"/>
              <a:gd name="connsiteY7" fmla="*/ 343438 h 1219200"/>
              <a:gd name="connsiteX8" fmla="*/ 1021517 w 1021517"/>
              <a:gd name="connsiteY8" fmla="*/ 1048944 h 1219200"/>
              <a:gd name="connsiteX9" fmla="*/ 851261 w 1021517"/>
              <a:gd name="connsiteY9" fmla="*/ 1219200 h 1219200"/>
              <a:gd name="connsiteX10" fmla="*/ 170256 w 1021517"/>
              <a:gd name="connsiteY10" fmla="*/ 1219200 h 1219200"/>
              <a:gd name="connsiteX11" fmla="*/ 0 w 1021517"/>
              <a:gd name="connsiteY11" fmla="*/ 1048944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517" h="1219200">
                <a:moveTo>
                  <a:pt x="0" y="1048944"/>
                </a:moveTo>
                <a:lnTo>
                  <a:pt x="0" y="343438"/>
                </a:lnTo>
                <a:cubicBezTo>
                  <a:pt x="0" y="249408"/>
                  <a:pt x="76226" y="173182"/>
                  <a:pt x="170256" y="173182"/>
                </a:cubicBezTo>
                <a:lnTo>
                  <a:pt x="412580" y="173182"/>
                </a:lnTo>
                <a:lnTo>
                  <a:pt x="513025" y="0"/>
                </a:lnTo>
                <a:lnTo>
                  <a:pt x="613470" y="173182"/>
                </a:lnTo>
                <a:lnTo>
                  <a:pt x="851261" y="173182"/>
                </a:lnTo>
                <a:cubicBezTo>
                  <a:pt x="945291" y="173182"/>
                  <a:pt x="1021517" y="249408"/>
                  <a:pt x="1021517" y="343438"/>
                </a:cubicBezTo>
                <a:lnTo>
                  <a:pt x="1021517" y="1048944"/>
                </a:lnTo>
                <a:cubicBezTo>
                  <a:pt x="1021517" y="1142974"/>
                  <a:pt x="945291" y="1219200"/>
                  <a:pt x="851261" y="1219200"/>
                </a:cubicBezTo>
                <a:lnTo>
                  <a:pt x="170256" y="1219200"/>
                </a:lnTo>
                <a:cubicBezTo>
                  <a:pt x="76226" y="1219200"/>
                  <a:pt x="0" y="1142974"/>
                  <a:pt x="0" y="1048944"/>
                </a:cubicBezTo>
                <a:close/>
              </a:path>
            </a:pathLst>
          </a:custGeom>
          <a:solidFill>
            <a:srgbClr val="254F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en-US" altLang="zh-CN" dirty="0">
              <a:solidFill>
                <a:srgbClr val="C00000"/>
              </a:solidFill>
            </a:endParaRPr>
          </a:p>
        </p:txBody>
      </p:sp>
      <p:sp>
        <p:nvSpPr>
          <p:cNvPr id="29" name="文本框 28"/>
          <p:cNvSpPr txBox="1"/>
          <p:nvPr userDrawn="1">
            <p:custDataLst>
              <p:tags r:id="rId3"/>
            </p:custDataLst>
          </p:nvPr>
        </p:nvSpPr>
        <p:spPr>
          <a:xfrm>
            <a:off x="5485765" y="1591310"/>
            <a:ext cx="796925" cy="521970"/>
          </a:xfrm>
          <a:prstGeom prst="rect">
            <a:avLst/>
          </a:prstGeom>
          <a:noFill/>
        </p:spPr>
        <p:txBody>
          <a:bodyPr wrap="square" rtlCol="0" anchor="ctr" anchorCtr="0">
            <a:spAutoFit/>
          </a:bodyPr>
          <a:lstStyle/>
          <a:p>
            <a:pPr algn="ctr">
              <a:lnSpc>
                <a:spcPct val="100000"/>
              </a:lnSpc>
            </a:pPr>
            <a:r>
              <a:rPr kumimoji="1" lang="en-US" altLang="zh-CN" sz="2800" b="1" dirty="0">
                <a:solidFill>
                  <a:schemeClr val="bg1"/>
                </a:solidFill>
                <a:latin typeface="+mj-ea"/>
                <a:ea typeface="+mj-ea"/>
              </a:rPr>
              <a:t>01</a:t>
            </a:r>
            <a:endParaRPr kumimoji="1" lang="en-US" altLang="zh-CN" sz="2800" b="1" dirty="0">
              <a:solidFill>
                <a:schemeClr val="bg1"/>
              </a:solidFill>
              <a:latin typeface="+mj-ea"/>
              <a:ea typeface="+mj-ea"/>
            </a:endParaRPr>
          </a:p>
        </p:txBody>
      </p:sp>
      <p:sp>
        <p:nvSpPr>
          <p:cNvPr id="115" name="圆角矩形 114"/>
          <p:cNvSpPr/>
          <p:nvPr userDrawn="1">
            <p:custDataLst>
              <p:tags r:id="rId4"/>
            </p:custDataLst>
          </p:nvPr>
        </p:nvSpPr>
        <p:spPr>
          <a:xfrm>
            <a:off x="5092065" y="2439670"/>
            <a:ext cx="5114925" cy="741045"/>
          </a:xfrm>
          <a:prstGeom prst="round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lumMod val="20000"/>
                  <a:lumOff val="80000"/>
                  <a:alpha val="30000"/>
                </a:schemeClr>
              </a:solidFill>
            </a:endParaRPr>
          </a:p>
        </p:txBody>
      </p:sp>
      <p:sp>
        <p:nvSpPr>
          <p:cNvPr id="116" name="任意形状 10"/>
          <p:cNvSpPr/>
          <p:nvPr userDrawn="1">
            <p:custDataLst>
              <p:tags r:id="rId5"/>
            </p:custDataLst>
          </p:nvPr>
        </p:nvSpPr>
        <p:spPr>
          <a:xfrm rot="5400000">
            <a:off x="5560060" y="2321560"/>
            <a:ext cx="784860" cy="933450"/>
          </a:xfrm>
          <a:custGeom>
            <a:avLst/>
            <a:gdLst>
              <a:gd name="connsiteX0" fmla="*/ 0 w 1021517"/>
              <a:gd name="connsiteY0" fmla="*/ 1048944 h 1219200"/>
              <a:gd name="connsiteX1" fmla="*/ 0 w 1021517"/>
              <a:gd name="connsiteY1" fmla="*/ 343438 h 1219200"/>
              <a:gd name="connsiteX2" fmla="*/ 170256 w 1021517"/>
              <a:gd name="connsiteY2" fmla="*/ 173182 h 1219200"/>
              <a:gd name="connsiteX3" fmla="*/ 412580 w 1021517"/>
              <a:gd name="connsiteY3" fmla="*/ 173182 h 1219200"/>
              <a:gd name="connsiteX4" fmla="*/ 513025 w 1021517"/>
              <a:gd name="connsiteY4" fmla="*/ 0 h 1219200"/>
              <a:gd name="connsiteX5" fmla="*/ 613470 w 1021517"/>
              <a:gd name="connsiteY5" fmla="*/ 173182 h 1219200"/>
              <a:gd name="connsiteX6" fmla="*/ 851261 w 1021517"/>
              <a:gd name="connsiteY6" fmla="*/ 173182 h 1219200"/>
              <a:gd name="connsiteX7" fmla="*/ 1021517 w 1021517"/>
              <a:gd name="connsiteY7" fmla="*/ 343438 h 1219200"/>
              <a:gd name="connsiteX8" fmla="*/ 1021517 w 1021517"/>
              <a:gd name="connsiteY8" fmla="*/ 1048944 h 1219200"/>
              <a:gd name="connsiteX9" fmla="*/ 851261 w 1021517"/>
              <a:gd name="connsiteY9" fmla="*/ 1219200 h 1219200"/>
              <a:gd name="connsiteX10" fmla="*/ 170256 w 1021517"/>
              <a:gd name="connsiteY10" fmla="*/ 1219200 h 1219200"/>
              <a:gd name="connsiteX11" fmla="*/ 0 w 1021517"/>
              <a:gd name="connsiteY11" fmla="*/ 1048944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517" h="1219200">
                <a:moveTo>
                  <a:pt x="0" y="1048944"/>
                </a:moveTo>
                <a:lnTo>
                  <a:pt x="0" y="343438"/>
                </a:lnTo>
                <a:cubicBezTo>
                  <a:pt x="0" y="249408"/>
                  <a:pt x="76226" y="173182"/>
                  <a:pt x="170256" y="173182"/>
                </a:cubicBezTo>
                <a:lnTo>
                  <a:pt x="412580" y="173182"/>
                </a:lnTo>
                <a:lnTo>
                  <a:pt x="513025" y="0"/>
                </a:lnTo>
                <a:lnTo>
                  <a:pt x="613470" y="173182"/>
                </a:lnTo>
                <a:lnTo>
                  <a:pt x="851261" y="173182"/>
                </a:lnTo>
                <a:cubicBezTo>
                  <a:pt x="945291" y="173182"/>
                  <a:pt x="1021517" y="249408"/>
                  <a:pt x="1021517" y="343438"/>
                </a:cubicBezTo>
                <a:lnTo>
                  <a:pt x="1021517" y="1048944"/>
                </a:lnTo>
                <a:cubicBezTo>
                  <a:pt x="1021517" y="1142974"/>
                  <a:pt x="945291" y="1219200"/>
                  <a:pt x="851261" y="1219200"/>
                </a:cubicBezTo>
                <a:lnTo>
                  <a:pt x="170256" y="1219200"/>
                </a:lnTo>
                <a:cubicBezTo>
                  <a:pt x="76226" y="1219200"/>
                  <a:pt x="0" y="1142974"/>
                  <a:pt x="0" y="1048944"/>
                </a:cubicBezTo>
                <a:close/>
              </a:path>
            </a:pathLst>
          </a:custGeom>
          <a:solidFill>
            <a:srgbClr val="254F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en-US" altLang="zh-CN" dirty="0">
              <a:solidFill>
                <a:schemeClr val="tx1">
                  <a:lumMod val="75000"/>
                  <a:lumOff val="25000"/>
                </a:schemeClr>
              </a:solidFill>
            </a:endParaRPr>
          </a:p>
        </p:txBody>
      </p:sp>
      <p:sp>
        <p:nvSpPr>
          <p:cNvPr id="117" name="文本框 116"/>
          <p:cNvSpPr txBox="1"/>
          <p:nvPr userDrawn="1">
            <p:custDataLst>
              <p:tags r:id="rId6"/>
            </p:custDataLst>
          </p:nvPr>
        </p:nvSpPr>
        <p:spPr>
          <a:xfrm>
            <a:off x="5485765" y="2534285"/>
            <a:ext cx="796925" cy="521970"/>
          </a:xfrm>
          <a:prstGeom prst="rect">
            <a:avLst/>
          </a:prstGeom>
          <a:noFill/>
        </p:spPr>
        <p:txBody>
          <a:bodyPr wrap="square" rtlCol="0" anchor="ctr" anchorCtr="0">
            <a:spAutoFit/>
          </a:bodyPr>
          <a:lstStyle/>
          <a:p>
            <a:pPr algn="ctr">
              <a:lnSpc>
                <a:spcPct val="100000"/>
              </a:lnSpc>
            </a:pPr>
            <a:r>
              <a:rPr kumimoji="1" lang="en-US" altLang="zh-CN" sz="2800" b="1" dirty="0">
                <a:solidFill>
                  <a:schemeClr val="bg1"/>
                </a:solidFill>
                <a:latin typeface="+mj-ea"/>
                <a:ea typeface="+mj-ea"/>
              </a:rPr>
              <a:t>02</a:t>
            </a:r>
            <a:endParaRPr kumimoji="1" lang="en-US" altLang="zh-CN" sz="2800" b="1" dirty="0">
              <a:solidFill>
                <a:schemeClr val="bg1"/>
              </a:solidFill>
              <a:latin typeface="+mj-ea"/>
              <a:ea typeface="+mj-ea"/>
            </a:endParaRPr>
          </a:p>
        </p:txBody>
      </p:sp>
      <p:sp>
        <p:nvSpPr>
          <p:cNvPr id="120" name="圆角矩形 119"/>
          <p:cNvSpPr/>
          <p:nvPr userDrawn="1">
            <p:custDataLst>
              <p:tags r:id="rId7"/>
            </p:custDataLst>
          </p:nvPr>
        </p:nvSpPr>
        <p:spPr>
          <a:xfrm>
            <a:off x="5092065" y="3382645"/>
            <a:ext cx="5114925" cy="741045"/>
          </a:xfrm>
          <a:prstGeom prst="round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lumMod val="20000"/>
                  <a:lumOff val="80000"/>
                  <a:alpha val="30000"/>
                </a:schemeClr>
              </a:solidFill>
            </a:endParaRPr>
          </a:p>
        </p:txBody>
      </p:sp>
      <p:sp>
        <p:nvSpPr>
          <p:cNvPr id="121" name="任意形状 10"/>
          <p:cNvSpPr/>
          <p:nvPr userDrawn="1">
            <p:custDataLst>
              <p:tags r:id="rId8"/>
            </p:custDataLst>
          </p:nvPr>
        </p:nvSpPr>
        <p:spPr>
          <a:xfrm rot="5400000">
            <a:off x="5560060" y="3264535"/>
            <a:ext cx="784860" cy="933450"/>
          </a:xfrm>
          <a:custGeom>
            <a:avLst/>
            <a:gdLst>
              <a:gd name="connsiteX0" fmla="*/ 0 w 1021517"/>
              <a:gd name="connsiteY0" fmla="*/ 1048944 h 1219200"/>
              <a:gd name="connsiteX1" fmla="*/ 0 w 1021517"/>
              <a:gd name="connsiteY1" fmla="*/ 343438 h 1219200"/>
              <a:gd name="connsiteX2" fmla="*/ 170256 w 1021517"/>
              <a:gd name="connsiteY2" fmla="*/ 173182 h 1219200"/>
              <a:gd name="connsiteX3" fmla="*/ 412580 w 1021517"/>
              <a:gd name="connsiteY3" fmla="*/ 173182 h 1219200"/>
              <a:gd name="connsiteX4" fmla="*/ 513025 w 1021517"/>
              <a:gd name="connsiteY4" fmla="*/ 0 h 1219200"/>
              <a:gd name="connsiteX5" fmla="*/ 613470 w 1021517"/>
              <a:gd name="connsiteY5" fmla="*/ 173182 h 1219200"/>
              <a:gd name="connsiteX6" fmla="*/ 851261 w 1021517"/>
              <a:gd name="connsiteY6" fmla="*/ 173182 h 1219200"/>
              <a:gd name="connsiteX7" fmla="*/ 1021517 w 1021517"/>
              <a:gd name="connsiteY7" fmla="*/ 343438 h 1219200"/>
              <a:gd name="connsiteX8" fmla="*/ 1021517 w 1021517"/>
              <a:gd name="connsiteY8" fmla="*/ 1048944 h 1219200"/>
              <a:gd name="connsiteX9" fmla="*/ 851261 w 1021517"/>
              <a:gd name="connsiteY9" fmla="*/ 1219200 h 1219200"/>
              <a:gd name="connsiteX10" fmla="*/ 170256 w 1021517"/>
              <a:gd name="connsiteY10" fmla="*/ 1219200 h 1219200"/>
              <a:gd name="connsiteX11" fmla="*/ 0 w 1021517"/>
              <a:gd name="connsiteY11" fmla="*/ 1048944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517" h="1219200">
                <a:moveTo>
                  <a:pt x="0" y="1048944"/>
                </a:moveTo>
                <a:lnTo>
                  <a:pt x="0" y="343438"/>
                </a:lnTo>
                <a:cubicBezTo>
                  <a:pt x="0" y="249408"/>
                  <a:pt x="76226" y="173182"/>
                  <a:pt x="170256" y="173182"/>
                </a:cubicBezTo>
                <a:lnTo>
                  <a:pt x="412580" y="173182"/>
                </a:lnTo>
                <a:lnTo>
                  <a:pt x="513025" y="0"/>
                </a:lnTo>
                <a:lnTo>
                  <a:pt x="613470" y="173182"/>
                </a:lnTo>
                <a:lnTo>
                  <a:pt x="851261" y="173182"/>
                </a:lnTo>
                <a:cubicBezTo>
                  <a:pt x="945291" y="173182"/>
                  <a:pt x="1021517" y="249408"/>
                  <a:pt x="1021517" y="343438"/>
                </a:cubicBezTo>
                <a:lnTo>
                  <a:pt x="1021517" y="1048944"/>
                </a:lnTo>
                <a:cubicBezTo>
                  <a:pt x="1021517" y="1142974"/>
                  <a:pt x="945291" y="1219200"/>
                  <a:pt x="851261" y="1219200"/>
                </a:cubicBezTo>
                <a:lnTo>
                  <a:pt x="170256" y="1219200"/>
                </a:lnTo>
                <a:cubicBezTo>
                  <a:pt x="76226" y="1219200"/>
                  <a:pt x="0" y="1142974"/>
                  <a:pt x="0" y="1048944"/>
                </a:cubicBezTo>
                <a:close/>
              </a:path>
            </a:pathLst>
          </a:custGeom>
          <a:solidFill>
            <a:srgbClr val="254F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en-US" altLang="zh-CN" dirty="0"/>
          </a:p>
        </p:txBody>
      </p:sp>
      <p:sp>
        <p:nvSpPr>
          <p:cNvPr id="122" name="文本框 121"/>
          <p:cNvSpPr txBox="1"/>
          <p:nvPr userDrawn="1">
            <p:custDataLst>
              <p:tags r:id="rId9"/>
            </p:custDataLst>
          </p:nvPr>
        </p:nvSpPr>
        <p:spPr>
          <a:xfrm>
            <a:off x="5485765" y="3477260"/>
            <a:ext cx="796925" cy="521970"/>
          </a:xfrm>
          <a:prstGeom prst="rect">
            <a:avLst/>
          </a:prstGeom>
          <a:noFill/>
        </p:spPr>
        <p:txBody>
          <a:bodyPr wrap="square" rtlCol="0" anchor="ctr" anchorCtr="0">
            <a:spAutoFit/>
          </a:bodyPr>
          <a:lstStyle/>
          <a:p>
            <a:pPr algn="ctr">
              <a:lnSpc>
                <a:spcPct val="100000"/>
              </a:lnSpc>
            </a:pPr>
            <a:r>
              <a:rPr kumimoji="1" lang="en-US" altLang="zh-CN" sz="2800" b="1" dirty="0">
                <a:solidFill>
                  <a:schemeClr val="bg1"/>
                </a:solidFill>
                <a:latin typeface="+mj-ea"/>
                <a:ea typeface="+mj-ea"/>
              </a:rPr>
              <a:t>03</a:t>
            </a:r>
            <a:endParaRPr kumimoji="1" lang="en-US" altLang="zh-CN" sz="2800" b="1" dirty="0">
              <a:solidFill>
                <a:schemeClr val="bg1"/>
              </a:solidFill>
              <a:latin typeface="+mj-ea"/>
              <a:ea typeface="+mj-ea"/>
            </a:endParaRPr>
          </a:p>
        </p:txBody>
      </p:sp>
      <p:sp>
        <p:nvSpPr>
          <p:cNvPr id="125" name="圆角矩形 124"/>
          <p:cNvSpPr/>
          <p:nvPr userDrawn="1">
            <p:custDataLst>
              <p:tags r:id="rId10"/>
            </p:custDataLst>
          </p:nvPr>
        </p:nvSpPr>
        <p:spPr>
          <a:xfrm>
            <a:off x="5092065" y="4325620"/>
            <a:ext cx="5114925" cy="741045"/>
          </a:xfrm>
          <a:prstGeom prst="round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lumMod val="20000"/>
                  <a:lumOff val="80000"/>
                  <a:alpha val="30000"/>
                </a:schemeClr>
              </a:solidFill>
            </a:endParaRPr>
          </a:p>
        </p:txBody>
      </p:sp>
      <p:sp>
        <p:nvSpPr>
          <p:cNvPr id="126" name="任意形状 10"/>
          <p:cNvSpPr/>
          <p:nvPr userDrawn="1">
            <p:custDataLst>
              <p:tags r:id="rId11"/>
            </p:custDataLst>
          </p:nvPr>
        </p:nvSpPr>
        <p:spPr>
          <a:xfrm rot="5400000">
            <a:off x="5560060" y="4207510"/>
            <a:ext cx="784860" cy="933450"/>
          </a:xfrm>
          <a:custGeom>
            <a:avLst/>
            <a:gdLst>
              <a:gd name="connsiteX0" fmla="*/ 0 w 1021517"/>
              <a:gd name="connsiteY0" fmla="*/ 1048944 h 1219200"/>
              <a:gd name="connsiteX1" fmla="*/ 0 w 1021517"/>
              <a:gd name="connsiteY1" fmla="*/ 343438 h 1219200"/>
              <a:gd name="connsiteX2" fmla="*/ 170256 w 1021517"/>
              <a:gd name="connsiteY2" fmla="*/ 173182 h 1219200"/>
              <a:gd name="connsiteX3" fmla="*/ 412580 w 1021517"/>
              <a:gd name="connsiteY3" fmla="*/ 173182 h 1219200"/>
              <a:gd name="connsiteX4" fmla="*/ 513025 w 1021517"/>
              <a:gd name="connsiteY4" fmla="*/ 0 h 1219200"/>
              <a:gd name="connsiteX5" fmla="*/ 613470 w 1021517"/>
              <a:gd name="connsiteY5" fmla="*/ 173182 h 1219200"/>
              <a:gd name="connsiteX6" fmla="*/ 851261 w 1021517"/>
              <a:gd name="connsiteY6" fmla="*/ 173182 h 1219200"/>
              <a:gd name="connsiteX7" fmla="*/ 1021517 w 1021517"/>
              <a:gd name="connsiteY7" fmla="*/ 343438 h 1219200"/>
              <a:gd name="connsiteX8" fmla="*/ 1021517 w 1021517"/>
              <a:gd name="connsiteY8" fmla="*/ 1048944 h 1219200"/>
              <a:gd name="connsiteX9" fmla="*/ 851261 w 1021517"/>
              <a:gd name="connsiteY9" fmla="*/ 1219200 h 1219200"/>
              <a:gd name="connsiteX10" fmla="*/ 170256 w 1021517"/>
              <a:gd name="connsiteY10" fmla="*/ 1219200 h 1219200"/>
              <a:gd name="connsiteX11" fmla="*/ 0 w 1021517"/>
              <a:gd name="connsiteY11" fmla="*/ 1048944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517" h="1219200">
                <a:moveTo>
                  <a:pt x="0" y="1048944"/>
                </a:moveTo>
                <a:lnTo>
                  <a:pt x="0" y="343438"/>
                </a:lnTo>
                <a:cubicBezTo>
                  <a:pt x="0" y="249408"/>
                  <a:pt x="76226" y="173182"/>
                  <a:pt x="170256" y="173182"/>
                </a:cubicBezTo>
                <a:lnTo>
                  <a:pt x="412580" y="173182"/>
                </a:lnTo>
                <a:lnTo>
                  <a:pt x="513025" y="0"/>
                </a:lnTo>
                <a:lnTo>
                  <a:pt x="613470" y="173182"/>
                </a:lnTo>
                <a:lnTo>
                  <a:pt x="851261" y="173182"/>
                </a:lnTo>
                <a:cubicBezTo>
                  <a:pt x="945291" y="173182"/>
                  <a:pt x="1021517" y="249408"/>
                  <a:pt x="1021517" y="343438"/>
                </a:cubicBezTo>
                <a:lnTo>
                  <a:pt x="1021517" y="1048944"/>
                </a:lnTo>
                <a:cubicBezTo>
                  <a:pt x="1021517" y="1142974"/>
                  <a:pt x="945291" y="1219200"/>
                  <a:pt x="851261" y="1219200"/>
                </a:cubicBezTo>
                <a:lnTo>
                  <a:pt x="170256" y="1219200"/>
                </a:lnTo>
                <a:cubicBezTo>
                  <a:pt x="76226" y="1219200"/>
                  <a:pt x="0" y="1142974"/>
                  <a:pt x="0" y="1048944"/>
                </a:cubicBezTo>
                <a:close/>
              </a:path>
            </a:pathLst>
          </a:custGeom>
          <a:solidFill>
            <a:srgbClr val="254F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en-US" altLang="zh-CN" dirty="0"/>
          </a:p>
        </p:txBody>
      </p:sp>
      <p:sp>
        <p:nvSpPr>
          <p:cNvPr id="127" name="文本框 126"/>
          <p:cNvSpPr txBox="1"/>
          <p:nvPr userDrawn="1">
            <p:custDataLst>
              <p:tags r:id="rId12"/>
            </p:custDataLst>
          </p:nvPr>
        </p:nvSpPr>
        <p:spPr>
          <a:xfrm>
            <a:off x="5485765" y="4420235"/>
            <a:ext cx="796925" cy="521970"/>
          </a:xfrm>
          <a:prstGeom prst="rect">
            <a:avLst/>
          </a:prstGeom>
          <a:noFill/>
        </p:spPr>
        <p:txBody>
          <a:bodyPr wrap="square" rtlCol="0" anchor="ctr" anchorCtr="0">
            <a:spAutoFit/>
          </a:bodyPr>
          <a:lstStyle/>
          <a:p>
            <a:pPr algn="ctr">
              <a:lnSpc>
                <a:spcPct val="100000"/>
              </a:lnSpc>
            </a:pPr>
            <a:r>
              <a:rPr kumimoji="1" lang="en-US" altLang="zh-CN" sz="2800" b="1" dirty="0">
                <a:solidFill>
                  <a:schemeClr val="bg1"/>
                </a:solidFill>
                <a:latin typeface="+mj-ea"/>
                <a:ea typeface="+mj-ea"/>
              </a:rPr>
              <a:t>04</a:t>
            </a:r>
            <a:endParaRPr kumimoji="1" lang="en-US" altLang="zh-CN" sz="2800" b="1" dirty="0">
              <a:solidFill>
                <a:schemeClr val="bg1"/>
              </a:solidFill>
              <a:latin typeface="+mj-ea"/>
              <a:ea typeface="+mj-ea"/>
            </a:endParaRPr>
          </a:p>
        </p:txBody>
      </p:sp>
      <p:sp>
        <p:nvSpPr>
          <p:cNvPr id="33" name="标题 32"/>
          <p:cNvSpPr>
            <a:spLocks noGrp="1"/>
          </p:cNvSpPr>
          <p:nvPr>
            <p:ph type="title" hasCustomPrompt="1"/>
            <p:custDataLst>
              <p:tags r:id="rId13"/>
            </p:custDataLst>
          </p:nvPr>
        </p:nvSpPr>
        <p:spPr>
          <a:xfrm>
            <a:off x="6762750" y="1586865"/>
            <a:ext cx="3072130" cy="521970"/>
          </a:xfrm>
        </p:spPr>
        <p:txBody>
          <a:bodyPr wrap="square" anchor="ctr" anchorCtr="0">
            <a:spAutoFit/>
          </a:bodyPr>
          <a:lstStyle>
            <a:lvl1pPr>
              <a:lnSpc>
                <a:spcPct val="100000"/>
              </a:lnSpc>
              <a:defRPr sz="2800" b="1">
                <a:solidFill>
                  <a:schemeClr val="tx1">
                    <a:lumMod val="95000"/>
                    <a:lumOff val="5000"/>
                  </a:schemeClr>
                </a:solidFill>
                <a:effectLst/>
                <a:latin typeface="+mj-ea"/>
                <a:ea typeface="+mj-ea"/>
              </a:defRPr>
            </a:lvl1pPr>
          </a:lstStyle>
          <a:p>
            <a:r>
              <a:rPr lang="zh-CN" altLang="en-US" dirty="0"/>
              <a:t>项目背景</a:t>
            </a:r>
            <a:endParaRPr lang="zh-CN" altLang="en-US" dirty="0"/>
          </a:p>
        </p:txBody>
      </p:sp>
      <p:sp>
        <p:nvSpPr>
          <p:cNvPr id="2" name="标题 32"/>
          <p:cNvSpPr>
            <a:spLocks noGrp="1"/>
          </p:cNvSpPr>
          <p:nvPr>
            <p:custDataLst>
              <p:tags r:id="rId14"/>
            </p:custDataLst>
          </p:nvPr>
        </p:nvSpPr>
        <p:spPr>
          <a:xfrm>
            <a:off x="6762750" y="2539365"/>
            <a:ext cx="3072130" cy="521970"/>
          </a:xfrm>
          <a:prstGeom prst="rect">
            <a:avLst/>
          </a:prstGeom>
        </p:spPr>
        <p:txBody>
          <a:bodyPr vert="horz" wrap="square" lIns="91440" tIns="45720" rIns="91440" bIns="45720" rtlCol="0" anchor="ctr" anchorCtr="0">
            <a:spAutoFit/>
          </a:bodyPr>
          <a:lstStyle>
            <a:lvl1pPr>
              <a:lnSpc>
                <a:spcPct val="100000"/>
              </a:lnSpc>
              <a:defRPr sz="2800" b="1">
                <a:solidFill>
                  <a:schemeClr val="tx1">
                    <a:lumMod val="95000"/>
                    <a:lumOff val="5000"/>
                  </a:schemeClr>
                </a:solidFill>
                <a:effectLst/>
                <a:latin typeface="+mj-ea"/>
                <a:ea typeface="+mj-ea"/>
              </a:defRPr>
            </a:lvl1pPr>
          </a:lstStyle>
          <a:p>
            <a:r>
              <a:rPr lang="zh-CN" altLang="en-US" dirty="0"/>
              <a:t>现状与问题</a:t>
            </a:r>
            <a:endParaRPr lang="zh-CN" altLang="en-US" dirty="0"/>
          </a:p>
        </p:txBody>
      </p:sp>
      <p:sp>
        <p:nvSpPr>
          <p:cNvPr id="3" name="标题 32"/>
          <p:cNvSpPr>
            <a:spLocks noGrp="1"/>
          </p:cNvSpPr>
          <p:nvPr>
            <p:custDataLst>
              <p:tags r:id="rId15"/>
            </p:custDataLst>
          </p:nvPr>
        </p:nvSpPr>
        <p:spPr>
          <a:xfrm>
            <a:off x="6762750" y="3466465"/>
            <a:ext cx="3072130" cy="521970"/>
          </a:xfrm>
          <a:prstGeom prst="rect">
            <a:avLst/>
          </a:prstGeom>
        </p:spPr>
        <p:txBody>
          <a:bodyPr vert="horz" wrap="square" lIns="91440" tIns="45720" rIns="91440" bIns="45720" rtlCol="0" anchor="ctr" anchorCtr="0">
            <a:spAutoFit/>
          </a:bodyPr>
          <a:lstStyle>
            <a:lvl1pPr>
              <a:lnSpc>
                <a:spcPct val="100000"/>
              </a:lnSpc>
              <a:defRPr sz="2800" b="1">
                <a:solidFill>
                  <a:schemeClr val="tx1">
                    <a:lumMod val="95000"/>
                    <a:lumOff val="5000"/>
                  </a:schemeClr>
                </a:solidFill>
                <a:effectLst/>
                <a:latin typeface="+mj-ea"/>
                <a:ea typeface="+mj-ea"/>
              </a:defRPr>
            </a:lvl1pPr>
          </a:lstStyle>
          <a:p>
            <a:r>
              <a:rPr lang="zh-CN" altLang="en-US" dirty="0"/>
              <a:t>实施路径</a:t>
            </a:r>
            <a:endParaRPr lang="zh-CN" altLang="en-US" dirty="0"/>
          </a:p>
        </p:txBody>
      </p:sp>
      <p:sp>
        <p:nvSpPr>
          <p:cNvPr id="4" name="标题 32"/>
          <p:cNvSpPr>
            <a:spLocks noGrp="1"/>
          </p:cNvSpPr>
          <p:nvPr>
            <p:custDataLst>
              <p:tags r:id="rId16"/>
            </p:custDataLst>
          </p:nvPr>
        </p:nvSpPr>
        <p:spPr>
          <a:xfrm>
            <a:off x="6762750" y="4418965"/>
            <a:ext cx="3072130" cy="521970"/>
          </a:xfrm>
          <a:prstGeom prst="rect">
            <a:avLst/>
          </a:prstGeom>
        </p:spPr>
        <p:txBody>
          <a:bodyPr vert="horz" wrap="square" lIns="91440" tIns="45720" rIns="91440" bIns="45720" rtlCol="0" anchor="ctr" anchorCtr="0">
            <a:spAutoFit/>
          </a:bodyPr>
          <a:lstStyle>
            <a:lvl1pPr>
              <a:lnSpc>
                <a:spcPct val="100000"/>
              </a:lnSpc>
              <a:defRPr sz="2800" b="1">
                <a:solidFill>
                  <a:schemeClr val="tx1">
                    <a:lumMod val="95000"/>
                    <a:lumOff val="5000"/>
                  </a:schemeClr>
                </a:solidFill>
                <a:effectLst/>
                <a:latin typeface="+mj-ea"/>
                <a:ea typeface="+mj-ea"/>
              </a:defRPr>
            </a:lvl1pPr>
          </a:lstStyle>
          <a:p>
            <a:r>
              <a:rPr lang="zh-CN" altLang="en-US" dirty="0"/>
              <a:t>实验测试</a:t>
            </a:r>
            <a:endParaRPr lang="zh-CN" altLang="en-US" dirty="0"/>
          </a:p>
        </p:txBody>
      </p:sp>
      <p:sp>
        <p:nvSpPr>
          <p:cNvPr id="5" name="圆角矩形 129"/>
          <p:cNvSpPr/>
          <p:nvPr>
            <p:custDataLst>
              <p:tags r:id="rId17"/>
            </p:custDataLst>
          </p:nvPr>
        </p:nvSpPr>
        <p:spPr>
          <a:xfrm>
            <a:off x="5092065" y="5268595"/>
            <a:ext cx="5114925" cy="741045"/>
          </a:xfrm>
          <a:prstGeom prst="round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lumMod val="20000"/>
                  <a:lumOff val="80000"/>
                  <a:alpha val="30000"/>
                </a:schemeClr>
              </a:solidFill>
            </a:endParaRPr>
          </a:p>
        </p:txBody>
      </p:sp>
      <p:sp>
        <p:nvSpPr>
          <p:cNvPr id="6" name="任意形状 10"/>
          <p:cNvSpPr/>
          <p:nvPr>
            <p:custDataLst>
              <p:tags r:id="rId18"/>
            </p:custDataLst>
          </p:nvPr>
        </p:nvSpPr>
        <p:spPr>
          <a:xfrm rot="5400000">
            <a:off x="5560060" y="5150485"/>
            <a:ext cx="784860" cy="933450"/>
          </a:xfrm>
          <a:custGeom>
            <a:avLst/>
            <a:gdLst>
              <a:gd name="connsiteX0" fmla="*/ 0 w 1021517"/>
              <a:gd name="connsiteY0" fmla="*/ 1048944 h 1219200"/>
              <a:gd name="connsiteX1" fmla="*/ 0 w 1021517"/>
              <a:gd name="connsiteY1" fmla="*/ 343438 h 1219200"/>
              <a:gd name="connsiteX2" fmla="*/ 170256 w 1021517"/>
              <a:gd name="connsiteY2" fmla="*/ 173182 h 1219200"/>
              <a:gd name="connsiteX3" fmla="*/ 412580 w 1021517"/>
              <a:gd name="connsiteY3" fmla="*/ 173182 h 1219200"/>
              <a:gd name="connsiteX4" fmla="*/ 513025 w 1021517"/>
              <a:gd name="connsiteY4" fmla="*/ 0 h 1219200"/>
              <a:gd name="connsiteX5" fmla="*/ 613470 w 1021517"/>
              <a:gd name="connsiteY5" fmla="*/ 173182 h 1219200"/>
              <a:gd name="connsiteX6" fmla="*/ 851261 w 1021517"/>
              <a:gd name="connsiteY6" fmla="*/ 173182 h 1219200"/>
              <a:gd name="connsiteX7" fmla="*/ 1021517 w 1021517"/>
              <a:gd name="connsiteY7" fmla="*/ 343438 h 1219200"/>
              <a:gd name="connsiteX8" fmla="*/ 1021517 w 1021517"/>
              <a:gd name="connsiteY8" fmla="*/ 1048944 h 1219200"/>
              <a:gd name="connsiteX9" fmla="*/ 851261 w 1021517"/>
              <a:gd name="connsiteY9" fmla="*/ 1219200 h 1219200"/>
              <a:gd name="connsiteX10" fmla="*/ 170256 w 1021517"/>
              <a:gd name="connsiteY10" fmla="*/ 1219200 h 1219200"/>
              <a:gd name="connsiteX11" fmla="*/ 0 w 1021517"/>
              <a:gd name="connsiteY11" fmla="*/ 1048944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517" h="1219200">
                <a:moveTo>
                  <a:pt x="0" y="1048944"/>
                </a:moveTo>
                <a:lnTo>
                  <a:pt x="0" y="343438"/>
                </a:lnTo>
                <a:cubicBezTo>
                  <a:pt x="0" y="249408"/>
                  <a:pt x="76226" y="173182"/>
                  <a:pt x="170256" y="173182"/>
                </a:cubicBezTo>
                <a:lnTo>
                  <a:pt x="412580" y="173182"/>
                </a:lnTo>
                <a:lnTo>
                  <a:pt x="513025" y="0"/>
                </a:lnTo>
                <a:lnTo>
                  <a:pt x="613470" y="173182"/>
                </a:lnTo>
                <a:lnTo>
                  <a:pt x="851261" y="173182"/>
                </a:lnTo>
                <a:cubicBezTo>
                  <a:pt x="945291" y="173182"/>
                  <a:pt x="1021517" y="249408"/>
                  <a:pt x="1021517" y="343438"/>
                </a:cubicBezTo>
                <a:lnTo>
                  <a:pt x="1021517" y="1048944"/>
                </a:lnTo>
                <a:cubicBezTo>
                  <a:pt x="1021517" y="1142974"/>
                  <a:pt x="945291" y="1219200"/>
                  <a:pt x="851261" y="1219200"/>
                </a:cubicBezTo>
                <a:lnTo>
                  <a:pt x="170256" y="1219200"/>
                </a:lnTo>
                <a:cubicBezTo>
                  <a:pt x="76226" y="1219200"/>
                  <a:pt x="0" y="1142974"/>
                  <a:pt x="0" y="1048944"/>
                </a:cubicBezTo>
                <a:close/>
              </a:path>
            </a:pathLst>
          </a:custGeom>
          <a:solidFill>
            <a:srgbClr val="254FE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en-US" altLang="zh-CN" dirty="0"/>
          </a:p>
        </p:txBody>
      </p:sp>
      <p:sp>
        <p:nvSpPr>
          <p:cNvPr id="7" name="文本框 6"/>
          <p:cNvSpPr txBox="1"/>
          <p:nvPr>
            <p:custDataLst>
              <p:tags r:id="rId19"/>
            </p:custDataLst>
          </p:nvPr>
        </p:nvSpPr>
        <p:spPr>
          <a:xfrm>
            <a:off x="5485765" y="5363210"/>
            <a:ext cx="796925" cy="521970"/>
          </a:xfrm>
          <a:prstGeom prst="rect">
            <a:avLst/>
          </a:prstGeom>
          <a:noFill/>
        </p:spPr>
        <p:txBody>
          <a:bodyPr wrap="square" rtlCol="0" anchor="ctr" anchorCtr="0">
            <a:spAutoFit/>
          </a:bodyPr>
          <a:lstStyle/>
          <a:p>
            <a:pPr algn="ctr">
              <a:lnSpc>
                <a:spcPct val="100000"/>
              </a:lnSpc>
            </a:pPr>
            <a:r>
              <a:rPr kumimoji="1" lang="en-US" altLang="zh-CN" sz="2800" b="1" dirty="0">
                <a:solidFill>
                  <a:schemeClr val="bg1"/>
                </a:solidFill>
                <a:latin typeface="+mj-ea"/>
                <a:ea typeface="+mj-ea"/>
              </a:rPr>
              <a:t>05</a:t>
            </a:r>
            <a:endParaRPr kumimoji="1" lang="en-US" altLang="zh-CN" sz="2800" b="1" dirty="0">
              <a:solidFill>
                <a:schemeClr val="bg1"/>
              </a:solidFill>
              <a:latin typeface="+mj-ea"/>
              <a:ea typeface="+mj-ea"/>
            </a:endParaRPr>
          </a:p>
        </p:txBody>
      </p:sp>
      <p:sp>
        <p:nvSpPr>
          <p:cNvPr id="8" name="标题 32"/>
          <p:cNvSpPr>
            <a:spLocks noGrp="1"/>
          </p:cNvSpPr>
          <p:nvPr>
            <p:custDataLst>
              <p:tags r:id="rId20"/>
            </p:custDataLst>
          </p:nvPr>
        </p:nvSpPr>
        <p:spPr>
          <a:xfrm>
            <a:off x="6762750" y="5371465"/>
            <a:ext cx="3072130" cy="521970"/>
          </a:xfrm>
          <a:prstGeom prst="rect">
            <a:avLst/>
          </a:prstGeom>
        </p:spPr>
        <p:txBody>
          <a:bodyPr vert="horz" wrap="square" lIns="91440" tIns="45720" rIns="91440" bIns="45720" rtlCol="0" anchor="ctr" anchorCtr="0">
            <a:spAutoFit/>
          </a:bodyPr>
          <a:lstStyle>
            <a:lvl1pPr>
              <a:lnSpc>
                <a:spcPct val="100000"/>
              </a:lnSpc>
              <a:defRPr sz="2800" b="1">
                <a:solidFill>
                  <a:schemeClr val="tx1">
                    <a:lumMod val="95000"/>
                    <a:lumOff val="5000"/>
                  </a:schemeClr>
                </a:solidFill>
                <a:effectLst/>
                <a:latin typeface="+mj-ea"/>
                <a:ea typeface="+mj-ea"/>
              </a:defRPr>
            </a:lvl1pPr>
          </a:lstStyle>
          <a:p>
            <a:r>
              <a:rPr lang="zh-CN" altLang="en-US" dirty="0"/>
              <a:t>总结与展望</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项目背景</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1.1 </a:t>
            </a:r>
            <a:r>
              <a:rPr lang="zh-CN" altLang="en-US" dirty="0"/>
              <a:t>赛题背景</a:t>
            </a:r>
            <a:endParaRPr lang="zh-CN" altLang="en-US" dirty="0"/>
          </a:p>
        </p:txBody>
      </p:sp>
      <p:sp>
        <p:nvSpPr>
          <p:cNvPr id="4" name="矩形 3"/>
          <p:cNvSpPr/>
          <p:nvPr/>
        </p:nvSpPr>
        <p:spPr>
          <a:xfrm>
            <a:off x="2918460" y="1577703"/>
            <a:ext cx="4874260" cy="596265"/>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400" dirty="0">
                <a:solidFill>
                  <a:schemeClr val="tx1"/>
                </a:solidFill>
                <a:latin typeface="微软雅黑" panose="020B0503020204020204" pitchFamily="34" charset="-122"/>
                <a:ea typeface="微软雅黑" panose="020B0503020204020204" pitchFamily="34" charset="-122"/>
              </a:rPr>
              <a:t>RVV 1.0 </a:t>
            </a:r>
            <a:r>
              <a:rPr lang="zh-CN" altLang="en-US" sz="1400" dirty="0">
                <a:solidFill>
                  <a:schemeClr val="tx1"/>
                </a:solidFill>
                <a:latin typeface="微软雅黑" panose="020B0503020204020204" pitchFamily="34" charset="-122"/>
                <a:ea typeface="微软雅黑" panose="020B0503020204020204" pitchFamily="34" charset="-122"/>
              </a:rPr>
              <a:t>为 </a:t>
            </a:r>
            <a:r>
              <a:rPr lang="en-US" altLang="zh-CN" sz="1400" dirty="0">
                <a:solidFill>
                  <a:schemeClr val="tx1"/>
                </a:solidFill>
                <a:latin typeface="微软雅黑" panose="020B0503020204020204" pitchFamily="34" charset="-122"/>
                <a:ea typeface="微软雅黑" panose="020B0503020204020204" pitchFamily="34" charset="-122"/>
              </a:rPr>
              <a:t>RISC-V </a:t>
            </a:r>
            <a:r>
              <a:rPr lang="zh-CN" altLang="en-US" sz="1400" dirty="0">
                <a:solidFill>
                  <a:schemeClr val="tx1"/>
                </a:solidFill>
                <a:latin typeface="微软雅黑" panose="020B0503020204020204" pitchFamily="34" charset="-122"/>
                <a:ea typeface="微软雅黑" panose="020B0503020204020204" pitchFamily="34" charset="-122"/>
              </a:rPr>
              <a:t>平台提供面向向量计算的标准扩展能力。</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5" name="矩形: 圆顶角 4"/>
          <p:cNvSpPr/>
          <p:nvPr/>
        </p:nvSpPr>
        <p:spPr>
          <a:xfrm>
            <a:off x="622300" y="1577703"/>
            <a:ext cx="2296160" cy="596265"/>
          </a:xfrm>
          <a:prstGeom prst="round2SameRect">
            <a:avLst>
              <a:gd name="adj1" fmla="val 0"/>
              <a:gd name="adj2" fmla="val 0"/>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accent1">
                    <a:lumMod val="75000"/>
                  </a:schemeClr>
                </a:solidFill>
                <a:latin typeface="微软雅黑" panose="020B0503020204020204" pitchFamily="34" charset="-122"/>
                <a:ea typeface="微软雅黑" panose="020B0503020204020204" pitchFamily="34" charset="-122"/>
              </a:rPr>
              <a:t>RISC-V Vector </a:t>
            </a: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生态</a:t>
            </a:r>
            <a:endParaRPr lang="zh-CN" alt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2918460" y="3570922"/>
            <a:ext cx="4874260" cy="587942"/>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fontAlgn="auto" latinLnBrk="1">
              <a:lnSpc>
                <a:spcPct val="130000"/>
              </a:lnSpc>
            </a:pPr>
            <a:r>
              <a:rPr lang="en-US" altLang="zh-CN" sz="1400" dirty="0">
                <a:solidFill>
                  <a:schemeClr val="tx1"/>
                </a:solidFill>
                <a:latin typeface="微软雅黑" panose="020B0503020204020204" pitchFamily="34" charset="-122"/>
                <a:ea typeface="微软雅黑" panose="020B0503020204020204" pitchFamily="34" charset="-122"/>
              </a:rPr>
              <a:t>Llama-server </a:t>
            </a:r>
            <a:r>
              <a:rPr lang="zh-CN" altLang="en-US" sz="1400" dirty="0">
                <a:solidFill>
                  <a:schemeClr val="tx1"/>
                </a:solidFill>
                <a:latin typeface="微软雅黑" panose="020B0503020204020204" pitchFamily="34" charset="-122"/>
                <a:ea typeface="微软雅黑" panose="020B0503020204020204" pitchFamily="34" charset="-122"/>
              </a:rPr>
              <a:t>面向多个同时到达的生成请求提供服务，推理线程与 </a:t>
            </a:r>
            <a:r>
              <a:rPr lang="en-US" altLang="zh-CN" sz="1400" dirty="0">
                <a:solidFill>
                  <a:schemeClr val="tx1"/>
                </a:solidFill>
                <a:latin typeface="微软雅黑" panose="020B0503020204020204" pitchFamily="34" charset="-122"/>
                <a:ea typeface="微软雅黑" panose="020B0503020204020204" pitchFamily="34" charset="-122"/>
              </a:rPr>
              <a:t>CPU </a:t>
            </a:r>
            <a:r>
              <a:rPr lang="zh-CN" altLang="en-US" sz="1400" dirty="0">
                <a:solidFill>
                  <a:schemeClr val="tx1"/>
                </a:solidFill>
                <a:latin typeface="微软雅黑" panose="020B0503020204020204" pitchFamily="34" charset="-122"/>
                <a:ea typeface="微软雅黑" panose="020B0503020204020204" pitchFamily="34" charset="-122"/>
              </a:rPr>
              <a:t>资源的协同调度成为实际部署中的关键问题。</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7" name="矩形: 圆顶角 6"/>
          <p:cNvSpPr/>
          <p:nvPr/>
        </p:nvSpPr>
        <p:spPr>
          <a:xfrm>
            <a:off x="622301" y="3570922"/>
            <a:ext cx="2296159" cy="587941"/>
          </a:xfrm>
          <a:prstGeom prst="round2SameRect">
            <a:avLst>
              <a:gd name="adj1" fmla="val 0"/>
              <a:gd name="adj2" fmla="val 0"/>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多并发服务需求</a:t>
            </a:r>
            <a:endParaRPr lang="zh-CN" alt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2918460" y="2557962"/>
            <a:ext cx="4874260" cy="596265"/>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400" dirty="0">
                <a:solidFill>
                  <a:schemeClr val="tx1"/>
                </a:solidFill>
                <a:latin typeface="微软雅黑" panose="020B0503020204020204" pitchFamily="34" charset="-122"/>
                <a:ea typeface="微软雅黑" panose="020B0503020204020204" pitchFamily="34" charset="-122"/>
                <a:sym typeface="+mn-ea"/>
              </a:rPr>
              <a:t>llama.cpp </a:t>
            </a:r>
            <a:r>
              <a:rPr lang="zh-CN" altLang="en-US" sz="1400" dirty="0">
                <a:solidFill>
                  <a:schemeClr val="tx1"/>
                </a:solidFill>
                <a:latin typeface="微软雅黑" panose="020B0503020204020204" pitchFamily="34" charset="-122"/>
                <a:ea typeface="微软雅黑" panose="020B0503020204020204" pitchFamily="34" charset="-122"/>
                <a:sym typeface="+mn-ea"/>
              </a:rPr>
              <a:t>等推理框架已支持 </a:t>
            </a:r>
            <a:r>
              <a:rPr lang="en-US" altLang="zh-CN" sz="1400" dirty="0">
                <a:solidFill>
                  <a:schemeClr val="tx1"/>
                </a:solidFill>
                <a:latin typeface="微软雅黑" panose="020B0503020204020204" pitchFamily="34" charset="-122"/>
                <a:ea typeface="微软雅黑" panose="020B0503020204020204" pitchFamily="34" charset="-122"/>
                <a:sym typeface="+mn-ea"/>
              </a:rPr>
              <a:t>RVV </a:t>
            </a:r>
            <a:r>
              <a:rPr lang="zh-CN" altLang="en-US" sz="1400" dirty="0">
                <a:solidFill>
                  <a:schemeClr val="tx1"/>
                </a:solidFill>
                <a:latin typeface="微软雅黑" panose="020B0503020204020204" pitchFamily="34" charset="-122"/>
                <a:ea typeface="微软雅黑" panose="020B0503020204020204" pitchFamily="34" charset="-122"/>
                <a:sym typeface="+mn-ea"/>
              </a:rPr>
              <a:t>后端，使量化 </a:t>
            </a:r>
            <a:r>
              <a:rPr lang="en-US" altLang="zh-CN" sz="1400" dirty="0">
                <a:solidFill>
                  <a:schemeClr val="tx1"/>
                </a:solidFill>
                <a:latin typeface="微软雅黑" panose="020B0503020204020204" pitchFamily="34" charset="-122"/>
                <a:ea typeface="微软雅黑" panose="020B0503020204020204" pitchFamily="34" charset="-122"/>
                <a:sym typeface="+mn-ea"/>
              </a:rPr>
              <a:t>LLM </a:t>
            </a:r>
            <a:r>
              <a:rPr lang="zh-CN" altLang="en-US" sz="1400" dirty="0">
                <a:solidFill>
                  <a:schemeClr val="tx1"/>
                </a:solidFill>
                <a:latin typeface="微软雅黑" panose="020B0503020204020204" pitchFamily="34" charset="-122"/>
                <a:ea typeface="微软雅黑" panose="020B0503020204020204" pitchFamily="34" charset="-122"/>
                <a:sym typeface="+mn-ea"/>
              </a:rPr>
              <a:t>能够在国产 </a:t>
            </a:r>
            <a:r>
              <a:rPr lang="en-US" altLang="zh-CN" sz="1400" dirty="0">
                <a:solidFill>
                  <a:schemeClr val="tx1"/>
                </a:solidFill>
                <a:latin typeface="微软雅黑" panose="020B0503020204020204" pitchFamily="34" charset="-122"/>
                <a:ea typeface="微软雅黑" panose="020B0503020204020204" pitchFamily="34" charset="-122"/>
                <a:sym typeface="+mn-ea"/>
              </a:rPr>
              <a:t>RISC-V </a:t>
            </a:r>
            <a:r>
              <a:rPr lang="zh-CN" altLang="en-US" sz="1400" dirty="0">
                <a:solidFill>
                  <a:schemeClr val="tx1"/>
                </a:solidFill>
                <a:latin typeface="微软雅黑" panose="020B0503020204020204" pitchFamily="34" charset="-122"/>
                <a:ea typeface="微软雅黑" panose="020B0503020204020204" pitchFamily="34" charset="-122"/>
                <a:sym typeface="+mn-ea"/>
              </a:rPr>
              <a:t>硬件上部署运行。</a:t>
            </a: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9" name="矩形: 圆顶角 14"/>
          <p:cNvSpPr/>
          <p:nvPr/>
        </p:nvSpPr>
        <p:spPr>
          <a:xfrm>
            <a:off x="622300" y="2557962"/>
            <a:ext cx="2296160" cy="596265"/>
          </a:xfrm>
          <a:prstGeom prst="round2SameRect">
            <a:avLst>
              <a:gd name="adj1" fmla="val 0"/>
              <a:gd name="adj2" fmla="val 0"/>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accent1">
                    <a:lumMod val="75000"/>
                  </a:schemeClr>
                </a:solidFill>
                <a:latin typeface="微软雅黑" panose="020B0503020204020204" pitchFamily="34" charset="-122"/>
                <a:ea typeface="微软雅黑" panose="020B0503020204020204" pitchFamily="34" charset="-122"/>
              </a:rPr>
              <a:t>LLM </a:t>
            </a: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推理落地</a:t>
            </a:r>
            <a:endParaRPr lang="zh-CN" alt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740410" y="4920615"/>
            <a:ext cx="1209675" cy="1057275"/>
          </a:xfrm>
          <a:prstGeom prst="rect">
            <a:avLst/>
          </a:prstGeom>
        </p:spPr>
      </p:pic>
      <p:sp>
        <p:nvSpPr>
          <p:cNvPr id="11" name="矩形: 圆角 5"/>
          <p:cNvSpPr/>
          <p:nvPr/>
        </p:nvSpPr>
        <p:spPr>
          <a:xfrm>
            <a:off x="2344420" y="5089525"/>
            <a:ext cx="7780020" cy="789305"/>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rgbClr val="2F5597"/>
                </a:solidFill>
                <a:effectLst/>
                <a:uLnTx/>
                <a:uFillTx/>
                <a:latin typeface="微软雅黑" panose="020B0503020204020204" pitchFamily="34" charset="-122"/>
                <a:ea typeface="微软雅黑" panose="020B0503020204020204" pitchFamily="34" charset="-122"/>
                <a:sym typeface="+mn-ea"/>
              </a:rPr>
              <a:t>面向 RISC-V Vector 扩展的大语言模型推理并发调度优化</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兼具理论价值与工程意义</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descr="进迭时空获超6亿元B轮融资，下一代 RISC-V AI 芯片 K3 即将发布"/>
          <p:cNvPicPr>
            <a:picLocks noChangeAspect="1" noChangeArrowheads="1"/>
          </p:cNvPicPr>
          <p:nvPr/>
        </p:nvPicPr>
        <p:blipFill rotWithShape="1">
          <a:blip r:embed="rId2">
            <a:extLst>
              <a:ext uri="{28A0092B-C50C-407E-A947-70E740481C1C}">
                <a14:useLocalDpi xmlns:a14="http://schemas.microsoft.com/office/drawing/2010/main" val="0"/>
              </a:ext>
            </a:extLst>
          </a:blip>
          <a:srcRect r="24332"/>
          <a:stretch>
            <a:fillRect/>
          </a:stretch>
        </p:blipFill>
        <p:spPr bwMode="auto">
          <a:xfrm>
            <a:off x="7947659" y="1478643"/>
            <a:ext cx="3794519" cy="27580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500"/>
                                        <p:tgtEl>
                                          <p:spTgt spid="1026"/>
                                        </p:tgtEl>
                                      </p:cBhvr>
                                    </p:animEffect>
                                  </p:childTnLst>
                                </p:cTn>
                              </p:par>
                              <p:par>
                                <p:cTn id="26" presetID="1"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1" grpId="0" animBg="1"/>
      <p:bldP spid="11"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192421" y="2453241"/>
            <a:ext cx="5381794" cy="1115113"/>
          </a:xfrm>
        </p:spPr>
        <p:txBody>
          <a:bodyPr/>
          <a:lstStyle/>
          <a:p>
            <a:r>
              <a:rPr lang="zh-CN" altLang="en-US" dirty="0"/>
              <a:t>现状与问题</a:t>
            </a:r>
            <a:endParaRPr lang="zh-CN" altLang="en-US" dirty="0"/>
          </a:p>
        </p:txBody>
      </p:sp>
      <p:sp>
        <p:nvSpPr>
          <p:cNvPr id="3" name="文本占位符 2"/>
          <p:cNvSpPr>
            <a:spLocks noGrp="1"/>
          </p:cNvSpPr>
          <p:nvPr>
            <p:ph type="body" sz="quarter" idx="14"/>
          </p:nvPr>
        </p:nvSpPr>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2.1 </a:t>
            </a:r>
            <a:r>
              <a:rPr lang="zh-CN" altLang="en-US" dirty="0"/>
              <a:t>现状与问题</a:t>
            </a:r>
            <a:endParaRPr lang="zh-CN" altLang="en-US" dirty="0"/>
          </a:p>
        </p:txBody>
      </p:sp>
      <p:grpSp>
        <p:nvGrpSpPr>
          <p:cNvPr id="2" name="组合 1"/>
          <p:cNvGrpSpPr/>
          <p:nvPr/>
        </p:nvGrpSpPr>
        <p:grpSpPr>
          <a:xfrm>
            <a:off x="689610" y="1610360"/>
            <a:ext cx="4608195" cy="3909695"/>
            <a:chOff x="6074122" y="2794742"/>
            <a:chExt cx="4549493" cy="3503844"/>
          </a:xfrm>
          <a:effectLst>
            <a:outerShdw blurRad="50800" dist="38100" dir="2700000" algn="tl" rotWithShape="0">
              <a:prstClr val="black">
                <a:alpha val="40000"/>
              </a:prstClr>
            </a:outerShdw>
          </a:effectLst>
        </p:grpSpPr>
        <p:sp>
          <p:nvSpPr>
            <p:cNvPr id="7" name="矩形 6"/>
            <p:cNvSpPr/>
            <p:nvPr/>
          </p:nvSpPr>
          <p:spPr>
            <a:xfrm>
              <a:off x="6074122" y="3306348"/>
              <a:ext cx="4549493" cy="2992238"/>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lnSpc>
                  <a:spcPct val="150000"/>
                </a:lnSpc>
                <a:buClrTx/>
                <a:buSzTx/>
                <a:buFont typeface="Wingdings" panose="05000000000000000000" pitchFamily="2" charset="2"/>
                <a:buChar char="Ø"/>
              </a:pPr>
              <a:r>
                <a:rPr lang="en-US" altLang="zh-CN" dirty="0">
                  <a:solidFill>
                    <a:schemeClr val="tx1"/>
                  </a:solidFill>
                  <a:latin typeface="微软雅黑" panose="020B0503020204020204" pitchFamily="34" charset="-122"/>
                  <a:ea typeface="微软雅黑" panose="020B0503020204020204" pitchFamily="34" charset="-122"/>
                  <a:sym typeface="+mn-ea"/>
                </a:rPr>
                <a:t>Linux </a:t>
              </a:r>
              <a:r>
                <a:rPr lang="zh-CN" altLang="en-US" dirty="0">
                  <a:solidFill>
                    <a:schemeClr val="tx1"/>
                  </a:solidFill>
                  <a:latin typeface="微软雅黑" panose="020B0503020204020204" pitchFamily="34" charset="-122"/>
                  <a:ea typeface="微软雅黑" panose="020B0503020204020204" pitchFamily="34" charset="-122"/>
                  <a:sym typeface="+mn-ea"/>
                </a:rPr>
                <a:t>对 </a:t>
              </a:r>
              <a:r>
                <a:rPr lang="en-US" altLang="zh-CN" dirty="0">
                  <a:solidFill>
                    <a:schemeClr val="tx1"/>
                  </a:solidFill>
                  <a:latin typeface="微软雅黑" panose="020B0503020204020204" pitchFamily="34" charset="-122"/>
                  <a:ea typeface="微软雅黑" panose="020B0503020204020204" pitchFamily="34" charset="-122"/>
                  <a:sym typeface="+mn-ea"/>
                </a:rPr>
                <a:t>RVV </a:t>
              </a:r>
              <a:r>
                <a:rPr lang="zh-CN" altLang="en-US" dirty="0">
                  <a:solidFill>
                    <a:schemeClr val="tx1"/>
                  </a:solidFill>
                  <a:latin typeface="微软雅黑" panose="020B0503020204020204" pitchFamily="34" charset="-122"/>
                  <a:ea typeface="微软雅黑" panose="020B0503020204020204" pitchFamily="34" charset="-122"/>
                  <a:sym typeface="+mn-ea"/>
                </a:rPr>
                <a:t>使用惰性 </a:t>
              </a:r>
              <a:r>
                <a:rPr lang="en-US" altLang="zh-CN" dirty="0">
                  <a:solidFill>
                    <a:schemeClr val="tx1"/>
                  </a:solidFill>
                  <a:latin typeface="微软雅黑" panose="020B0503020204020204" pitchFamily="34" charset="-122"/>
                  <a:ea typeface="微软雅黑" panose="020B0503020204020204" pitchFamily="34" charset="-122"/>
                  <a:sym typeface="+mn-ea"/>
                </a:rPr>
                <a:t>V </a:t>
              </a:r>
              <a:r>
                <a:rPr lang="zh-CN" altLang="en-US" dirty="0">
                  <a:solidFill>
                    <a:schemeClr val="tx1"/>
                  </a:solidFill>
                  <a:latin typeface="微软雅黑" panose="020B0503020204020204" pitchFamily="34" charset="-122"/>
                  <a:ea typeface="微软雅黑" panose="020B0503020204020204" pitchFamily="34" charset="-122"/>
                  <a:sym typeface="+mn-ea"/>
                </a:rPr>
                <a:t>状态保存</a:t>
              </a:r>
              <a:r>
                <a:rPr lang="en-US" altLang="zh-CN" dirty="0">
                  <a:solidFill>
                    <a:schemeClr val="tx1"/>
                  </a:solidFill>
                  <a:latin typeface="微软雅黑" panose="020B0503020204020204" pitchFamily="34" charset="-122"/>
                  <a:ea typeface="微软雅黑" panose="020B0503020204020204" pitchFamily="34" charset="-122"/>
                  <a:sym typeface="+mn-ea"/>
                </a:rPr>
                <a:t>/</a:t>
              </a:r>
              <a:r>
                <a:rPr lang="zh-CN" altLang="en-US" dirty="0">
                  <a:solidFill>
                    <a:schemeClr val="tx1"/>
                  </a:solidFill>
                  <a:latin typeface="微软雅黑" panose="020B0503020204020204" pitchFamily="34" charset="-122"/>
                  <a:ea typeface="微软雅黑" panose="020B0503020204020204" pitchFamily="34" charset="-122"/>
                  <a:sym typeface="+mn-ea"/>
                </a:rPr>
                <a:t>恢复；</a:t>
              </a:r>
              <a:r>
                <a:rPr lang="en-US" altLang="zh-CN" dirty="0">
                  <a:solidFill>
                    <a:schemeClr val="tx1"/>
                  </a:solidFill>
                  <a:latin typeface="微软雅黑" panose="020B0503020204020204" pitchFamily="34" charset="-122"/>
                  <a:ea typeface="微软雅黑" panose="020B0503020204020204" pitchFamily="34" charset="-122"/>
                  <a:sym typeface="+mn-ea"/>
                </a:rPr>
                <a:t>LLM RVV </a:t>
              </a:r>
              <a:r>
                <a:rPr lang="zh-CN" altLang="en-US" dirty="0">
                  <a:solidFill>
                    <a:schemeClr val="tx1"/>
                  </a:solidFill>
                  <a:latin typeface="微软雅黑" panose="020B0503020204020204" pitchFamily="34" charset="-122"/>
                  <a:ea typeface="微软雅黑" panose="020B0503020204020204" pitchFamily="34" charset="-122"/>
                  <a:sym typeface="+mn-ea"/>
                </a:rPr>
                <a:t>算子执行时，线程通常长期处于 </a:t>
              </a:r>
              <a:r>
                <a:rPr lang="en-US" altLang="zh-CN" dirty="0">
                  <a:solidFill>
                    <a:schemeClr val="tx1"/>
                  </a:solidFill>
                  <a:latin typeface="微软雅黑" panose="020B0503020204020204" pitchFamily="34" charset="-122"/>
                  <a:ea typeface="微软雅黑" panose="020B0503020204020204" pitchFamily="34" charset="-122"/>
                  <a:sym typeface="+mn-ea"/>
                </a:rPr>
                <a:t>VS Dirty</a:t>
              </a:r>
              <a:r>
                <a:rPr lang="zh-CN" altLang="en-US" dirty="0">
                  <a:solidFill>
                    <a:schemeClr val="tx1"/>
                  </a:solidFill>
                  <a:latin typeface="微软雅黑" panose="020B0503020204020204" pitchFamily="34" charset="-122"/>
                  <a:ea typeface="微软雅黑" panose="020B0503020204020204" pitchFamily="34" charset="-122"/>
                  <a:sym typeface="+mn-ea"/>
                </a:rPr>
                <a:t>。</a:t>
              </a:r>
              <a:endParaRPr lang="en-US" altLang="zh-CN" dirty="0">
                <a:solidFill>
                  <a:schemeClr val="tx1"/>
                </a:soli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pitchFamily="2" charset="2"/>
                <a:buChar char="Ø"/>
              </a:pPr>
              <a:r>
                <a:rPr lang="en-US" altLang="zh-CN" dirty="0">
                  <a:solidFill>
                    <a:schemeClr val="tx1"/>
                  </a:solidFill>
                  <a:latin typeface="微软雅黑" panose="020B0503020204020204" pitchFamily="34" charset="-122"/>
                  <a:ea typeface="微软雅黑" panose="020B0503020204020204" pitchFamily="34" charset="-122"/>
                  <a:sym typeface="+mn-ea"/>
                </a:rPr>
                <a:t>llama-server </a:t>
              </a:r>
              <a:r>
                <a:rPr lang="zh-CN" altLang="en-US" dirty="0">
                  <a:solidFill>
                    <a:schemeClr val="tx1"/>
                  </a:solidFill>
                  <a:latin typeface="微软雅黑" panose="020B0503020204020204" pitchFamily="34" charset="-122"/>
                  <a:ea typeface="微软雅黑" panose="020B0503020204020204" pitchFamily="34" charset="-122"/>
                  <a:sym typeface="+mn-ea"/>
                </a:rPr>
                <a:t>多请求并发，但 </a:t>
              </a:r>
              <a:r>
                <a:rPr lang="en-US" altLang="zh-CN" dirty="0">
                  <a:solidFill>
                    <a:schemeClr val="tx1"/>
                  </a:solidFill>
                  <a:latin typeface="微软雅黑" panose="020B0503020204020204" pitchFamily="34" charset="-122"/>
                  <a:ea typeface="微软雅黑" panose="020B0503020204020204" pitchFamily="34" charset="-122"/>
                  <a:sym typeface="+mn-ea"/>
                </a:rPr>
                <a:t>-t/-tb </a:t>
              </a:r>
              <a:r>
                <a:rPr lang="zh-CN" altLang="en-US" dirty="0">
                  <a:solidFill>
                    <a:schemeClr val="tx1"/>
                  </a:solidFill>
                  <a:latin typeface="微软雅黑" panose="020B0503020204020204" pitchFamily="34" charset="-122"/>
                  <a:ea typeface="微软雅黑" panose="020B0503020204020204" pitchFamily="34" charset="-122"/>
                  <a:sym typeface="+mn-ea"/>
                </a:rPr>
                <a:t>工作线程池在服务启动后固定。</a:t>
              </a:r>
              <a:endParaRPr lang="en-US" altLang="zh-CN" dirty="0">
                <a:solidFill>
                  <a:schemeClr val="tx1"/>
                </a:soli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pitchFamily="2" charset="2"/>
                <a:buChar char="Ø"/>
              </a:pPr>
              <a:r>
                <a:rPr lang="zh-CN" altLang="en-US" dirty="0">
                  <a:solidFill>
                    <a:schemeClr val="tx1"/>
                  </a:solidFill>
                  <a:latin typeface="微软雅黑" panose="020B0503020204020204" pitchFamily="34" charset="-122"/>
                  <a:ea typeface="微软雅黑" panose="020B0503020204020204" pitchFamily="34" charset="-122"/>
                  <a:sym typeface="+mn-ea"/>
                </a:rPr>
                <a:t>推理线程需与 </a:t>
              </a:r>
              <a:r>
                <a:rPr lang="en-US" altLang="zh-CN" dirty="0">
                  <a:solidFill>
                    <a:schemeClr val="tx1"/>
                  </a:solidFill>
                  <a:latin typeface="微软雅黑" panose="020B0503020204020204" pitchFamily="34" charset="-122"/>
                  <a:ea typeface="微软雅黑" panose="020B0503020204020204" pitchFamily="34" charset="-122"/>
                  <a:sym typeface="+mn-ea"/>
                </a:rPr>
                <a:t>HTTP</a:t>
              </a:r>
              <a:r>
                <a:rPr lang="zh-CN" altLang="en-US" dirty="0">
                  <a:solidFill>
                    <a:schemeClr val="tx1"/>
                  </a:solidFill>
                  <a:latin typeface="微软雅黑" panose="020B0503020204020204" pitchFamily="34" charset="-122"/>
                  <a:ea typeface="微软雅黑" panose="020B0503020204020204" pitchFamily="34" charset="-122"/>
                  <a:sym typeface="+mn-ea"/>
                </a:rPr>
                <a:t>、系统后台任务共享 </a:t>
              </a:r>
              <a:r>
                <a:rPr lang="en-US" altLang="zh-CN" dirty="0">
                  <a:solidFill>
                    <a:schemeClr val="tx1"/>
                  </a:solidFill>
                  <a:latin typeface="微软雅黑" panose="020B0503020204020204" pitchFamily="34" charset="-122"/>
                  <a:ea typeface="微软雅黑" panose="020B0503020204020204" pitchFamily="34" charset="-122"/>
                  <a:sym typeface="+mn-ea"/>
                </a:rPr>
                <a:t>CPU</a:t>
              </a:r>
              <a:r>
                <a:rPr lang="zh-CN" altLang="en-US" dirty="0">
                  <a:solidFill>
                    <a:schemeClr val="tx1"/>
                  </a:solidFill>
                  <a:latin typeface="微软雅黑" panose="020B0503020204020204" pitchFamily="34" charset="-122"/>
                  <a:ea typeface="微软雅黑" panose="020B0503020204020204" pitchFamily="34" charset="-122"/>
                  <a:sym typeface="+mn-ea"/>
                </a:rPr>
                <a:t>，</a:t>
              </a:r>
              <a:r>
                <a:rPr lang="en-US" altLang="zh-CN" dirty="0">
                  <a:solidFill>
                    <a:schemeClr val="tx1"/>
                  </a:solidFill>
                  <a:latin typeface="微软雅黑" panose="020B0503020204020204" pitchFamily="34" charset="-122"/>
                  <a:ea typeface="微软雅黑" panose="020B0503020204020204" pitchFamily="34" charset="-122"/>
                  <a:sym typeface="+mn-ea"/>
                </a:rPr>
                <a:t>CFS </a:t>
              </a:r>
              <a:r>
                <a:rPr lang="zh-CN" altLang="en-US" dirty="0">
                  <a:solidFill>
                    <a:schemeClr val="tx1"/>
                  </a:solidFill>
                  <a:latin typeface="微软雅黑" panose="020B0503020204020204" pitchFamily="34" charset="-122"/>
                  <a:ea typeface="微软雅黑" panose="020B0503020204020204" pitchFamily="34" charset="-122"/>
                  <a:sym typeface="+mn-ea"/>
                </a:rPr>
                <a:t>会进行正常抢占和负载迁移。</a:t>
              </a:r>
              <a:endParaRPr lang="en-US" altLang="zh-CN" dirty="0">
                <a:solidFill>
                  <a:schemeClr val="tx1"/>
                </a:solidFill>
                <a:latin typeface="微软雅黑" panose="020B0503020204020204" pitchFamily="34" charset="-122"/>
                <a:ea typeface="微软雅黑" panose="020B0503020204020204" pitchFamily="34" charset="-122"/>
                <a:sym typeface="+mn-ea"/>
              </a:endParaRPr>
            </a:p>
          </p:txBody>
        </p:sp>
        <p:sp>
          <p:nvSpPr>
            <p:cNvPr id="8" name="矩形: 圆顶角 7"/>
            <p:cNvSpPr/>
            <p:nvPr/>
          </p:nvSpPr>
          <p:spPr>
            <a:xfrm>
              <a:off x="6074122" y="2794742"/>
              <a:ext cx="4549493" cy="511606"/>
            </a:xfrm>
            <a:prstGeom prst="round2SameRect">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lnSpc>
                  <a:spcPct val="130000"/>
                </a:lnSpc>
              </a:pPr>
              <a:r>
                <a:rPr kumimoji="1" lang="zh-CN" altLang="en-US" b="1" dirty="0">
                  <a:solidFill>
                    <a:schemeClr val="accent1">
                      <a:lumMod val="75000"/>
                    </a:schemeClr>
                  </a:solidFill>
                  <a:latin typeface="微软雅黑" panose="020B0503020204020204" pitchFamily="34" charset="-122"/>
                  <a:ea typeface="微软雅黑" panose="020B0503020204020204" pitchFamily="34" charset="-122"/>
                </a:rPr>
                <a:t>现状</a:t>
              </a:r>
              <a:endParaRPr kumimoji="1"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6364605" y="1610361"/>
            <a:ext cx="4852035" cy="3909696"/>
            <a:chOff x="6074122" y="2794742"/>
            <a:chExt cx="4549493" cy="3503844"/>
          </a:xfrm>
          <a:effectLst>
            <a:outerShdw blurRad="50800" dist="38100" dir="2700000" algn="tl" rotWithShape="0">
              <a:prstClr val="black">
                <a:alpha val="40000"/>
              </a:prstClr>
            </a:outerShdw>
          </a:effectLst>
        </p:grpSpPr>
        <p:sp>
          <p:nvSpPr>
            <p:cNvPr id="10" name="矩形 9"/>
            <p:cNvSpPr/>
            <p:nvPr/>
          </p:nvSpPr>
          <p:spPr>
            <a:xfrm>
              <a:off x="6074122" y="3306348"/>
              <a:ext cx="4549493" cy="2992238"/>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lnSpc>
                  <a:spcPct val="150000"/>
                </a:lnSpc>
                <a:spcAft>
                  <a:spcPts val="2400"/>
                </a:spcAft>
                <a:buClrTx/>
                <a:buSzTx/>
                <a:buFont typeface="Wingdings" panose="05000000000000000000" pitchFamily="2" charset="2"/>
                <a:buChar char="Ø"/>
              </a:pPr>
              <a:r>
                <a:rPr lang="en-US" altLang="zh-CN" b="1" dirty="0">
                  <a:solidFill>
                    <a:schemeClr val="tx1"/>
                  </a:solidFill>
                  <a:latin typeface="微软雅黑" panose="020B0503020204020204" pitchFamily="34" charset="-122"/>
                  <a:ea typeface="微软雅黑" panose="020B0503020204020204" pitchFamily="34" charset="-122"/>
                  <a:sym typeface="+mn-ea"/>
                </a:rPr>
                <a:t>CFS</a:t>
              </a:r>
              <a:r>
                <a:rPr lang="zh-CN" altLang="en-US" b="1" dirty="0">
                  <a:solidFill>
                    <a:schemeClr val="tx1"/>
                  </a:solidFill>
                  <a:latin typeface="微软雅黑" panose="020B0503020204020204" pitchFamily="34" charset="-122"/>
                  <a:ea typeface="微软雅黑" panose="020B0503020204020204" pitchFamily="34" charset="-122"/>
                  <a:sym typeface="+mn-ea"/>
                </a:rPr>
                <a:t>调度策略缺乏向量状态感知能力的问题。</a:t>
              </a:r>
              <a:endParaRPr lang="en-US" altLang="zh-CN" b="1" dirty="0">
                <a:solidFill>
                  <a:schemeClr val="tx1"/>
                </a:solidFill>
                <a:latin typeface="微软雅黑" panose="020B0503020204020204" pitchFamily="34" charset="-122"/>
                <a:ea typeface="微软雅黑" panose="020B0503020204020204" pitchFamily="34" charset="-122"/>
                <a:sym typeface="+mn-ea"/>
              </a:endParaRPr>
            </a:p>
            <a:p>
              <a:pPr marL="285750" indent="-285750" algn="l">
                <a:lnSpc>
                  <a:spcPct val="150000"/>
                </a:lnSpc>
                <a:spcAft>
                  <a:spcPts val="2400"/>
                </a:spcAft>
                <a:buClrTx/>
                <a:buSzTx/>
                <a:buFont typeface="Wingdings" panose="05000000000000000000" pitchFamily="2" charset="2"/>
                <a:buChar char="Ø"/>
              </a:pPr>
              <a:r>
                <a:rPr lang="zh-CN" altLang="en-US" b="1" dirty="0">
                  <a:solidFill>
                    <a:schemeClr val="tx1"/>
                  </a:solidFill>
                  <a:latin typeface="微软雅黑" panose="020B0503020204020204" pitchFamily="34" charset="-122"/>
                  <a:ea typeface="微软雅黑" panose="020B0503020204020204" pitchFamily="34" charset="-122"/>
                </a:rPr>
                <a:t>高并发场景下推理线程调度效率与资源配置不匹配。</a:t>
              </a:r>
              <a:endParaRPr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spcAft>
                  <a:spcPts val="2400"/>
                </a:spcAft>
                <a:buFont typeface="Wingdings" panose="05000000000000000000" pitchFamily="2" charset="2"/>
                <a:buChar char="Ø"/>
              </a:pPr>
              <a:r>
                <a:rPr lang="zh-CN" altLang="en-US" b="1" dirty="0">
                  <a:solidFill>
                    <a:schemeClr val="tx1"/>
                  </a:solidFill>
                  <a:latin typeface="微软雅黑" panose="020B0503020204020204" pitchFamily="34" charset="-122"/>
                  <a:ea typeface="微软雅黑" panose="020B0503020204020204" pitchFamily="34" charset="-122"/>
                  <a:sym typeface="+mn-ea"/>
                </a:rPr>
                <a:t>混合负载环境下推理任务与非推理任务的资源竞争。</a:t>
              </a:r>
              <a:endParaRPr lang="zh-CN" altLang="en-US" b="1" dirty="0">
                <a:solidFill>
                  <a:schemeClr val="tx1"/>
                </a:solidFill>
                <a:latin typeface="微软雅黑" panose="020B0503020204020204" pitchFamily="34" charset="-122"/>
                <a:ea typeface="微软雅黑" panose="020B0503020204020204" pitchFamily="34" charset="-122"/>
                <a:sym typeface="+mn-ea"/>
              </a:endParaRPr>
            </a:p>
          </p:txBody>
        </p:sp>
        <p:sp>
          <p:nvSpPr>
            <p:cNvPr id="11" name="矩形: 圆顶角 7"/>
            <p:cNvSpPr/>
            <p:nvPr/>
          </p:nvSpPr>
          <p:spPr>
            <a:xfrm>
              <a:off x="6074122" y="2794742"/>
              <a:ext cx="4549493" cy="511606"/>
            </a:xfrm>
            <a:prstGeom prst="round2SameRect">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lnSpc>
                  <a:spcPct val="130000"/>
                </a:lnSpc>
              </a:pPr>
              <a:r>
                <a:rPr kumimoji="1" lang="zh-CN" altLang="en-US" b="1" dirty="0">
                  <a:solidFill>
                    <a:schemeClr val="accent1">
                      <a:lumMod val="75000"/>
                    </a:schemeClr>
                  </a:solidFill>
                  <a:latin typeface="微软雅黑" panose="020B0503020204020204" pitchFamily="34" charset="-122"/>
                  <a:ea typeface="微软雅黑" panose="020B0503020204020204" pitchFamily="34" charset="-122"/>
                </a:rPr>
                <a:t>问题</a:t>
              </a:r>
              <a:endParaRPr kumimoji="1"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实施路径</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129"/>
            <a:ext cx="7624445" cy="492443"/>
          </a:xfrm>
        </p:spPr>
        <p:txBody>
          <a:bodyPr/>
          <a:lstStyle/>
          <a:p>
            <a:r>
              <a:rPr lang="en-US" altLang="zh-CN" dirty="0"/>
              <a:t>3.1 Linux</a:t>
            </a:r>
            <a:r>
              <a:rPr lang="zh-CN" altLang="en-US" dirty="0"/>
              <a:t>的</a:t>
            </a:r>
            <a:r>
              <a:rPr lang="en-US" altLang="zh-CN" dirty="0"/>
              <a:t>CFS</a:t>
            </a:r>
            <a:r>
              <a:rPr lang="zh-CN" altLang="en-US" dirty="0"/>
              <a:t>调度与</a:t>
            </a:r>
            <a:r>
              <a:rPr lang="en-US" altLang="zh-CN" dirty="0"/>
              <a:t>V</a:t>
            </a:r>
            <a:r>
              <a:rPr lang="zh-CN" altLang="en-US" dirty="0"/>
              <a:t>状态切换</a:t>
            </a:r>
            <a:endParaRPr lang="zh-CN" altLang="en-US" dirty="0"/>
          </a:p>
        </p:txBody>
      </p:sp>
      <p:sp>
        <p:nvSpPr>
          <p:cNvPr id="8" name="文本框 7"/>
          <p:cNvSpPr txBox="1"/>
          <p:nvPr/>
        </p:nvSpPr>
        <p:spPr>
          <a:xfrm>
            <a:off x="816610" y="2539365"/>
            <a:ext cx="2352675" cy="1352550"/>
          </a:xfrm>
          <a:prstGeom prst="roundRect">
            <a:avLst/>
          </a:prstGeom>
          <a:solidFill>
            <a:schemeClr val="bg1"/>
          </a:solidFill>
          <a:ln w="28575">
            <a:solidFill>
              <a:schemeClr val="accent1">
                <a:lumMod val="75000"/>
              </a:schemeClr>
            </a:solidFill>
          </a:ln>
        </p:spPr>
        <p:txBody>
          <a:bodyPr wrap="square">
            <a:noAutofit/>
          </a:bodyPr>
          <a:lstStyle/>
          <a:p>
            <a:pPr lvl="0">
              <a:lnSpc>
                <a:spcPct val="150000"/>
              </a:lnSpc>
              <a:defRPr/>
            </a:pPr>
            <a:r>
              <a:rPr lang="en-US" altLang="zh-CN" sz="1600" dirty="0">
                <a:solidFill>
                  <a:prstClr val="black"/>
                </a:solidFill>
                <a:latin typeface="微软雅黑" panose="020B0503020204020204" pitchFamily="34" charset="-122"/>
                <a:ea typeface="微软雅黑" panose="020B0503020204020204" pitchFamily="34" charset="-122"/>
              </a:rPr>
              <a:t>CFS</a:t>
            </a:r>
            <a:r>
              <a:rPr lang="zh-CN" altLang="en-US" sz="1600" dirty="0">
                <a:solidFill>
                  <a:prstClr val="black"/>
                </a:solidFill>
                <a:latin typeface="微软雅黑" panose="020B0503020204020204" pitchFamily="34" charset="-122"/>
                <a:ea typeface="微软雅黑" panose="020B0503020204020204" pitchFamily="34" charset="-122"/>
              </a:rPr>
              <a:t>按公平性调度，不感知线程的 </a:t>
            </a:r>
            <a:r>
              <a:rPr lang="en-US" altLang="zh-CN" sz="1600" dirty="0">
                <a:solidFill>
                  <a:prstClr val="black"/>
                </a:solidFill>
                <a:latin typeface="微软雅黑" panose="020B0503020204020204" pitchFamily="34" charset="-122"/>
                <a:ea typeface="微软雅黑" panose="020B0503020204020204" pitchFamily="34" charset="-122"/>
              </a:rPr>
              <a:t>V </a:t>
            </a:r>
            <a:r>
              <a:rPr lang="zh-CN" altLang="en-US" sz="1600" dirty="0">
                <a:solidFill>
                  <a:prstClr val="black"/>
                </a:solidFill>
                <a:latin typeface="微软雅黑" panose="020B0503020204020204" pitchFamily="34" charset="-122"/>
                <a:ea typeface="微软雅黑" panose="020B0503020204020204" pitchFamily="34" charset="-122"/>
              </a:rPr>
              <a:t>状态与上下文成本。</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086"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35924" y="1113570"/>
            <a:ext cx="8218284" cy="420382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p:cNvSpPr/>
          <p:nvPr/>
        </p:nvSpPr>
        <p:spPr>
          <a:xfrm>
            <a:off x="1330960" y="5749290"/>
            <a:ext cx="9530080" cy="491490"/>
          </a:xfrm>
          <a:prstGeom prst="roundRect">
            <a:avLst>
              <a:gd name="adj" fmla="val 50000"/>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在</a:t>
            </a:r>
            <a:r>
              <a:rPr kumimoji="0" lang="en-US" altLang="zh-CN"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llama-server</a:t>
            </a: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的推理中，推理线程被调度器切换时触发</a:t>
            </a:r>
            <a:r>
              <a:rPr kumimoji="0" lang="en-US" altLang="zh-CN"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V</a:t>
            </a: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状态保存的频率是极高的。</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6" y="522129"/>
            <a:ext cx="7624445" cy="492443"/>
          </a:xfrm>
        </p:spPr>
        <p:txBody>
          <a:bodyPr/>
          <a:lstStyle/>
          <a:p>
            <a:r>
              <a:rPr lang="en-US" altLang="zh-CN" dirty="0"/>
              <a:t>3.2 </a:t>
            </a:r>
            <a:r>
              <a:rPr lang="zh-CN" altLang="en-US" dirty="0"/>
              <a:t>量化</a:t>
            </a:r>
            <a:r>
              <a:rPr lang="en-US" altLang="zh-CN" dirty="0"/>
              <a:t>V</a:t>
            </a:r>
            <a:r>
              <a:rPr lang="zh-CN" altLang="en-US" dirty="0"/>
              <a:t>状态切换和推理关系</a:t>
            </a:r>
            <a:endParaRPr lang="zh-CN" altLang="en-US" dirty="0"/>
          </a:p>
        </p:txBody>
      </p:sp>
      <p:sp>
        <p:nvSpPr>
          <p:cNvPr id="14" name="矩形: 圆角 5"/>
          <p:cNvSpPr/>
          <p:nvPr/>
        </p:nvSpPr>
        <p:spPr>
          <a:xfrm>
            <a:off x="2239653" y="4484478"/>
            <a:ext cx="1492519" cy="1395003"/>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2F5597"/>
                </a:solidFill>
                <a:latin typeface="微软雅黑" panose="020B0503020204020204" pitchFamily="34" charset="-122"/>
                <a:ea typeface="微软雅黑" panose="020B0503020204020204" pitchFamily="34" charset="-122"/>
              </a:rPr>
              <a:t>量化数据分析</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3727719" y="4484476"/>
            <a:ext cx="6705819" cy="1395005"/>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从量化数据可以看出，当模型规模和并发数上升时，</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状态的保存</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恢复次数和</a:t>
            </a:r>
            <a:r>
              <a:rPr lang="en-US" altLang="zh-CN" sz="1600" dirty="0">
                <a:solidFill>
                  <a:schemeClr val="tx1"/>
                </a:solidFill>
                <a:latin typeface="微软雅黑" panose="020B0503020204020204" pitchFamily="34" charset="-122"/>
                <a:ea typeface="微软雅黑" panose="020B0503020204020204" pitchFamily="34" charset="-122"/>
              </a:rPr>
              <a:t> TTFT </a:t>
            </a:r>
            <a:r>
              <a:rPr lang="zh-CN" altLang="en-US" sz="1600" dirty="0">
                <a:solidFill>
                  <a:schemeClr val="tx1"/>
                </a:solidFill>
                <a:latin typeface="微软雅黑" panose="020B0503020204020204" pitchFamily="34" charset="-122"/>
                <a:ea typeface="微软雅黑" panose="020B0503020204020204" pitchFamily="34" charset="-122"/>
              </a:rPr>
              <a:t>都呈现上升趋势；而</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状态的保存</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恢复次数是</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状态切换开销中十分重要的一个决定因素。</a:t>
            </a:r>
            <a:endParaRPr lang="zh-CN" altLang="en-US" sz="1600" dirty="0">
              <a:solidFill>
                <a:schemeClr val="tx1"/>
              </a:solidFill>
              <a:latin typeface="微软雅黑" panose="020B0503020204020204" pitchFamily="34" charset="-122"/>
              <a:ea typeface="微软雅黑" panose="020B0503020204020204" pitchFamily="34" charset="-122"/>
            </a:endParaRPr>
          </a:p>
        </p:txBody>
      </p:sp>
      <p:graphicFrame>
        <p:nvGraphicFramePr>
          <p:cNvPr id="2" name="表格 1"/>
          <p:cNvGraphicFramePr/>
          <p:nvPr/>
        </p:nvGraphicFramePr>
        <p:xfrm>
          <a:off x="3005343" y="1344830"/>
          <a:ext cx="6705819" cy="2870730"/>
        </p:xfrm>
        <a:graphic>
          <a:graphicData uri="http://schemas.openxmlformats.org/drawingml/2006/table">
            <a:tbl>
              <a:tblPr/>
              <a:tblGrid>
                <a:gridCol w="796731"/>
                <a:gridCol w="830338"/>
                <a:gridCol w="1238540"/>
                <a:gridCol w="1151653"/>
                <a:gridCol w="1261859"/>
                <a:gridCol w="1426698"/>
              </a:tblGrid>
              <a:tr h="574146">
                <a:tc>
                  <a:txBody>
                    <a:bodyPr/>
                    <a:lstStyle/>
                    <a:p>
                      <a:pPr algn="ctr"/>
                      <a:r>
                        <a:rPr lang="zh-CN" altLang="en-US" dirty="0"/>
                        <a:t>模型</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zh-CN" altLang="en-US" dirty="0"/>
                        <a:t>并发</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TPS</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TTFT</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save </a:t>
                      </a:r>
                      <a:r>
                        <a:rPr lang="zh-CN" altLang="en-US" dirty="0"/>
                        <a:t>次数</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restore </a:t>
                      </a:r>
                      <a:r>
                        <a:rPr lang="zh-CN" altLang="en-US" dirty="0"/>
                        <a:t>次数</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574146">
                <a:tc>
                  <a:txBody>
                    <a:bodyPr/>
                    <a:lstStyle/>
                    <a:p>
                      <a:pPr algn="ctr"/>
                      <a:r>
                        <a:rPr lang="en-US" altLang="zh-CN" dirty="0"/>
                        <a:t>1B</a:t>
                      </a:r>
                      <a:endParaRPr lang="zh-CN" altLang="en-US" dirty="0"/>
                    </a:p>
                  </a:txBody>
                  <a:tcP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4</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0.418</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12588 </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1,018,160 </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1,160,909</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574146">
                <a:tc>
                  <a:txBody>
                    <a:bodyPr/>
                    <a:lstStyle/>
                    <a:p>
                      <a:pPr algn="ctr"/>
                      <a:r>
                        <a:rPr lang="en-US" altLang="zh-CN" dirty="0"/>
                        <a:t>1B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0.417</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5303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1,344,788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1,682,812</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r h="57414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1B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16</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0.309</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49596</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931,795</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1,084,967</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57414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t>3B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0.202</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39464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2,295,887</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2,677,651</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3.2 </a:t>
            </a:r>
            <a:r>
              <a:rPr lang="zh-CN" altLang="en-US" dirty="0"/>
              <a:t>量化</a:t>
            </a:r>
            <a:r>
              <a:rPr lang="en-US" altLang="zh-CN" dirty="0"/>
              <a:t>V</a:t>
            </a:r>
            <a:r>
              <a:rPr lang="zh-CN" altLang="en-US" dirty="0"/>
              <a:t>状态切换和推理关系</a:t>
            </a:r>
            <a:endParaRPr lang="zh-CN" altLang="en-US" dirty="0"/>
          </a:p>
        </p:txBody>
      </p:sp>
      <p:sp>
        <p:nvSpPr>
          <p:cNvPr id="12" name="矩形: 圆角 5"/>
          <p:cNvSpPr/>
          <p:nvPr/>
        </p:nvSpPr>
        <p:spPr>
          <a:xfrm>
            <a:off x="2239653" y="4449180"/>
            <a:ext cx="1492519" cy="1395003"/>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2F5597"/>
                </a:solidFill>
                <a:latin typeface="微软雅黑" panose="020B0503020204020204" pitchFamily="34" charset="-122"/>
                <a:ea typeface="微软雅黑" panose="020B0503020204020204" pitchFamily="34" charset="-122"/>
              </a:rPr>
              <a:t>量化数据分析</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3727450" y="4449445"/>
            <a:ext cx="6657975" cy="1395095"/>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从上表中可以看出需要保存</a:t>
            </a:r>
            <a:r>
              <a:rPr lang="en-US" altLang="zh-CN" sz="1600" dirty="0">
                <a:solidFill>
                  <a:schemeClr val="tx1"/>
                </a:solidFill>
                <a:latin typeface="微软雅黑" panose="020B0503020204020204" pitchFamily="34" charset="-122"/>
                <a:ea typeface="微软雅黑" panose="020B0503020204020204" pitchFamily="34" charset="-122"/>
              </a:rPr>
              <a:t> V </a:t>
            </a:r>
            <a:r>
              <a:rPr lang="zh-CN" altLang="en-US" sz="1600" dirty="0">
                <a:solidFill>
                  <a:schemeClr val="tx1"/>
                </a:solidFill>
                <a:latin typeface="微软雅黑" panose="020B0503020204020204" pitchFamily="34" charset="-122"/>
                <a:ea typeface="微软雅黑" panose="020B0503020204020204" pitchFamily="34" charset="-122"/>
              </a:rPr>
              <a:t>状态的线程切换带来的时间开销近似为不需要保存的线程切换的时间开销的两倍，说明</a:t>
            </a:r>
            <a:r>
              <a:rPr lang="en-US" altLang="zh-CN" sz="1600" dirty="0">
                <a:solidFill>
                  <a:schemeClr val="tx1"/>
                </a:solidFill>
                <a:latin typeface="微软雅黑" panose="020B0503020204020204" pitchFamily="34" charset="-122"/>
                <a:ea typeface="微软雅黑" panose="020B0503020204020204" pitchFamily="34" charset="-122"/>
              </a:rPr>
              <a:t> V </a:t>
            </a:r>
            <a:r>
              <a:rPr lang="zh-CN" altLang="en-US" sz="1600" dirty="0">
                <a:solidFill>
                  <a:schemeClr val="tx1"/>
                </a:solidFill>
                <a:latin typeface="微软雅黑" panose="020B0503020204020204" pitchFamily="34" charset="-122"/>
                <a:ea typeface="微软雅黑" panose="020B0503020204020204" pitchFamily="34" charset="-122"/>
              </a:rPr>
              <a:t>状态保存操作实实在在地引入了大量时间开销，对</a:t>
            </a:r>
            <a:r>
              <a:rPr lang="en-US" altLang="zh-CN" sz="1600" dirty="0">
                <a:solidFill>
                  <a:schemeClr val="tx1"/>
                </a:solidFill>
                <a:latin typeface="微软雅黑" panose="020B0503020204020204" pitchFamily="34" charset="-122"/>
                <a:ea typeface="微软雅黑" panose="020B0503020204020204" pitchFamily="34" charset="-122"/>
              </a:rPr>
              <a:t>TTFT</a:t>
            </a:r>
            <a:r>
              <a:rPr lang="zh-CN" altLang="en-US" sz="1600" dirty="0">
                <a:solidFill>
                  <a:schemeClr val="tx1"/>
                </a:solidFill>
                <a:latin typeface="微软雅黑" panose="020B0503020204020204" pitchFamily="34" charset="-122"/>
                <a:ea typeface="微软雅黑" panose="020B0503020204020204" pitchFamily="34" charset="-122"/>
              </a:rPr>
              <a:t>的增长有一定程度上的影响。</a:t>
            </a:r>
            <a:endParaRPr lang="zh-CN" altLang="en-US" sz="1600" dirty="0">
              <a:solidFill>
                <a:schemeClr val="tx1"/>
              </a:solidFill>
              <a:latin typeface="微软雅黑" panose="020B0503020204020204" pitchFamily="34" charset="-122"/>
              <a:ea typeface="微软雅黑" panose="020B0503020204020204" pitchFamily="34" charset="-122"/>
            </a:endParaRPr>
          </a:p>
        </p:txBody>
      </p:sp>
      <p:graphicFrame>
        <p:nvGraphicFramePr>
          <p:cNvPr id="4" name="表格 3"/>
          <p:cNvGraphicFramePr/>
          <p:nvPr/>
        </p:nvGraphicFramePr>
        <p:xfrm>
          <a:off x="2733298" y="1418973"/>
          <a:ext cx="6725403" cy="2746625"/>
        </p:xfrm>
        <a:graphic>
          <a:graphicData uri="http://schemas.openxmlformats.org/drawingml/2006/table">
            <a:tbl>
              <a:tblPr/>
              <a:tblGrid>
                <a:gridCol w="1015005"/>
                <a:gridCol w="745207"/>
                <a:gridCol w="1298448"/>
                <a:gridCol w="1325880"/>
                <a:gridCol w="2340863"/>
              </a:tblGrid>
              <a:tr h="549325">
                <a:tc>
                  <a:txBody>
                    <a:bodyPr/>
                    <a:lstStyle/>
                    <a:p>
                      <a:pPr algn="ctr"/>
                      <a:r>
                        <a:rPr lang="zh-CN" altLang="en-US" dirty="0"/>
                        <a:t>模型</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zh-CN" altLang="en-US" dirty="0"/>
                        <a:t>并发</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V-save/ns</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zh-CN" altLang="en-US" dirty="0"/>
                        <a:t>无 </a:t>
                      </a:r>
                      <a:r>
                        <a:rPr lang="en-US" altLang="zh-CN" dirty="0"/>
                        <a:t>save/ns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save </a:t>
                      </a:r>
                      <a:r>
                        <a:rPr lang="zh-CN" altLang="en-US" dirty="0"/>
                        <a:t>切换总耗时</a:t>
                      </a:r>
                      <a:r>
                        <a:rPr lang="en-US" altLang="zh-CN" dirty="0"/>
                        <a:t>/</a:t>
                      </a:r>
                      <a:r>
                        <a:rPr lang="en-US" altLang="zh-CN" dirty="0" err="1"/>
                        <a:t>ms</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549325">
                <a:tc>
                  <a:txBody>
                    <a:bodyPr/>
                    <a:lstStyle/>
                    <a:p>
                      <a:pPr algn="ctr"/>
                      <a:r>
                        <a:rPr lang="en-US" altLang="zh-CN" dirty="0"/>
                        <a:t>1B</a:t>
                      </a:r>
                      <a:endParaRPr lang="zh-CN" altLang="en-US" dirty="0"/>
                    </a:p>
                  </a:txBody>
                  <a:tcP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a:t>4</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35661</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16584 </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algn="ctr"/>
                      <a:r>
                        <a:rPr lang="en-US" altLang="zh-CN" dirty="0"/>
                        <a:t>36309 </a:t>
                      </a:r>
                      <a:endParaRPr lang="zh-CN" altLang="en-US" dirty="0"/>
                    </a:p>
                  </a:txBody>
                  <a:tcPr>
                    <a:lnL w="6350" cap="flat" cmpd="sng" algn="ctr">
                      <a:solidFill>
                        <a:srgbClr val="767C85"/>
                      </a:solidFill>
                      <a:prstDash val="solid"/>
                      <a:roun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549325">
                <a:tc>
                  <a:txBody>
                    <a:bodyPr/>
                    <a:lstStyle/>
                    <a:p>
                      <a:pPr algn="ctr"/>
                      <a:r>
                        <a:rPr lang="en-US" altLang="zh-CN" dirty="0"/>
                        <a:t>1B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33016</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15253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44399</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r h="5493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t>1B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16</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34749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14324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32378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5493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t>3B</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a:t>8</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36763</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15181 </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algn="ctr"/>
                      <a:r>
                        <a:rPr lang="en-US" altLang="zh-CN" dirty="0"/>
                        <a:t>84403</a:t>
                      </a:r>
                      <a:endParaRPr lang="zh-CN" altLang="en-US" dirty="0"/>
                    </a:p>
                  </a:txBody>
                  <a:tcP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3.3 </a:t>
            </a:r>
            <a:r>
              <a:rPr lang="zh-CN" altLang="en-US" dirty="0"/>
              <a:t>优化策略</a:t>
            </a:r>
            <a:endParaRPr lang="zh-CN" altLang="en-US" dirty="0"/>
          </a:p>
        </p:txBody>
      </p:sp>
      <p:sp>
        <p:nvSpPr>
          <p:cNvPr id="12" name="矩形: 圆角 5"/>
          <p:cNvSpPr/>
          <p:nvPr/>
        </p:nvSpPr>
        <p:spPr>
          <a:xfrm>
            <a:off x="978234" y="1205931"/>
            <a:ext cx="3390567" cy="374868"/>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2F5597"/>
                </a:solidFill>
                <a:latin typeface="微软雅黑" panose="020B0503020204020204" pitchFamily="34" charset="-122"/>
                <a:ea typeface="微软雅黑" panose="020B0503020204020204" pitchFamily="34" charset="-122"/>
              </a:rPr>
              <a:t>时间维度</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978234" y="1580799"/>
            <a:ext cx="3390567" cy="1889367"/>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高并发下多个</a:t>
            </a:r>
            <a:r>
              <a:rPr lang="en-US" altLang="zh-CN" sz="1600" dirty="0">
                <a:solidFill>
                  <a:schemeClr val="tx1"/>
                </a:solidFill>
                <a:latin typeface="微软雅黑" panose="020B0503020204020204" pitchFamily="34" charset="-122"/>
                <a:ea typeface="微软雅黑" panose="020B0503020204020204" pitchFamily="34" charset="-122"/>
              </a:rPr>
              <a:t>Dirty </a:t>
            </a:r>
            <a:r>
              <a:rPr lang="zh-CN" altLang="en-US" sz="1600" dirty="0">
                <a:solidFill>
                  <a:schemeClr val="tx1"/>
                </a:solidFill>
                <a:latin typeface="微软雅黑" panose="020B0503020204020204" pitchFamily="34" charset="-122"/>
                <a:ea typeface="微软雅黑" panose="020B0503020204020204" pitchFamily="34" charset="-122"/>
              </a:rPr>
              <a:t>推理线程争用 </a:t>
            </a:r>
            <a:r>
              <a:rPr lang="en-US" altLang="zh-CN" sz="1600" dirty="0">
                <a:solidFill>
                  <a:schemeClr val="tx1"/>
                </a:solidFill>
                <a:latin typeface="微软雅黑" panose="020B0503020204020204" pitchFamily="34" charset="-122"/>
                <a:ea typeface="微软雅黑" panose="020B0503020204020204" pitchFamily="34" charset="-122"/>
              </a:rPr>
              <a:t>CPU</a:t>
            </a: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CFS</a:t>
            </a:r>
            <a:r>
              <a:rPr lang="zh-CN" altLang="en-US" sz="1600" dirty="0">
                <a:solidFill>
                  <a:schemeClr val="tx1"/>
                </a:solidFill>
                <a:latin typeface="微软雅黑" panose="020B0503020204020204" pitchFamily="34" charset="-122"/>
                <a:ea typeface="微软雅黑" panose="020B0503020204020204" pitchFamily="34" charset="-122"/>
              </a:rPr>
              <a:t>调度发生更多任务切换，从而更频繁触发按需 </a:t>
            </a:r>
            <a:r>
              <a:rPr lang="en-US" altLang="zh-CN" sz="1600" dirty="0">
                <a:solidFill>
                  <a:schemeClr val="tx1"/>
                </a:solidFill>
                <a:latin typeface="微软雅黑" panose="020B0503020204020204" pitchFamily="34" charset="-122"/>
                <a:ea typeface="微软雅黑" panose="020B0503020204020204" pitchFamily="34" charset="-122"/>
              </a:rPr>
              <a:t>V </a:t>
            </a:r>
            <a:r>
              <a:rPr lang="zh-CN" altLang="en-US" sz="1600" dirty="0">
                <a:solidFill>
                  <a:schemeClr val="tx1"/>
                </a:solidFill>
                <a:latin typeface="微软雅黑" panose="020B0503020204020204" pitchFamily="34" charset="-122"/>
                <a:ea typeface="微软雅黑" panose="020B0503020204020204" pitchFamily="34" charset="-122"/>
              </a:rPr>
              <a:t>状态保存，导致平均每次线程切换的时间开销被大大提高。</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4" name="矩形: 圆角 5"/>
          <p:cNvSpPr/>
          <p:nvPr/>
        </p:nvSpPr>
        <p:spPr>
          <a:xfrm>
            <a:off x="978234" y="3845034"/>
            <a:ext cx="3390567" cy="374867"/>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2F5597"/>
                </a:solidFill>
                <a:latin typeface="微软雅黑" panose="020B0503020204020204" pitchFamily="34" charset="-122"/>
                <a:ea typeface="微软雅黑" panose="020B0503020204020204" pitchFamily="34" charset="-122"/>
              </a:rPr>
              <a:t>空间维度</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978234" y="4219901"/>
            <a:ext cx="3390567" cy="1838570"/>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非 </a:t>
            </a:r>
            <a:r>
              <a:rPr lang="en-US" altLang="zh-CN" sz="1600" dirty="0">
                <a:solidFill>
                  <a:schemeClr val="tx1"/>
                </a:solidFill>
                <a:latin typeface="微软雅黑" panose="020B0503020204020204" pitchFamily="34" charset="-122"/>
                <a:ea typeface="微软雅黑" panose="020B0503020204020204" pitchFamily="34" charset="-122"/>
              </a:rPr>
              <a:t>llama </a:t>
            </a:r>
            <a:r>
              <a:rPr lang="zh-CN" altLang="en-US" sz="1600" dirty="0">
                <a:solidFill>
                  <a:schemeClr val="tx1"/>
                </a:solidFill>
                <a:latin typeface="微软雅黑" panose="020B0503020204020204" pitchFamily="34" charset="-122"/>
                <a:ea typeface="微软雅黑" panose="020B0503020204020204" pitchFamily="34" charset="-122"/>
              </a:rPr>
              <a:t>任务、</a:t>
            </a:r>
            <a:r>
              <a:rPr lang="en-US" altLang="zh-CN" sz="1600" dirty="0">
                <a:solidFill>
                  <a:schemeClr val="tx1"/>
                </a:solidFill>
                <a:latin typeface="微软雅黑" panose="020B0503020204020204" pitchFamily="34" charset="-122"/>
                <a:ea typeface="微软雅黑" panose="020B0503020204020204" pitchFamily="34" charset="-122"/>
              </a:rPr>
              <a:t>server </a:t>
            </a:r>
            <a:r>
              <a:rPr lang="zh-CN" altLang="en-US" sz="1600" dirty="0">
                <a:solidFill>
                  <a:schemeClr val="tx1"/>
                </a:solidFill>
                <a:latin typeface="微软雅黑" panose="020B0503020204020204" pitchFamily="34" charset="-122"/>
                <a:ea typeface="微软雅黑" panose="020B0503020204020204" pitchFamily="34" charset="-122"/>
              </a:rPr>
              <a:t>内部 </a:t>
            </a:r>
            <a:r>
              <a:rPr lang="en-US" altLang="zh-CN" sz="1600" dirty="0">
                <a:solidFill>
                  <a:schemeClr val="tx1"/>
                </a:solidFill>
                <a:latin typeface="微软雅黑" panose="020B0503020204020204" pitchFamily="34" charset="-122"/>
                <a:ea typeface="微软雅黑" panose="020B0503020204020204" pitchFamily="34" charset="-122"/>
              </a:rPr>
              <a:t>HTTP</a:t>
            </a:r>
            <a:r>
              <a:rPr lang="zh-CN" altLang="en-US" sz="1600" dirty="0">
                <a:solidFill>
                  <a:schemeClr val="tx1"/>
                </a:solidFill>
                <a:latin typeface="微软雅黑" panose="020B0503020204020204" pitchFamily="34" charset="-122"/>
                <a:ea typeface="微软雅黑" panose="020B0503020204020204" pitchFamily="34" charset="-122"/>
              </a:rPr>
              <a:t>等线程，以及推理线程都会争用核心；即使隔离外部任务，线程池内部超订时仍会产生频繁切换，导致</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状态的保存恢复次数增加。</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箭头: 右 5"/>
          <p:cNvSpPr/>
          <p:nvPr/>
        </p:nvSpPr>
        <p:spPr>
          <a:xfrm>
            <a:off x="4529357" y="3260942"/>
            <a:ext cx="2115820" cy="771525"/>
          </a:xfrm>
          <a:prstGeom prst="right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black"/>
                </a:solidFill>
                <a:latin typeface="微软雅黑" panose="020B0503020204020204" pitchFamily="34" charset="-122"/>
                <a:ea typeface="微软雅黑" panose="020B0503020204020204" pitchFamily="34" charset="-122"/>
              </a:rPr>
              <a:t>优化策略</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a:xfrm>
            <a:off x="6805733" y="1362564"/>
            <a:ext cx="4931508" cy="4572000"/>
          </a:xfrm>
          <a:prstGeom prst="rect">
            <a:avLst/>
          </a:prstGeom>
          <a:solidFill>
            <a:schemeClr val="bg2"/>
          </a:solid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charset="-122"/>
              <a:cs typeface="+mn-cs"/>
            </a:endParaRPr>
          </a:p>
        </p:txBody>
      </p:sp>
      <p:sp>
        <p:nvSpPr>
          <p:cNvPr id="10" name="矩形: 剪去对角 9"/>
          <p:cNvSpPr/>
          <p:nvPr/>
        </p:nvSpPr>
        <p:spPr>
          <a:xfrm>
            <a:off x="7055827" y="1603379"/>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a:solidFill>
                  <a:prstClr val="black"/>
                </a:solidFill>
                <a:latin typeface="微软雅黑" panose="020B0503020204020204" pitchFamily="34" charset="-122"/>
                <a:ea typeface="微软雅黑" panose="020B0503020204020204" pitchFamily="34" charset="-122"/>
              </a:rPr>
              <a:t>Taskset</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en-US" altLang="zh-CN" sz="1600" b="1" dirty="0">
                <a:solidFill>
                  <a:prstClr val="black"/>
                </a:solidFill>
                <a:latin typeface="微软雅黑" panose="020B0503020204020204" pitchFamily="34" charset="-122"/>
                <a:ea typeface="微软雅黑" panose="020B0503020204020204" pitchFamily="34" charset="-122"/>
              </a:rPr>
              <a:t>CPU </a:t>
            </a:r>
            <a:r>
              <a:rPr lang="zh-CN" altLang="en-US" sz="1600" b="1" dirty="0">
                <a:solidFill>
                  <a:prstClr val="black"/>
                </a:solidFill>
                <a:latin typeface="微软雅黑" panose="020B0503020204020204" pitchFamily="34" charset="-122"/>
                <a:ea typeface="微软雅黑" panose="020B0503020204020204" pitchFamily="34" charset="-122"/>
              </a:rPr>
              <a:t>亲和性绑定</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矩形: 剪去对角 10"/>
          <p:cNvSpPr/>
          <p:nvPr/>
        </p:nvSpPr>
        <p:spPr>
          <a:xfrm>
            <a:off x="9459057" y="1603379"/>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err="1">
                <a:solidFill>
                  <a:prstClr val="black"/>
                </a:solidFill>
                <a:latin typeface="微软雅黑" panose="020B0503020204020204" pitchFamily="34" charset="-122"/>
                <a:ea typeface="微软雅黑" panose="020B0503020204020204" pitchFamily="34" charset="-122"/>
              </a:rPr>
              <a:t>cgroup</a:t>
            </a:r>
            <a:r>
              <a:rPr lang="en-US" altLang="zh-CN" sz="1600" b="1" dirty="0">
                <a:solidFill>
                  <a:prstClr val="black"/>
                </a:solidFill>
                <a:latin typeface="微软雅黑" panose="020B0503020204020204" pitchFamily="34" charset="-122"/>
                <a:ea typeface="微软雅黑" panose="020B0503020204020204" pitchFamily="34" charset="-122"/>
              </a:rPr>
              <a:t> </a:t>
            </a:r>
            <a:r>
              <a:rPr lang="en-US" altLang="zh-CN" sz="1600" b="1" dirty="0" err="1">
                <a:solidFill>
                  <a:prstClr val="black"/>
                </a:solidFill>
                <a:latin typeface="微软雅黑" panose="020B0503020204020204" pitchFamily="34" charset="-122"/>
                <a:ea typeface="微软雅黑" panose="020B0503020204020204" pitchFamily="34" charset="-122"/>
              </a:rPr>
              <a:t>cpuset</a:t>
            </a:r>
            <a:r>
              <a:rPr lang="en-US" altLang="zh-CN" sz="1600" b="1" dirty="0">
                <a:solidFill>
                  <a:prstClr val="black"/>
                </a:solidFill>
                <a:latin typeface="微软雅黑" panose="020B0503020204020204" pitchFamily="34" charset="-122"/>
                <a:ea typeface="微软雅黑" panose="020B0503020204020204" pitchFamily="34" charset="-122"/>
              </a:rPr>
              <a:t> </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隔离</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矩形: 剪去对角 13"/>
          <p:cNvSpPr/>
          <p:nvPr/>
        </p:nvSpPr>
        <p:spPr>
          <a:xfrm>
            <a:off x="7055826" y="2678425"/>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a:solidFill>
                  <a:prstClr val="black"/>
                </a:solidFill>
                <a:latin typeface="微软雅黑" panose="020B0503020204020204" pitchFamily="34" charset="-122"/>
                <a:ea typeface="微软雅黑" panose="020B0503020204020204" pitchFamily="34" charset="-122"/>
              </a:rPr>
              <a:t>partition-root </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独占隔离</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矩形: 剪去对角 14"/>
          <p:cNvSpPr/>
          <p:nvPr/>
        </p:nvSpPr>
        <p:spPr>
          <a:xfrm>
            <a:off x="9441217" y="2737257"/>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err="1">
                <a:solidFill>
                  <a:prstClr val="black"/>
                </a:solidFill>
                <a:latin typeface="微软雅黑" panose="020B0503020204020204" pitchFamily="34" charset="-122"/>
                <a:ea typeface="微软雅黑" panose="020B0503020204020204" pitchFamily="34" charset="-122"/>
              </a:rPr>
              <a:t>systemd</a:t>
            </a:r>
            <a:r>
              <a:rPr lang="en-US" altLang="zh-CN" sz="1600" b="1" dirty="0">
                <a:solidFill>
                  <a:prstClr val="black"/>
                </a:solidFill>
                <a:latin typeface="微软雅黑" panose="020B0503020204020204" pitchFamily="34" charset="-122"/>
                <a:ea typeface="微软雅黑" panose="020B0503020204020204" pitchFamily="34" charset="-122"/>
              </a:rPr>
              <a:t>-scope </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系统级隔离</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矩形: 剪去对角 15"/>
          <p:cNvSpPr/>
          <p:nvPr/>
        </p:nvSpPr>
        <p:spPr>
          <a:xfrm>
            <a:off x="7055827" y="3753471"/>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a:solidFill>
                  <a:prstClr val="black"/>
                </a:solidFill>
                <a:latin typeface="微软雅黑" panose="020B0503020204020204" pitchFamily="34" charset="-122"/>
                <a:ea typeface="微软雅黑" panose="020B0503020204020204" pitchFamily="34" charset="-122"/>
              </a:rPr>
              <a:t>SCHED_BATCH </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调度策略</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矩形: 剪去对角 16"/>
          <p:cNvSpPr/>
          <p:nvPr/>
        </p:nvSpPr>
        <p:spPr>
          <a:xfrm>
            <a:off x="9441217" y="3807506"/>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a:solidFill>
                  <a:prstClr val="black"/>
                </a:solidFill>
                <a:latin typeface="微软雅黑" panose="020B0503020204020204" pitchFamily="34" charset="-122"/>
                <a:ea typeface="微软雅黑" panose="020B0503020204020204" pitchFamily="34" charset="-122"/>
              </a:rPr>
              <a:t>SCHED_FIFO</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实时调度策略</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矩形: 剪去对角 17"/>
          <p:cNvSpPr/>
          <p:nvPr/>
        </p:nvSpPr>
        <p:spPr>
          <a:xfrm>
            <a:off x="8211769" y="4844017"/>
            <a:ext cx="2008786" cy="867102"/>
          </a:xfrm>
          <a:prstGeom prst="snip2DiagRect">
            <a:avLst/>
          </a:prstGeom>
          <a:solidFill>
            <a:schemeClr val="accent2">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altLang="zh-CN" sz="1600" b="1" dirty="0">
                <a:solidFill>
                  <a:prstClr val="black"/>
                </a:solidFill>
                <a:latin typeface="微软雅黑" panose="020B0503020204020204" pitchFamily="34" charset="-122"/>
                <a:ea typeface="微软雅黑" panose="020B0503020204020204" pitchFamily="34" charset="-122"/>
              </a:rPr>
              <a:t>SCHED_EXT </a:t>
            </a:r>
            <a:endParaRPr lang="en-US" altLang="zh-CN" sz="1600" b="1" dirty="0">
              <a:solidFill>
                <a:prstClr val="black"/>
              </a:solidFill>
              <a:latin typeface="微软雅黑" panose="020B0503020204020204" pitchFamily="34" charset="-122"/>
              <a:ea typeface="微软雅黑" panose="020B0503020204020204" pitchFamily="34" charset="-122"/>
            </a:endParaRPr>
          </a:p>
          <a:p>
            <a:pPr lvl="0">
              <a:defRPr/>
            </a:pPr>
            <a:r>
              <a:rPr lang="zh-CN" altLang="en-US" sz="1600" b="1" dirty="0">
                <a:solidFill>
                  <a:prstClr val="black"/>
                </a:solidFill>
                <a:latin typeface="微软雅黑" panose="020B0503020204020204" pitchFamily="34" charset="-122"/>
                <a:ea typeface="微软雅黑" panose="020B0503020204020204" pitchFamily="34" charset="-122"/>
              </a:rPr>
              <a:t>自定义调度</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3.4 </a:t>
            </a:r>
            <a:r>
              <a:rPr lang="zh-CN" altLang="en-US" dirty="0"/>
              <a:t>总体架构</a:t>
            </a: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61116" y="1014095"/>
            <a:ext cx="8419528" cy="531759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custDataLst>
              <p:tags r:id="rId2"/>
            </p:custDataLst>
          </p:nvPr>
        </p:nvSpPr>
        <p:spPr>
          <a:xfrm>
            <a:off x="528806" y="2257742"/>
            <a:ext cx="2284731" cy="3545181"/>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nSpc>
                <a:spcPct val="130000"/>
              </a:lnSpc>
              <a:buFont typeface="Wingdings" panose="05000000000000000000" pitchFamily="2" charset="2"/>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项目整体架构由用户层、内核层和</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CPU</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层构成。包含</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V</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状态量化、调度优化、</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Trace</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观测、</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Linux</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调度类等模块及硬件核心。</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grpSp>
        <p:nvGrpSpPr>
          <p:cNvPr id="7" name="组合 6"/>
          <p:cNvGrpSpPr/>
          <p:nvPr/>
        </p:nvGrpSpPr>
        <p:grpSpPr>
          <a:xfrm>
            <a:off x="528945" y="1610677"/>
            <a:ext cx="2284215" cy="968702"/>
            <a:chOff x="2139" y="8387"/>
            <a:chExt cx="5103" cy="1008"/>
          </a:xfrm>
        </p:grpSpPr>
        <p:sp>
          <p:nvSpPr>
            <p:cNvPr id="9" name="Shape 2"/>
            <p:cNvSpPr/>
            <p:nvPr/>
          </p:nvSpPr>
          <p:spPr>
            <a:xfrm>
              <a:off x="2139" y="8387"/>
              <a:ext cx="5103" cy="1008"/>
            </a:xfrm>
            <a:prstGeom prst="rect">
              <a:avLst/>
            </a:prstGeom>
            <a:solidFill>
              <a:srgbClr val="F1F8E9"/>
            </a:solidFill>
            <a:ln w="10160">
              <a:solidFill>
                <a:srgbClr val="00897B"/>
              </a:solidFill>
              <a:prstDash val="solid"/>
            </a:ln>
          </p:spPr>
          <p:txBody>
            <a:bodyPr/>
            <a:lstStyle/>
            <a:p>
              <a:endParaRPr lang="zh-CN" altLang="en-US" sz="3200"/>
            </a:p>
          </p:txBody>
        </p:sp>
        <p:sp>
          <p:nvSpPr>
            <p:cNvPr id="19" name="Text 3"/>
            <p:cNvSpPr/>
            <p:nvPr/>
          </p:nvSpPr>
          <p:spPr>
            <a:xfrm>
              <a:off x="2481" y="8639"/>
              <a:ext cx="4517" cy="505"/>
            </a:xfrm>
            <a:prstGeom prst="rect">
              <a:avLst/>
            </a:prstGeom>
            <a:noFill/>
          </p:spPr>
          <p:txBody>
            <a:bodyPr wrap="square" lIns="0" tIns="0" rIns="0" bIns="0" rtlCol="0" anchor="ctr"/>
            <a:lstStyle/>
            <a:p>
              <a:pPr algn="ctr"/>
              <a:r>
                <a:rPr lang="zh-CN" altLang="en-US" b="1" dirty="0">
                  <a:solidFill>
                    <a:srgbClr val="00897B"/>
                  </a:solidFill>
                  <a:latin typeface="Arial" panose="020B0604020202020204" pitchFamily="34" charset="0"/>
                  <a:ea typeface="Arial" panose="020B0604020202020204" pitchFamily="34" charset="-122"/>
                  <a:cs typeface="Arial" panose="020B0604020202020204" pitchFamily="34" charset="-120"/>
                </a:rPr>
                <a:t>优化策略实施框架</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3.5 </a:t>
            </a:r>
            <a:r>
              <a:rPr lang="zh-CN" altLang="en-US" dirty="0"/>
              <a:t>七类优化策略</a:t>
            </a:r>
            <a:endParaRPr lang="zh-CN" altLang="en-US" dirty="0"/>
          </a:p>
        </p:txBody>
      </p:sp>
      <p:sp>
        <p:nvSpPr>
          <p:cNvPr id="2" name="矩形: 圆角 1"/>
          <p:cNvSpPr/>
          <p:nvPr/>
        </p:nvSpPr>
        <p:spPr>
          <a:xfrm>
            <a:off x="1220470" y="1178560"/>
            <a:ext cx="9319260" cy="491490"/>
          </a:xfrm>
          <a:prstGeom prst="roundRect">
            <a:avLst>
              <a:gd name="adj" fmla="val 50000"/>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一种绑定核心策略</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pic>
        <p:nvPicPr>
          <p:cNvPr id="4" name="图片 3"/>
          <p:cNvPicPr>
            <a:picLocks noChangeAspect="1"/>
          </p:cNvPicPr>
          <p:nvPr/>
        </p:nvPicPr>
        <p:blipFill>
          <a:blip r:embed="rId1"/>
          <a:stretch>
            <a:fillRect/>
          </a:stretch>
        </p:blipFill>
        <p:spPr>
          <a:xfrm>
            <a:off x="3747135" y="2054225"/>
            <a:ext cx="6791960" cy="3061335"/>
          </a:xfrm>
          <a:prstGeom prst="rect">
            <a:avLst/>
          </a:prstGeom>
        </p:spPr>
      </p:pic>
      <p:sp>
        <p:nvSpPr>
          <p:cNvPr id="5" name="矩形: 圆角 5"/>
          <p:cNvSpPr/>
          <p:nvPr/>
        </p:nvSpPr>
        <p:spPr>
          <a:xfrm>
            <a:off x="1254125" y="5447665"/>
            <a:ext cx="9075420" cy="737235"/>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调度域缩减，减少</a:t>
            </a:r>
            <a:r>
              <a:rPr kumimoji="0" lang="en-US" altLang="zh-CN"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CPU</a:t>
            </a: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抢占</a:t>
            </a:r>
            <a:endPar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custDataLst>
              <p:tags r:id="rId2"/>
            </p:custDataLst>
          </p:nvPr>
        </p:nvSpPr>
        <p:spPr>
          <a:xfrm>
            <a:off x="1220470" y="2720340"/>
            <a:ext cx="2336165" cy="2342515"/>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nSpc>
                <a:spcPct val="130000"/>
              </a:lnSpc>
              <a:buFont typeface="Wingdings" panose="05000000000000000000" pitchFamily="2" charset="2"/>
              <a:buNone/>
            </a:pPr>
            <a:r>
              <a:rPr 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taskset -c 4-7 将推理线程固定到指定核心，</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减少</a:t>
            </a:r>
            <a:r>
              <a:rPr 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跨核迁移带来的 V 状态保存/恢复开销。</a:t>
            </a:r>
            <a:endParaRPr lang="en-US"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grpSp>
        <p:nvGrpSpPr>
          <p:cNvPr id="7" name="组合 6"/>
          <p:cNvGrpSpPr/>
          <p:nvPr/>
        </p:nvGrpSpPr>
        <p:grpSpPr>
          <a:xfrm>
            <a:off x="1220645" y="2073275"/>
            <a:ext cx="2335637" cy="640080"/>
            <a:chOff x="2139" y="8387"/>
            <a:chExt cx="5103" cy="1008"/>
          </a:xfrm>
        </p:grpSpPr>
        <p:sp>
          <p:nvSpPr>
            <p:cNvPr id="8" name="Shape 2"/>
            <p:cNvSpPr/>
            <p:nvPr/>
          </p:nvSpPr>
          <p:spPr>
            <a:xfrm>
              <a:off x="2139" y="8387"/>
              <a:ext cx="5103" cy="1008"/>
            </a:xfrm>
            <a:prstGeom prst="rect">
              <a:avLst/>
            </a:prstGeom>
            <a:solidFill>
              <a:srgbClr val="F1F8E9"/>
            </a:solidFill>
            <a:ln w="10160">
              <a:solidFill>
                <a:srgbClr val="00897B"/>
              </a:solidFill>
              <a:prstDash val="solid"/>
            </a:ln>
          </p:spPr>
          <p:txBody>
            <a:bodyPr/>
            <a:lstStyle/>
            <a:p>
              <a:endParaRPr lang="zh-CN" altLang="en-US" sz="3200"/>
            </a:p>
          </p:txBody>
        </p:sp>
        <p:sp>
          <p:nvSpPr>
            <p:cNvPr id="9" name="Text 3"/>
            <p:cNvSpPr/>
            <p:nvPr/>
          </p:nvSpPr>
          <p:spPr>
            <a:xfrm>
              <a:off x="3262" y="8463"/>
              <a:ext cx="2855" cy="856"/>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taskset</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3.5 </a:t>
            </a:r>
            <a:r>
              <a:rPr lang="zh-CN" altLang="en-US" dirty="0"/>
              <a:t>七类优化策略</a:t>
            </a:r>
            <a:endParaRPr lang="zh-CN" altLang="en-US" dirty="0"/>
          </a:p>
        </p:txBody>
      </p:sp>
      <p:sp>
        <p:nvSpPr>
          <p:cNvPr id="2" name="矩形: 圆角 1"/>
          <p:cNvSpPr/>
          <p:nvPr/>
        </p:nvSpPr>
        <p:spPr>
          <a:xfrm>
            <a:off x="1127760" y="1214755"/>
            <a:ext cx="9833610" cy="491490"/>
          </a:xfrm>
          <a:prstGeom prst="roundRect">
            <a:avLst>
              <a:gd name="adj" fmla="val 50000"/>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三种隔离核心策略</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custDataLst>
              <p:tags r:id="rId1"/>
            </p:custDataLst>
          </p:nvPr>
        </p:nvGrpSpPr>
        <p:grpSpPr>
          <a:xfrm>
            <a:off x="1050925" y="3131185"/>
            <a:ext cx="1937385" cy="640080"/>
            <a:chOff x="2602" y="8387"/>
            <a:chExt cx="4176" cy="1008"/>
          </a:xfrm>
        </p:grpSpPr>
        <p:sp>
          <p:nvSpPr>
            <p:cNvPr id="5" name="Shape 2"/>
            <p:cNvSpPr/>
            <p:nvPr>
              <p:custDataLst>
                <p:tags r:id="rId2"/>
              </p:custDataLst>
            </p:nvPr>
          </p:nvSpPr>
          <p:spPr>
            <a:xfrm>
              <a:off x="2602" y="8387"/>
              <a:ext cx="4176" cy="1008"/>
            </a:xfrm>
            <a:prstGeom prst="rect">
              <a:avLst/>
            </a:prstGeom>
            <a:solidFill>
              <a:srgbClr val="F1F8E9"/>
            </a:solidFill>
            <a:ln w="10160">
              <a:solidFill>
                <a:srgbClr val="00897B"/>
              </a:solidFill>
              <a:prstDash val="solid"/>
            </a:ln>
          </p:spPr>
          <p:txBody>
            <a:bodyPr/>
            <a:lstStyle/>
            <a:p>
              <a:endParaRPr lang="zh-CN" altLang="en-US" sz="3200"/>
            </a:p>
          </p:txBody>
        </p:sp>
        <p:sp>
          <p:nvSpPr>
            <p:cNvPr id="6" name="Text 3"/>
            <p:cNvSpPr/>
            <p:nvPr>
              <p:custDataLst>
                <p:tags r:id="rId3"/>
              </p:custDataLst>
            </p:nvPr>
          </p:nvSpPr>
          <p:spPr>
            <a:xfrm>
              <a:off x="3311" y="8608"/>
              <a:ext cx="2758" cy="566"/>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cpuset</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grpSp>
        <p:nvGrpSpPr>
          <p:cNvPr id="7" name="组合 6"/>
          <p:cNvGrpSpPr/>
          <p:nvPr>
            <p:custDataLst>
              <p:tags r:id="rId4"/>
            </p:custDataLst>
          </p:nvPr>
        </p:nvGrpSpPr>
        <p:grpSpPr>
          <a:xfrm>
            <a:off x="1050925" y="4232275"/>
            <a:ext cx="1937385" cy="640080"/>
            <a:chOff x="7210" y="8387"/>
            <a:chExt cx="4176" cy="1008"/>
          </a:xfrm>
        </p:grpSpPr>
        <p:sp>
          <p:nvSpPr>
            <p:cNvPr id="8" name="Shape 4"/>
            <p:cNvSpPr/>
            <p:nvPr>
              <p:custDataLst>
                <p:tags r:id="rId5"/>
              </p:custDataLst>
            </p:nvPr>
          </p:nvSpPr>
          <p:spPr>
            <a:xfrm>
              <a:off x="7210" y="8387"/>
              <a:ext cx="4176" cy="1008"/>
            </a:xfrm>
            <a:prstGeom prst="rect">
              <a:avLst/>
            </a:prstGeom>
            <a:solidFill>
              <a:srgbClr val="F1F8E9"/>
            </a:solidFill>
            <a:ln w="10160">
              <a:solidFill>
                <a:srgbClr val="00897B"/>
              </a:solidFill>
              <a:prstDash val="solid"/>
            </a:ln>
          </p:spPr>
        </p:sp>
        <p:sp>
          <p:nvSpPr>
            <p:cNvPr id="9" name="Text 5"/>
            <p:cNvSpPr/>
            <p:nvPr>
              <p:custDataLst>
                <p:tags r:id="rId6"/>
              </p:custDataLst>
            </p:nvPr>
          </p:nvSpPr>
          <p:spPr>
            <a:xfrm>
              <a:off x="7614" y="8619"/>
              <a:ext cx="3369" cy="544"/>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partition-root</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grpSp>
        <p:nvGrpSpPr>
          <p:cNvPr id="10" name="组合 9"/>
          <p:cNvGrpSpPr/>
          <p:nvPr>
            <p:custDataLst>
              <p:tags r:id="rId7"/>
            </p:custDataLst>
          </p:nvPr>
        </p:nvGrpSpPr>
        <p:grpSpPr>
          <a:xfrm>
            <a:off x="1050925" y="1991360"/>
            <a:ext cx="1936750" cy="640080"/>
            <a:chOff x="11818" y="8387"/>
            <a:chExt cx="4176" cy="1008"/>
          </a:xfrm>
        </p:grpSpPr>
        <p:sp>
          <p:nvSpPr>
            <p:cNvPr id="11" name="Shape 6"/>
            <p:cNvSpPr/>
            <p:nvPr>
              <p:custDataLst>
                <p:tags r:id="rId8"/>
              </p:custDataLst>
            </p:nvPr>
          </p:nvSpPr>
          <p:spPr>
            <a:xfrm>
              <a:off x="11818" y="8387"/>
              <a:ext cx="4176" cy="1008"/>
            </a:xfrm>
            <a:prstGeom prst="rect">
              <a:avLst/>
            </a:prstGeom>
            <a:solidFill>
              <a:srgbClr val="F1F8E9"/>
            </a:solidFill>
            <a:ln w="10160">
              <a:solidFill>
                <a:srgbClr val="00897B"/>
              </a:solidFill>
              <a:prstDash val="solid"/>
            </a:ln>
          </p:spPr>
        </p:sp>
        <p:sp>
          <p:nvSpPr>
            <p:cNvPr id="12" name="Text 7"/>
            <p:cNvSpPr/>
            <p:nvPr>
              <p:custDataLst>
                <p:tags r:id="rId9"/>
              </p:custDataLst>
            </p:nvPr>
          </p:nvSpPr>
          <p:spPr>
            <a:xfrm>
              <a:off x="11962" y="8573"/>
              <a:ext cx="3888" cy="636"/>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systemd-scope</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pic>
        <p:nvPicPr>
          <p:cNvPr id="13" name="图片 12"/>
          <p:cNvPicPr>
            <a:picLocks noChangeAspect="1"/>
          </p:cNvPicPr>
          <p:nvPr/>
        </p:nvPicPr>
        <p:blipFill>
          <a:blip r:embed="rId10"/>
          <a:stretch>
            <a:fillRect/>
          </a:stretch>
        </p:blipFill>
        <p:spPr>
          <a:xfrm>
            <a:off x="3290570" y="2085975"/>
            <a:ext cx="7692390" cy="3237865"/>
          </a:xfrm>
          <a:prstGeom prst="rect">
            <a:avLst/>
          </a:prstGeom>
        </p:spPr>
      </p:pic>
      <p:sp>
        <p:nvSpPr>
          <p:cNvPr id="14" name="矩形: 圆角 5"/>
          <p:cNvSpPr/>
          <p:nvPr/>
        </p:nvSpPr>
        <p:spPr>
          <a:xfrm>
            <a:off x="1121410" y="5596890"/>
            <a:ext cx="9669780" cy="737235"/>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不与普通线程抢占</a:t>
            </a:r>
            <a:r>
              <a:rPr kumimoji="0" lang="en-US" altLang="zh-CN"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CPU</a:t>
            </a: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，实现隔离</a:t>
            </a:r>
            <a:endPar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custDataLst>
              <p:tags r:id="rId11"/>
            </p:custDataLst>
          </p:nvPr>
        </p:nvSpPr>
        <p:spPr>
          <a:xfrm>
            <a:off x="1050925" y="2640965"/>
            <a:ext cx="1937385" cy="35941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浅隔离</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16" name="矩形 15"/>
          <p:cNvSpPr/>
          <p:nvPr>
            <p:custDataLst>
              <p:tags r:id="rId12"/>
            </p:custDataLst>
          </p:nvPr>
        </p:nvSpPr>
        <p:spPr>
          <a:xfrm>
            <a:off x="1050925" y="4884420"/>
            <a:ext cx="1937385" cy="35941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强隔离</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17" name="矩形 16"/>
          <p:cNvSpPr/>
          <p:nvPr>
            <p:custDataLst>
              <p:tags r:id="rId13"/>
            </p:custDataLst>
          </p:nvPr>
        </p:nvSpPr>
        <p:spPr>
          <a:xfrm>
            <a:off x="1050925" y="3780790"/>
            <a:ext cx="1937385" cy="35941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中隔离</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3.5 </a:t>
            </a:r>
            <a:r>
              <a:rPr lang="zh-CN" altLang="en-US" dirty="0"/>
              <a:t>七类优化策略</a:t>
            </a:r>
            <a:endParaRPr lang="zh-CN" altLang="en-US" dirty="0"/>
          </a:p>
        </p:txBody>
      </p:sp>
      <p:sp>
        <p:nvSpPr>
          <p:cNvPr id="2" name="矩形: 圆角 1"/>
          <p:cNvSpPr/>
          <p:nvPr/>
        </p:nvSpPr>
        <p:spPr>
          <a:xfrm>
            <a:off x="1132205" y="1262380"/>
            <a:ext cx="9530080" cy="491490"/>
          </a:xfrm>
          <a:prstGeom prst="roundRect">
            <a:avLst>
              <a:gd name="adj" fmla="val 50000"/>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两种调度优化策略</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pic>
        <p:nvPicPr>
          <p:cNvPr id="4" name="图片 3"/>
          <p:cNvPicPr>
            <a:picLocks noChangeAspect="1"/>
          </p:cNvPicPr>
          <p:nvPr/>
        </p:nvPicPr>
        <p:blipFill>
          <a:blip r:embed="rId1"/>
          <a:stretch>
            <a:fillRect/>
          </a:stretch>
        </p:blipFill>
        <p:spPr>
          <a:xfrm>
            <a:off x="1132205" y="2002155"/>
            <a:ext cx="9452610" cy="1784350"/>
          </a:xfrm>
          <a:prstGeom prst="rect">
            <a:avLst/>
          </a:prstGeom>
        </p:spPr>
      </p:pic>
      <p:grpSp>
        <p:nvGrpSpPr>
          <p:cNvPr id="5" name="组合 4"/>
          <p:cNvGrpSpPr/>
          <p:nvPr>
            <p:custDataLst>
              <p:tags r:id="rId2"/>
            </p:custDataLst>
          </p:nvPr>
        </p:nvGrpSpPr>
        <p:grpSpPr>
          <a:xfrm>
            <a:off x="1363996" y="3960495"/>
            <a:ext cx="1929200" cy="1440180"/>
            <a:chOff x="2584" y="8387"/>
            <a:chExt cx="4215" cy="2268"/>
          </a:xfrm>
        </p:grpSpPr>
        <p:sp>
          <p:nvSpPr>
            <p:cNvPr id="6" name="Shape 2"/>
            <p:cNvSpPr/>
            <p:nvPr>
              <p:custDataLst>
                <p:tags r:id="rId3"/>
              </p:custDataLst>
            </p:nvPr>
          </p:nvSpPr>
          <p:spPr>
            <a:xfrm>
              <a:off x="2602" y="8387"/>
              <a:ext cx="4176" cy="1008"/>
            </a:xfrm>
            <a:prstGeom prst="rect">
              <a:avLst/>
            </a:prstGeom>
            <a:solidFill>
              <a:srgbClr val="F1F8E9"/>
            </a:solidFill>
            <a:ln w="10160">
              <a:solidFill>
                <a:srgbClr val="00897B"/>
              </a:solidFill>
              <a:prstDash val="solid"/>
            </a:ln>
          </p:spPr>
          <p:txBody>
            <a:bodyPr/>
            <a:lstStyle/>
            <a:p>
              <a:endParaRPr lang="zh-CN" altLang="en-US" sz="3200"/>
            </a:p>
          </p:txBody>
        </p:sp>
        <p:sp>
          <p:nvSpPr>
            <p:cNvPr id="7" name="Text 3"/>
            <p:cNvSpPr/>
            <p:nvPr>
              <p:custDataLst>
                <p:tags r:id="rId4"/>
              </p:custDataLst>
            </p:nvPr>
          </p:nvSpPr>
          <p:spPr>
            <a:xfrm>
              <a:off x="3024" y="8584"/>
              <a:ext cx="3332" cy="614"/>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SCHED_FIFO</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sp>
          <p:nvSpPr>
            <p:cNvPr id="8" name="Shape 2"/>
            <p:cNvSpPr/>
            <p:nvPr>
              <p:custDataLst>
                <p:tags r:id="rId5"/>
              </p:custDataLst>
            </p:nvPr>
          </p:nvSpPr>
          <p:spPr>
            <a:xfrm>
              <a:off x="2602" y="9647"/>
              <a:ext cx="4176" cy="1008"/>
            </a:xfrm>
            <a:prstGeom prst="rect">
              <a:avLst/>
            </a:prstGeom>
            <a:solidFill>
              <a:srgbClr val="F1F8E9"/>
            </a:solidFill>
            <a:ln w="10160">
              <a:solidFill>
                <a:srgbClr val="00897B"/>
              </a:solidFill>
              <a:prstDash val="solid"/>
            </a:ln>
          </p:spPr>
          <p:txBody>
            <a:bodyPr/>
            <a:lstStyle/>
            <a:p>
              <a:endParaRPr lang="zh-CN" altLang="en-US" sz="3200"/>
            </a:p>
          </p:txBody>
        </p:sp>
        <p:sp>
          <p:nvSpPr>
            <p:cNvPr id="9" name="Text 3"/>
            <p:cNvSpPr/>
            <p:nvPr>
              <p:custDataLst>
                <p:tags r:id="rId6"/>
              </p:custDataLst>
            </p:nvPr>
          </p:nvSpPr>
          <p:spPr>
            <a:xfrm>
              <a:off x="2584" y="9844"/>
              <a:ext cx="4215" cy="614"/>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SCHED_BATCH</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sp>
        <p:nvSpPr>
          <p:cNvPr id="10" name="矩形 9"/>
          <p:cNvSpPr/>
          <p:nvPr>
            <p:custDataLst>
              <p:tags r:id="rId7"/>
            </p:custDataLst>
          </p:nvPr>
        </p:nvSpPr>
        <p:spPr>
          <a:xfrm>
            <a:off x="3293110" y="3960495"/>
            <a:ext cx="7171690" cy="64008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高优先模式：抢占其他线程时间片</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11" name="矩形 10"/>
          <p:cNvSpPr/>
          <p:nvPr>
            <p:custDataLst>
              <p:tags r:id="rId8"/>
            </p:custDataLst>
          </p:nvPr>
        </p:nvSpPr>
        <p:spPr>
          <a:xfrm>
            <a:off x="3293110" y="4760595"/>
            <a:ext cx="7171690" cy="64008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l">
              <a:buNone/>
            </a:pP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批处理模式：长时间占用时间片</a:t>
            </a:r>
            <a:endPar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12" name="矩形: 圆角 5"/>
          <p:cNvSpPr/>
          <p:nvPr/>
        </p:nvSpPr>
        <p:spPr>
          <a:xfrm>
            <a:off x="1121410" y="5596890"/>
            <a:ext cx="9669780" cy="737235"/>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新策略抢占</a:t>
            </a:r>
            <a:r>
              <a:rPr kumimoji="0" lang="en-US" altLang="zh-CN"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CPU</a:t>
            </a:r>
            <a:r>
              <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，实现优化</a:t>
            </a:r>
            <a:endParaRPr kumimoji="0" lang="zh-CN" altLang="en-US" sz="24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3.5 </a:t>
            </a:r>
            <a:r>
              <a:rPr lang="zh-CN" altLang="en-US" dirty="0"/>
              <a:t>七类优化策略</a:t>
            </a:r>
            <a:endParaRPr lang="zh-CN" altLang="en-US" dirty="0"/>
          </a:p>
        </p:txBody>
      </p:sp>
      <p:sp>
        <p:nvSpPr>
          <p:cNvPr id="2" name="矩形: 圆角 1"/>
          <p:cNvSpPr/>
          <p:nvPr/>
        </p:nvSpPr>
        <p:spPr>
          <a:xfrm>
            <a:off x="1132205" y="1129030"/>
            <a:ext cx="9530080" cy="491490"/>
          </a:xfrm>
          <a:prstGeom prst="roundRect">
            <a:avLst>
              <a:gd name="adj" fmla="val 50000"/>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0">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SCHED_EXT </a:t>
            </a: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自定义调度策略</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p:nvPr/>
        </p:nvPicPr>
        <p:blipFill>
          <a:blip r:embed="rId1"/>
          <a:stretch>
            <a:fillRect/>
          </a:stretch>
        </p:blipFill>
        <p:spPr>
          <a:xfrm>
            <a:off x="5177790" y="1568450"/>
            <a:ext cx="5540375" cy="5116830"/>
          </a:xfrm>
          <a:prstGeom prst="rect">
            <a:avLst/>
          </a:prstGeom>
        </p:spPr>
      </p:pic>
      <p:sp>
        <p:nvSpPr>
          <p:cNvPr id="7" name="矩形 6"/>
          <p:cNvSpPr/>
          <p:nvPr>
            <p:custDataLst>
              <p:tags r:id="rId2"/>
            </p:custDataLst>
          </p:nvPr>
        </p:nvSpPr>
        <p:spPr>
          <a:xfrm>
            <a:off x="1220470" y="2634615"/>
            <a:ext cx="3014980" cy="3446780"/>
          </a:xfrm>
          <a:prstGeom prst="rect">
            <a:avLst/>
          </a:prstGeom>
          <a:solidFill>
            <a:schemeClr val="bg1"/>
          </a:solidFill>
          <a:ln w="12700" cmpd="sng">
            <a:solidFill>
              <a:schemeClr val="accent1">
                <a:shade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nSpc>
                <a:spcPct val="130000"/>
              </a:lnSpc>
              <a:buFont typeface="Wingdings" panose="05000000000000000000" pitchFamily="2" charset="2"/>
              <a:buNone/>
            </a:pPr>
            <a:r>
              <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自定义调度策略，设置</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CPU</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绑核偏好，让推理优先运行在</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 </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0-3</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 AI</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核心上，并且让其它线程不被调度进</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 0-3 </a:t>
            </a:r>
            <a:r>
              <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核心；同时为推理线程自定义时间片为</a:t>
            </a:r>
            <a:r>
              <a:rPr lang="en-US" altLang="zh-CN"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30ms</a:t>
            </a:r>
            <a:r>
              <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a:t>
            </a:r>
            <a:r>
              <a:rPr lang="zh-CN" altLang="en-US"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以适配大量的矩阵</a:t>
            </a:r>
            <a:r>
              <a:rPr lang="en-US" altLang="zh-CN" dirty="0">
                <a:solidFill>
                  <a:srgbClr val="263238"/>
                </a:solidFill>
                <a:latin typeface="Arial" panose="020B0604020202020204" pitchFamily="34" charset="0"/>
                <a:ea typeface="Arial" panose="020B0604020202020204" pitchFamily="34" charset="-122"/>
                <a:cs typeface="Arial" panose="020B0604020202020204" pitchFamily="34" charset="-120"/>
                <a:sym typeface="+mn-ea"/>
              </a:rPr>
              <a:t>/</a:t>
            </a:r>
            <a:r>
              <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向量计算需求，降低线程切换次数以减少</a:t>
            </a:r>
            <a:r>
              <a:rPr lang="en-US" altLang="zh-CN"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 V </a:t>
            </a:r>
            <a:r>
              <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rPr>
              <a:t>状态保存带来的额外开销。</a:t>
            </a:r>
            <a:endParaRPr lang="zh-CN" altLang="en-US" dirty="0">
              <a:solidFill>
                <a:srgbClr val="263238"/>
              </a:solidFill>
              <a:latin typeface="Arial" panose="020B0604020202020204" pitchFamily="34" charset="0"/>
              <a:ea typeface="宋体" panose="02010600030101010101" pitchFamily="2" charset="-122"/>
              <a:cs typeface="Arial" panose="020B0604020202020204" pitchFamily="34" charset="-120"/>
              <a:sym typeface="+mn-ea"/>
            </a:endParaRPr>
          </a:p>
        </p:txBody>
      </p:sp>
      <p:grpSp>
        <p:nvGrpSpPr>
          <p:cNvPr id="8" name="组合 7"/>
          <p:cNvGrpSpPr/>
          <p:nvPr/>
        </p:nvGrpSpPr>
        <p:grpSpPr>
          <a:xfrm>
            <a:off x="1220470" y="1987550"/>
            <a:ext cx="3014980" cy="640080"/>
            <a:chOff x="2139" y="8387"/>
            <a:chExt cx="5103" cy="1008"/>
          </a:xfrm>
        </p:grpSpPr>
        <p:sp>
          <p:nvSpPr>
            <p:cNvPr id="9" name="Shape 2"/>
            <p:cNvSpPr/>
            <p:nvPr/>
          </p:nvSpPr>
          <p:spPr>
            <a:xfrm>
              <a:off x="2139" y="8387"/>
              <a:ext cx="5103" cy="1008"/>
            </a:xfrm>
            <a:prstGeom prst="rect">
              <a:avLst/>
            </a:prstGeom>
            <a:solidFill>
              <a:srgbClr val="F1F8E9"/>
            </a:solidFill>
            <a:ln w="10160">
              <a:solidFill>
                <a:srgbClr val="00897B"/>
              </a:solidFill>
              <a:prstDash val="solid"/>
            </a:ln>
          </p:spPr>
          <p:txBody>
            <a:bodyPr/>
            <a:lstStyle/>
            <a:p>
              <a:endParaRPr lang="zh-CN" altLang="en-US" sz="3200"/>
            </a:p>
          </p:txBody>
        </p:sp>
        <p:sp>
          <p:nvSpPr>
            <p:cNvPr id="10" name="Text 3"/>
            <p:cNvSpPr/>
            <p:nvPr/>
          </p:nvSpPr>
          <p:spPr>
            <a:xfrm>
              <a:off x="3262" y="8463"/>
              <a:ext cx="2855" cy="856"/>
            </a:xfrm>
            <a:prstGeom prst="rect">
              <a:avLst/>
            </a:prstGeom>
            <a:noFill/>
          </p:spPr>
          <p:txBody>
            <a:bodyPr wrap="square" lIns="0" tIns="0" rIns="0" bIns="0" rtlCol="0" anchor="ctr"/>
            <a:lstStyle/>
            <a:p>
              <a:pPr marL="0" indent="0" algn="ctr">
                <a:buNone/>
              </a:pPr>
              <a:r>
                <a:rPr lang="en-US" b="1" dirty="0">
                  <a:solidFill>
                    <a:srgbClr val="00897B"/>
                  </a:solidFill>
                  <a:latin typeface="Arial" panose="020B0604020202020204" pitchFamily="34" charset="0"/>
                  <a:ea typeface="Arial" panose="020B0604020202020204" pitchFamily="34" charset="-122"/>
                  <a:cs typeface="Arial" panose="020B0604020202020204" pitchFamily="34" charset="-120"/>
                </a:rPr>
                <a:t>sched_ext</a:t>
              </a:r>
              <a:endParaRPr lang="en-US" b="1" dirty="0">
                <a:solidFill>
                  <a:srgbClr val="00897B"/>
                </a:solidFill>
                <a:latin typeface="Arial" panose="020B0604020202020204" pitchFamily="34" charset="0"/>
                <a:ea typeface="Arial" panose="020B0604020202020204" pitchFamily="34" charset="-122"/>
                <a:cs typeface="Arial" panose="020B0604020202020204" pitchFamily="34" charset="-12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192421" y="2453241"/>
            <a:ext cx="5311456" cy="1115113"/>
          </a:xfrm>
        </p:spPr>
        <p:txBody>
          <a:bodyPr/>
          <a:lstStyle/>
          <a:p>
            <a:r>
              <a:rPr lang="zh-CN" altLang="en-US" dirty="0"/>
              <a:t>实验测试</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4.1 </a:t>
            </a:r>
            <a:r>
              <a:rPr lang="zh-CN" altLang="en-US" dirty="0"/>
              <a:t>测试方案</a:t>
            </a:r>
            <a:endParaRPr lang="zh-CN" altLang="en-US" dirty="0"/>
          </a:p>
        </p:txBody>
      </p:sp>
      <p:graphicFrame>
        <p:nvGraphicFramePr>
          <p:cNvPr id="4" name="表格 3"/>
          <p:cNvGraphicFramePr/>
          <p:nvPr/>
        </p:nvGraphicFramePr>
        <p:xfrm>
          <a:off x="4070032" y="1377315"/>
          <a:ext cx="7435215" cy="4011681"/>
        </p:xfrm>
        <a:graphic>
          <a:graphicData uri="http://schemas.openxmlformats.org/drawingml/2006/table">
            <a:tbl>
              <a:tblPr/>
              <a:tblGrid>
                <a:gridCol w="617220"/>
                <a:gridCol w="643255"/>
                <a:gridCol w="959485"/>
                <a:gridCol w="892175"/>
                <a:gridCol w="1134745"/>
                <a:gridCol w="948055"/>
                <a:gridCol w="1236345"/>
                <a:gridCol w="1003935"/>
              </a:tblGrid>
              <a:tr h="0">
                <a:tc>
                  <a:txBody>
                    <a:bodyPr/>
                    <a:lstStyle/>
                    <a:p>
                      <a:pPr marL="0" indent="0" algn="ctr">
                        <a:lnSpc>
                          <a:spcPts val="2000"/>
                        </a:lnSpc>
                        <a:spcBef>
                          <a:spcPct val="0"/>
                        </a:spcBef>
                        <a:spcAft>
                          <a:spcPct val="0"/>
                        </a:spcAft>
                      </a:pPr>
                      <a:r>
                        <a:rPr lang="zh-CN" sz="1400" b="1" i="0">
                          <a:solidFill>
                            <a:srgbClr val="333333"/>
                          </a:solidFill>
                          <a:latin typeface="微软雅黑" panose="020B0503020204020204" pitchFamily="34" charset="-122"/>
                          <a:ea typeface="微软雅黑" panose="020B0503020204020204" pitchFamily="34" charset="-122"/>
                        </a:rPr>
                        <a:t>编号</a:t>
                      </a:r>
                      <a:endParaRPr 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sz="1400" b="1" i="0">
                          <a:solidFill>
                            <a:srgbClr val="333333"/>
                          </a:solidFill>
                          <a:latin typeface="微软雅黑" panose="020B0503020204020204" pitchFamily="34" charset="-122"/>
                          <a:ea typeface="微软雅黑" panose="020B0503020204020204" pitchFamily="34" charset="-122"/>
                        </a:rPr>
                        <a:t>模型</a:t>
                      </a:r>
                      <a:endParaRPr 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threads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sz="1400" b="1" i="0">
                          <a:solidFill>
                            <a:srgbClr val="333333"/>
                          </a:solidFill>
                          <a:latin typeface="微软雅黑" panose="020B0503020204020204" pitchFamily="34" charset="-122"/>
                          <a:ea typeface="微软雅黑" panose="020B0503020204020204" pitchFamily="34" charset="-122"/>
                        </a:rPr>
                        <a:t>绑核</a:t>
                      </a:r>
                      <a:endParaRPr 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prompt</a:t>
                      </a:r>
                      <a:endParaRPr lang="en-US" altLang="zh-CN" sz="1400" b="1" i="0">
                        <a:solidFill>
                          <a:srgbClr val="333333"/>
                        </a:solidFill>
                        <a:latin typeface="微软雅黑" panose="020B0503020204020204" pitchFamily="34" charset="-122"/>
                        <a:ea typeface="微软雅黑" panose="020B0503020204020204" pitchFamily="34" charset="-122"/>
                      </a:endParaRPr>
                    </a:p>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(token)</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output</a:t>
                      </a:r>
                      <a:endParaRPr lang="en-US" altLang="zh-CN" sz="1400" b="1" i="0">
                        <a:solidFill>
                          <a:srgbClr val="333333"/>
                        </a:solidFill>
                        <a:latin typeface="微软雅黑" panose="020B0503020204020204" pitchFamily="34" charset="-122"/>
                        <a:ea typeface="微软雅黑" panose="020B0503020204020204" pitchFamily="34" charset="-122"/>
                      </a:endParaRPr>
                    </a:p>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(token)</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ctx</a:t>
                      </a:r>
                      <a:endParaRPr lang="en-US" altLang="zh-CN" sz="1400" b="1" i="0">
                        <a:solidFill>
                          <a:srgbClr val="333333"/>
                        </a:solidFill>
                        <a:latin typeface="微软雅黑" panose="020B0503020204020204" pitchFamily="34" charset="-122"/>
                        <a:ea typeface="微软雅黑" panose="020B0503020204020204" pitchFamily="34" charset="-122"/>
                      </a:endParaRPr>
                    </a:p>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(token)</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parallel</a:t>
                      </a:r>
                      <a:endParaRPr lang="en-US" altLang="zh-CN" sz="1400" b="1" i="0">
                        <a:solidFill>
                          <a:srgbClr val="333333"/>
                        </a:solidFill>
                        <a:latin typeface="微软雅黑" panose="020B0503020204020204" pitchFamily="34" charset="-122"/>
                        <a:ea typeface="微软雅黑" panose="020B0503020204020204" pitchFamily="34" charset="-122"/>
                      </a:endParaRPr>
                    </a:p>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a:t>
                      </a:r>
                      <a:r>
                        <a:rPr lang="zh-CN" altLang="en-US" sz="1400" b="1" i="0">
                          <a:solidFill>
                            <a:srgbClr val="333333"/>
                          </a:solidFill>
                          <a:latin typeface="微软雅黑" panose="020B0503020204020204" pitchFamily="34" charset="-122"/>
                          <a:ea typeface="微软雅黑" panose="020B0503020204020204" pitchFamily="34" charset="-122"/>
                        </a:rPr>
                        <a:t>并发数</a:t>
                      </a:r>
                      <a:r>
                        <a:rPr lang="en-US" altLang="zh-CN" sz="1400" b="1" i="0">
                          <a:solidFill>
                            <a:srgbClr val="333333"/>
                          </a:solidFill>
                          <a:latin typeface="微软雅黑" panose="020B0503020204020204" pitchFamily="34" charset="-122"/>
                          <a:ea typeface="微软雅黑" panose="020B0503020204020204" pitchFamily="34" charset="-122"/>
                        </a:rPr>
                        <a:t>)</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1024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1024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dirty="0">
                          <a:solidFill>
                            <a:srgbClr val="333333"/>
                          </a:solidFill>
                          <a:latin typeface="微软雅黑" panose="020B0503020204020204" pitchFamily="34" charset="-122"/>
                          <a:ea typeface="微软雅黑" panose="020B0503020204020204" pitchFamily="34" charset="-122"/>
                        </a:rPr>
                        <a:t>3B</a:t>
                      </a:r>
                      <a:endParaRPr lang="en-US" altLang="zh-CN" sz="12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dirty="0">
                          <a:solidFill>
                            <a:srgbClr val="333333"/>
                          </a:solidFill>
                          <a:latin typeface="微软雅黑" panose="020B0503020204020204" pitchFamily="34" charset="-122"/>
                          <a:ea typeface="微软雅黑" panose="020B0503020204020204" pitchFamily="34" charset="-122"/>
                        </a:rPr>
                        <a:t>4</a:t>
                      </a:r>
                      <a:endParaRPr lang="en-US" altLang="zh-CN" sz="12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5</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7</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256</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9</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128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2048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8</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10</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3B</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256</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256</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4096</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dirty="0">
                          <a:solidFill>
                            <a:srgbClr val="333333"/>
                          </a:solidFill>
                          <a:latin typeface="微软雅黑" panose="020B0503020204020204" pitchFamily="34" charset="-122"/>
                          <a:ea typeface="微软雅黑" panose="020B0503020204020204" pitchFamily="34" charset="-122"/>
                        </a:rPr>
                        <a:t>4</a:t>
                      </a:r>
                      <a:endParaRPr lang="en-US" altLang="zh-CN" sz="12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sp>
        <p:nvSpPr>
          <p:cNvPr id="5" name="矩形: 圆顶角 12"/>
          <p:cNvSpPr/>
          <p:nvPr>
            <p:custDataLst>
              <p:tags r:id="rId1"/>
            </p:custDataLst>
          </p:nvPr>
        </p:nvSpPr>
        <p:spPr>
          <a:xfrm>
            <a:off x="528955" y="1276350"/>
            <a:ext cx="2962275" cy="510540"/>
          </a:xfrm>
          <a:prstGeom prst="round2SameRect">
            <a:avLst>
              <a:gd name="adj1" fmla="val 12935"/>
              <a:gd name="adj2" fmla="val 0"/>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实验配置</a:t>
            </a:r>
            <a:endParaRPr lang="zh-CN" alt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528955" y="1786890"/>
            <a:ext cx="2962275" cy="4391025"/>
          </a:xfrm>
          <a:prstGeom prst="rect">
            <a:avLst/>
          </a:prstGeom>
          <a:solidFill>
            <a:schemeClr val="bg1"/>
          </a:solidFill>
          <a:ln w="28575">
            <a:solidFill>
              <a:schemeClr val="accent4">
                <a:lumMod val="60000"/>
                <a:lumOff val="4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30000"/>
              </a:lnSpc>
              <a:buFont typeface="Wingdings" panose="05000000000000000000" pitchFamily="2" charset="2"/>
              <a:buChar char="p"/>
            </a:pPr>
            <a:r>
              <a:rPr lang="en-US" altLang="zh-CN" sz="1600" dirty="0">
                <a:solidFill>
                  <a:schemeClr val="tx1"/>
                </a:solidFill>
                <a:latin typeface="微软雅黑" panose="020B0503020204020204" pitchFamily="34" charset="-122"/>
                <a:ea typeface="微软雅黑" panose="020B0503020204020204" pitchFamily="34" charset="-122"/>
                <a:sym typeface="+mn-ea"/>
              </a:rPr>
              <a:t>llama.cpp server </a:t>
            </a:r>
            <a:r>
              <a:rPr lang="zh-CN" altLang="en-US" sz="1600" dirty="0">
                <a:solidFill>
                  <a:schemeClr val="tx1"/>
                </a:solidFill>
                <a:latin typeface="微软雅黑" panose="020B0503020204020204" pitchFamily="34" charset="-122"/>
                <a:ea typeface="微软雅黑" panose="020B0503020204020204" pitchFamily="34" charset="-122"/>
                <a:sym typeface="+mn-ea"/>
              </a:rPr>
              <a:t>模式</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使用</a:t>
            </a:r>
            <a:r>
              <a:rPr lang="en-US" altLang="zh-CN" sz="1600" dirty="0">
                <a:solidFill>
                  <a:schemeClr val="tx1"/>
                </a:solidFill>
                <a:latin typeface="微软雅黑" panose="020B0503020204020204" pitchFamily="34" charset="-122"/>
                <a:ea typeface="微软雅黑" panose="020B0503020204020204" pitchFamily="34" charset="-122"/>
                <a:sym typeface="+mn-ea"/>
              </a:rPr>
              <a:t>Llama-3.2-1B/3B Q4_K_M</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在2、4、8 并发请求场景下，采用统一基线配置，每组配置至少重复 3 次</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报告均值与标准差，对比优化前后的推理吞吐（</a:t>
            </a:r>
            <a:r>
              <a:rPr lang="en-US" altLang="zh-CN" sz="1600" dirty="0">
                <a:solidFill>
                  <a:schemeClr val="tx1"/>
                </a:solidFill>
                <a:latin typeface="微软雅黑" panose="020B0503020204020204" pitchFamily="34" charset="-122"/>
                <a:ea typeface="微软雅黑" panose="020B0503020204020204" pitchFamily="34" charset="-122"/>
                <a:sym typeface="+mn-ea"/>
              </a:rPr>
              <a:t>TPS）、</a:t>
            </a:r>
            <a:r>
              <a:rPr lang="zh-CN" altLang="en-US" sz="1600" dirty="0">
                <a:solidFill>
                  <a:schemeClr val="tx1"/>
                </a:solidFill>
                <a:latin typeface="微软雅黑" panose="020B0503020204020204" pitchFamily="34" charset="-122"/>
                <a:ea typeface="微软雅黑" panose="020B0503020204020204" pitchFamily="34" charset="-122"/>
                <a:sym typeface="+mn-ea"/>
              </a:rPr>
              <a:t>平均 </a:t>
            </a:r>
            <a:r>
              <a:rPr lang="en-US" altLang="zh-CN" sz="1600" dirty="0">
                <a:solidFill>
                  <a:schemeClr val="tx1"/>
                </a:solidFill>
                <a:latin typeface="微软雅黑" panose="020B0503020204020204" pitchFamily="34" charset="-122"/>
                <a:ea typeface="微软雅黑" panose="020B0503020204020204" pitchFamily="34" charset="-122"/>
                <a:sym typeface="+mn-ea"/>
              </a:rPr>
              <a:t>TTFT </a:t>
            </a:r>
            <a:r>
              <a:rPr lang="zh-CN" altLang="en-US" sz="1600" dirty="0">
                <a:solidFill>
                  <a:schemeClr val="tx1"/>
                </a:solidFill>
                <a:latin typeface="微软雅黑" panose="020B0503020204020204" pitchFamily="34" charset="-122"/>
                <a:ea typeface="微软雅黑" panose="020B0503020204020204" pitchFamily="34" charset="-122"/>
                <a:sym typeface="+mn-ea"/>
              </a:rPr>
              <a:t>与 </a:t>
            </a:r>
            <a:r>
              <a:rPr lang="en-US" altLang="zh-CN" sz="1600" dirty="0">
                <a:solidFill>
                  <a:schemeClr val="tx1"/>
                </a:solidFill>
                <a:latin typeface="微软雅黑" panose="020B0503020204020204" pitchFamily="34" charset="-122"/>
                <a:ea typeface="微软雅黑" panose="020B0503020204020204" pitchFamily="34" charset="-122"/>
                <a:sym typeface="+mn-ea"/>
              </a:rPr>
              <a:t>P95 TTFT</a:t>
            </a: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对于自定义调度策略设置系统低负载、高负载</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系统中有无大量其它进程干扰</a:t>
            </a:r>
            <a:r>
              <a:rPr lang="en-US" altLang="zh-CN" sz="1600" dirty="0">
                <a:solidFill>
                  <a:schemeClr val="tx1"/>
                </a:solidFill>
                <a:latin typeface="微软雅黑" panose="020B0503020204020204" pitchFamily="34" charset="-122"/>
                <a:ea typeface="微软雅黑" panose="020B0503020204020204" pitchFamily="34" charset="-122"/>
                <a:sym typeface="+mn-ea"/>
              </a:rPr>
              <a:t>)</a:t>
            </a:r>
            <a:r>
              <a:rPr lang="zh-CN" altLang="en-US" sz="1600" dirty="0">
                <a:solidFill>
                  <a:schemeClr val="tx1"/>
                </a:solidFill>
                <a:latin typeface="微软雅黑" panose="020B0503020204020204" pitchFamily="34" charset="-122"/>
                <a:ea typeface="微软雅黑" panose="020B0503020204020204" pitchFamily="34" charset="-122"/>
                <a:sym typeface="+mn-ea"/>
              </a:rPr>
              <a:t>两种状态进行测试</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4.1 </a:t>
            </a:r>
            <a:r>
              <a:rPr lang="zh-CN" altLang="en-US" dirty="0"/>
              <a:t>测试方案</a:t>
            </a:r>
            <a:endParaRPr lang="zh-CN" altLang="en-US" dirty="0"/>
          </a:p>
        </p:txBody>
      </p:sp>
      <p:sp>
        <p:nvSpPr>
          <p:cNvPr id="5" name="矩形: 圆角 5"/>
          <p:cNvSpPr/>
          <p:nvPr/>
        </p:nvSpPr>
        <p:spPr>
          <a:xfrm>
            <a:off x="2110740" y="4981575"/>
            <a:ext cx="7780020" cy="1203960"/>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测试模块的执行主体按三层循环嵌套结构组织：外层循环遍历 十组</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 GROUPS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配置列表，中间层循环遍历六种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METHODS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调度方法，内层循环为重复试验，每种方法固定执行三次，对于自定义调度测试同样重复三次。</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pic>
        <p:nvPicPr>
          <p:cNvPr id="2" name="图片 1"/>
          <p:cNvPicPr/>
          <p:nvPr/>
        </p:nvPicPr>
        <p:blipFill>
          <a:blip r:embed="rId1"/>
          <a:stretch>
            <a:fillRect/>
          </a:stretch>
        </p:blipFill>
        <p:spPr>
          <a:xfrm>
            <a:off x="2261235" y="725805"/>
            <a:ext cx="7650480" cy="44583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4.2 </a:t>
            </a:r>
            <a:r>
              <a:rPr lang="zh-CN" altLang="en-US" dirty="0"/>
              <a:t>测试环境</a:t>
            </a:r>
            <a:endParaRPr lang="zh-CN" altLang="en-US" dirty="0"/>
          </a:p>
        </p:txBody>
      </p:sp>
      <p:sp>
        <p:nvSpPr>
          <p:cNvPr id="4" name="矩形: 圆角 5"/>
          <p:cNvSpPr/>
          <p:nvPr/>
        </p:nvSpPr>
        <p:spPr>
          <a:xfrm>
            <a:off x="2110740" y="4450715"/>
            <a:ext cx="8142605" cy="1734820"/>
          </a:xfrm>
          <a:prstGeom prst="roundRect">
            <a:avLst/>
          </a:prstGeom>
          <a:solidFill>
            <a:srgbClr val="FFF2CC"/>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实验基于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Milk-V Jupiter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开发板（</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Spacemit X60/K1，8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核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RISC-V，RVV 1.0，VLEN=256，</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主频 1.6</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GHz，8GB DDR</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），推理服务端运行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BianbuOS（</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内核 6.6），推理框架为经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GCC 14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交叉编译、开启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GGML_RVV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的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llama.cpp，</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测试模型为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Llama 3.2 1B/3B Instruct Q4_K_M </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量化版本；测试主机通过 </a:t>
            </a:r>
            <a:r>
              <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Windows+ Python</a:t>
            </a: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自动测试脚本远程驱动测试流程。</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pic>
        <p:nvPicPr>
          <p:cNvPr id="5" name="图片 19"/>
          <p:cNvPicPr>
            <a:picLocks noChangeAspect="1"/>
          </p:cNvPicPr>
          <p:nvPr/>
        </p:nvPicPr>
        <p:blipFill>
          <a:blip r:embed="rId1"/>
          <a:stretch>
            <a:fillRect/>
          </a:stretch>
        </p:blipFill>
        <p:spPr>
          <a:xfrm>
            <a:off x="2868295" y="1513840"/>
            <a:ext cx="5943600" cy="24371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4.3 </a:t>
            </a:r>
            <a:r>
              <a:rPr lang="zh-CN" altLang="en-US" dirty="0"/>
              <a:t>测试结果</a:t>
            </a:r>
            <a:r>
              <a:rPr lang="zh-CN" altLang="en-US" dirty="0">
                <a:sym typeface="+mn-ea"/>
              </a:rPr>
              <a:t>与分析</a:t>
            </a:r>
            <a:endParaRPr lang="zh-CN" altLang="en-US" dirty="0"/>
          </a:p>
        </p:txBody>
      </p:sp>
      <p:graphicFrame>
        <p:nvGraphicFramePr>
          <p:cNvPr id="4" name="表格 3"/>
          <p:cNvGraphicFramePr/>
          <p:nvPr/>
        </p:nvGraphicFramePr>
        <p:xfrm>
          <a:off x="459740" y="1185418"/>
          <a:ext cx="6757035" cy="4526280"/>
        </p:xfrm>
        <a:graphic>
          <a:graphicData uri="http://schemas.openxmlformats.org/drawingml/2006/table">
            <a:tbl>
              <a:tblPr/>
              <a:tblGrid>
                <a:gridCol w="1212850"/>
                <a:gridCol w="753745"/>
                <a:gridCol w="1167130"/>
                <a:gridCol w="1007110"/>
                <a:gridCol w="1053465"/>
                <a:gridCol w="1562735"/>
              </a:tblGrid>
              <a:tr h="860425">
                <a:tc>
                  <a:txBody>
                    <a:bodyPr/>
                    <a:lstStyle/>
                    <a:p>
                      <a:pPr indent="0" algn="ctr" fontAlgn="auto">
                        <a:lnSpc>
                          <a:spcPts val="2000"/>
                        </a:lnSpc>
                        <a:spcBef>
                          <a:spcPct val="0"/>
                        </a:spcBef>
                        <a:spcAft>
                          <a:spcPct val="0"/>
                        </a:spcAft>
                      </a:pPr>
                      <a:r>
                        <a:rPr lang="zh-CN" altLang="en-US" sz="1400" b="1" i="0">
                          <a:solidFill>
                            <a:srgbClr val="333333"/>
                          </a:solidFill>
                          <a:latin typeface="微软雅黑" panose="020B0503020204020204" pitchFamily="34" charset="-122"/>
                          <a:ea typeface="微软雅黑" panose="020B0503020204020204" pitchFamily="34" charset="-122"/>
                        </a:rPr>
                        <a:t>方法</a:t>
                      </a:r>
                      <a:endParaRPr lang="zh-CN" altLang="en-US"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TPS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Avg TTFT</a:t>
                      </a:r>
                      <a:endParaRPr lang="en-US" altLang="zh-CN" sz="1400" b="1"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(ms)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P95 TTFT</a:t>
                      </a:r>
                      <a:endParaRPr lang="en-US" altLang="zh-CN" sz="1400" b="1"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(ms)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V-Saves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V/ktok</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0870">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taskset</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（基准）</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0.90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3146</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4802</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5663980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131111</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0870">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cpuset</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0.90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3135</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4787</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5566101</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128845</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（-1.7%）</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0870">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partition-root</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0.90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3120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4777</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2288749</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52980</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（-59.6%）</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1505">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systemd-scope</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0.90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3125</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4723</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9072549</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210013</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(+60.2%)</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0870">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taskset-chrt-b</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0.90</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3128</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4786</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5062738</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117193</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（-10.6%）</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610870">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taskset-chrt-f</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0.86</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3279</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4967</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503062</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11645</a:t>
                      </a:r>
                      <a:endParaRPr lang="en-US" altLang="zh-CN" sz="1400" i="0">
                        <a:solidFill>
                          <a:srgbClr val="333333"/>
                        </a:solidFill>
                        <a:latin typeface="微软雅黑" panose="020B0503020204020204" pitchFamily="34" charset="-122"/>
                        <a:ea typeface="微软雅黑" panose="020B0503020204020204" pitchFamily="34" charset="-122"/>
                      </a:endParaRPr>
                    </a:p>
                    <a:p>
                      <a:pPr indent="0" algn="ctr" fontAlgn="auto">
                        <a:lnSpc>
                          <a:spcPts val="2000"/>
                        </a:lnSpc>
                        <a:spcBef>
                          <a:spcPct val="0"/>
                        </a:spcBef>
                        <a:spcAft>
                          <a:spcPct val="0"/>
                        </a:spcAft>
                      </a:pPr>
                      <a:r>
                        <a:rPr lang="en-US" altLang="zh-CN" sz="1400" i="0">
                          <a:solidFill>
                            <a:srgbClr val="333333"/>
                          </a:solidFill>
                          <a:latin typeface="微软雅黑" panose="020B0503020204020204" pitchFamily="34" charset="-122"/>
                          <a:ea typeface="微软雅黑" panose="020B0503020204020204" pitchFamily="34" charset="-122"/>
                        </a:rPr>
                        <a:t>（-91.1%）</a:t>
                      </a:r>
                      <a:endParaRPr lang="en-US" altLang="zh-CN" sz="14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sp>
        <p:nvSpPr>
          <p:cNvPr id="5" name="矩形 4"/>
          <p:cNvSpPr/>
          <p:nvPr/>
        </p:nvSpPr>
        <p:spPr>
          <a:xfrm>
            <a:off x="7759065" y="2060575"/>
            <a:ext cx="3067050" cy="3810000"/>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sz="1600" dirty="0">
                <a:solidFill>
                  <a:schemeClr val="tx1"/>
                </a:solidFill>
                <a:latin typeface="微软雅黑" panose="020B0503020204020204" pitchFamily="34" charset="-122"/>
                <a:ea typeface="微软雅黑" panose="020B0503020204020204" pitchFamily="34" charset="-122"/>
              </a:rPr>
              <a:t>从结果上能看出绑定</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隔离核心</a:t>
            </a:r>
            <a:r>
              <a:rPr lang="zh-CN" sz="1600" dirty="0">
                <a:solidFill>
                  <a:schemeClr val="tx1"/>
                </a:solidFill>
                <a:latin typeface="微软雅黑" panose="020B0503020204020204" pitchFamily="34" charset="-122"/>
                <a:ea typeface="微软雅黑" panose="020B0503020204020204" pitchFamily="34" charset="-122"/>
              </a:rPr>
              <a:t>与普通调度优化策略可以一定程度上减少</a:t>
            </a:r>
            <a:r>
              <a:rPr lang="en-US" altLang="zh-CN" sz="1600" dirty="0">
                <a:solidFill>
                  <a:schemeClr val="tx1"/>
                </a:solidFill>
                <a:latin typeface="微软雅黑" panose="020B0503020204020204" pitchFamily="34" charset="-122"/>
                <a:ea typeface="微软雅黑" panose="020B0503020204020204" pitchFamily="34" charset="-122"/>
              </a:rPr>
              <a:t> V-save </a:t>
            </a:r>
            <a:r>
              <a:rPr lang="zh-CN" altLang="en-US" sz="1600" dirty="0">
                <a:solidFill>
                  <a:schemeClr val="tx1"/>
                </a:solidFill>
                <a:latin typeface="微软雅黑" panose="020B0503020204020204" pitchFamily="34" charset="-122"/>
                <a:ea typeface="微软雅黑" panose="020B0503020204020204" pitchFamily="34" charset="-122"/>
              </a:rPr>
              <a:t>的次数，其中</a:t>
            </a:r>
            <a:r>
              <a:rPr lang="en-US" altLang="zh-CN" sz="1600" dirty="0">
                <a:solidFill>
                  <a:schemeClr val="tx1"/>
                </a:solidFill>
                <a:latin typeface="微软雅黑" panose="020B0503020204020204" pitchFamily="34" charset="-122"/>
                <a:ea typeface="微软雅黑" panose="020B0503020204020204" pitchFamily="34" charset="-122"/>
              </a:rPr>
              <a:t>chrt-f </a:t>
            </a:r>
            <a:r>
              <a:rPr lang="zh-CN" altLang="en-US" sz="1600" dirty="0">
                <a:solidFill>
                  <a:schemeClr val="tx1"/>
                </a:solidFill>
                <a:latin typeface="微软雅黑" panose="020B0503020204020204" pitchFamily="34" charset="-122"/>
                <a:ea typeface="微软雅黑" panose="020B0503020204020204" pitchFamily="34" charset="-122"/>
              </a:rPr>
              <a:t>策略虽然降低幅度最大，但</a:t>
            </a:r>
            <a:r>
              <a:rPr lang="en-US" altLang="zh-CN" sz="1600" dirty="0">
                <a:solidFill>
                  <a:schemeClr val="tx1"/>
                </a:solidFill>
                <a:latin typeface="微软雅黑" panose="020B0503020204020204" pitchFamily="34" charset="-122"/>
                <a:ea typeface="微软雅黑" panose="020B0503020204020204" pitchFamily="34" charset="-122"/>
              </a:rPr>
              <a:t> TTFT</a:t>
            </a:r>
            <a:r>
              <a:rPr lang="zh-CN" altLang="en-US" sz="1600" dirty="0">
                <a:solidFill>
                  <a:schemeClr val="tx1"/>
                </a:solidFill>
                <a:latin typeface="微软雅黑" panose="020B0503020204020204" pitchFamily="34" charset="-122"/>
                <a:ea typeface="微软雅黑" panose="020B0503020204020204" pitchFamily="34" charset="-122"/>
              </a:rPr>
              <a:t>却却出现了负增长，综合来看</a:t>
            </a:r>
            <a:r>
              <a:rPr lang="en-US" altLang="zh-CN" sz="1600" dirty="0">
                <a:solidFill>
                  <a:schemeClr val="tx1"/>
                </a:solidFill>
                <a:latin typeface="微软雅黑" panose="020B0503020204020204" pitchFamily="34" charset="-122"/>
                <a:ea typeface="微软雅黑" panose="020B0503020204020204" pitchFamily="34" charset="-122"/>
              </a:rPr>
              <a:t> partition-root</a:t>
            </a:r>
            <a:r>
              <a:rPr lang="zh-CN" altLang="en-US" sz="1600" dirty="0">
                <a:solidFill>
                  <a:schemeClr val="tx1"/>
                </a:solidFill>
                <a:latin typeface="微软雅黑" panose="020B0503020204020204" pitchFamily="34" charset="-122"/>
                <a:ea typeface="微软雅黑" panose="020B0503020204020204" pitchFamily="34" charset="-122"/>
              </a:rPr>
              <a:t>策略在</a:t>
            </a:r>
            <a:r>
              <a:rPr lang="en-US" altLang="zh-CN" sz="1600" dirty="0">
                <a:solidFill>
                  <a:schemeClr val="tx1"/>
                </a:solidFill>
                <a:latin typeface="微软雅黑" panose="020B0503020204020204" pitchFamily="34" charset="-122"/>
                <a:ea typeface="微软雅黑" panose="020B0503020204020204" pitchFamily="34" charset="-122"/>
              </a:rPr>
              <a:t>TTFT</a:t>
            </a:r>
            <a:r>
              <a:rPr lang="zh-CN" altLang="en-US" sz="1600" dirty="0">
                <a:solidFill>
                  <a:schemeClr val="tx1"/>
                </a:solidFill>
                <a:latin typeface="微软雅黑" panose="020B0503020204020204" pitchFamily="34" charset="-122"/>
                <a:ea typeface="微软雅黑" panose="020B0503020204020204" pitchFamily="34" charset="-122"/>
              </a:rPr>
              <a:t>没有损失的情况下达到了最好的结果。</a:t>
            </a:r>
            <a:endParaRPr lang="zh-CN" altLang="en-US" sz="1600" dirty="0">
              <a:solidFill>
                <a:schemeClr val="tx1"/>
              </a:solidFill>
              <a:latin typeface="微软雅黑" panose="020B0503020204020204" pitchFamily="34" charset="-122"/>
              <a:ea typeface="微软雅黑" panose="020B0503020204020204" pitchFamily="34" charset="-122"/>
            </a:endParaRPr>
          </a:p>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但是绑定</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隔离核心意味着计算性能上的下降，需要在调度策略层面上做进一步优化与改进。</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矩形: 圆顶角 13"/>
          <p:cNvSpPr/>
          <p:nvPr/>
        </p:nvSpPr>
        <p:spPr>
          <a:xfrm>
            <a:off x="7759065" y="1569085"/>
            <a:ext cx="3067050" cy="491490"/>
          </a:xfrm>
          <a:prstGeom prst="round2SameRect">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accent1">
                    <a:lumMod val="75000"/>
                  </a:schemeClr>
                </a:solidFill>
                <a:latin typeface="微软雅黑" panose="020B0503020204020204" pitchFamily="34" charset="-122"/>
                <a:ea typeface="微软雅黑" panose="020B0503020204020204" pitchFamily="34" charset="-122"/>
              </a:rPr>
              <a:t>结果分析</a:t>
            </a:r>
            <a:endParaRPr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7" name="上箭头 6"/>
          <p:cNvSpPr/>
          <p:nvPr/>
        </p:nvSpPr>
        <p:spPr>
          <a:xfrm>
            <a:off x="6912610" y="4081145"/>
            <a:ext cx="138430" cy="309245"/>
          </a:xfrm>
          <a:prstGeom prst="up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下箭头 8"/>
          <p:cNvSpPr/>
          <p:nvPr/>
        </p:nvSpPr>
        <p:spPr>
          <a:xfrm>
            <a:off x="6912610" y="3505200"/>
            <a:ext cx="138430" cy="314325"/>
          </a:xfrm>
          <a:prstGeom prst="downArrow">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下箭头 9"/>
          <p:cNvSpPr/>
          <p:nvPr/>
        </p:nvSpPr>
        <p:spPr>
          <a:xfrm>
            <a:off x="6912610" y="5329555"/>
            <a:ext cx="138430" cy="314325"/>
          </a:xfrm>
          <a:prstGeom prst="downArrow">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上箭头 10"/>
          <p:cNvSpPr/>
          <p:nvPr/>
        </p:nvSpPr>
        <p:spPr>
          <a:xfrm>
            <a:off x="3286125" y="5334635"/>
            <a:ext cx="138430" cy="309245"/>
          </a:xfrm>
          <a:prstGeom prst="up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4.3 </a:t>
            </a:r>
            <a:r>
              <a:rPr lang="zh-CN" altLang="en-US" dirty="0"/>
              <a:t>测试结果</a:t>
            </a:r>
            <a:r>
              <a:rPr lang="zh-CN" altLang="en-US" dirty="0">
                <a:sym typeface="+mn-ea"/>
              </a:rPr>
              <a:t>与分析</a:t>
            </a:r>
            <a:endParaRPr lang="zh-CN" altLang="en-US" dirty="0"/>
          </a:p>
        </p:txBody>
      </p:sp>
      <p:graphicFrame>
        <p:nvGraphicFramePr>
          <p:cNvPr id="4" name="表格 3"/>
          <p:cNvGraphicFramePr/>
          <p:nvPr/>
        </p:nvGraphicFramePr>
        <p:xfrm>
          <a:off x="2775267" y="1195705"/>
          <a:ext cx="5716270" cy="1965327"/>
        </p:xfrm>
        <a:graphic>
          <a:graphicData uri="http://schemas.openxmlformats.org/drawingml/2006/table">
            <a:tbl>
              <a:tblPr/>
              <a:tblGrid>
                <a:gridCol w="880110"/>
                <a:gridCol w="1474470"/>
                <a:gridCol w="1235710"/>
                <a:gridCol w="1039495"/>
                <a:gridCol w="1086485"/>
              </a:tblGrid>
              <a:tr h="0">
                <a:tc>
                  <a:txBody>
                    <a:bodyPr/>
                    <a:lstStyle/>
                    <a:p>
                      <a:pPr marL="0" indent="0" algn="ctr">
                        <a:lnSpc>
                          <a:spcPts val="2000"/>
                        </a:lnSpc>
                        <a:spcBef>
                          <a:spcPct val="0"/>
                        </a:spcBef>
                        <a:spcAft>
                          <a:spcPct val="0"/>
                        </a:spcAft>
                      </a:pPr>
                      <a:r>
                        <a:rPr lang="zh-CN" sz="1400" b="1" i="0">
                          <a:solidFill>
                            <a:srgbClr val="333333"/>
                          </a:solidFill>
                          <a:latin typeface="微软雅黑" panose="020B0503020204020204" pitchFamily="34" charset="-122"/>
                          <a:ea typeface="微软雅黑" panose="020B0503020204020204" pitchFamily="34" charset="-122"/>
                        </a:rPr>
                        <a:t>负载</a:t>
                      </a:r>
                      <a:endParaRPr 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1400" b="1" i="0">
                          <a:solidFill>
                            <a:srgbClr val="333333"/>
                          </a:solidFill>
                          <a:latin typeface="微软雅黑" panose="020B0503020204020204" pitchFamily="34" charset="-122"/>
                          <a:ea typeface="微软雅黑" panose="020B0503020204020204" pitchFamily="34" charset="-122"/>
                        </a:rPr>
                        <a:t>调度策略</a:t>
                      </a:r>
                      <a:endParaRPr lang="zh-CN" altLang="en-US"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Avg TTFT/ms</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400" b="1" i="0">
                          <a:solidFill>
                            <a:srgbClr val="333333"/>
                          </a:solidFill>
                          <a:latin typeface="微软雅黑" panose="020B0503020204020204" pitchFamily="34" charset="-122"/>
                          <a:ea typeface="微软雅黑" panose="020B0503020204020204" pitchFamily="34" charset="-122"/>
                        </a:rPr>
                        <a:t>P95 TTFT</a:t>
                      </a:r>
                      <a:endParaRPr lang="en-US" altLang="zh-CN"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sz="1400" b="1" i="0">
                          <a:solidFill>
                            <a:srgbClr val="333333"/>
                          </a:solidFill>
                          <a:latin typeface="微软雅黑" panose="020B0503020204020204" pitchFamily="34" charset="-122"/>
                          <a:ea typeface="微软雅黑" panose="020B0503020204020204" pitchFamily="34" charset="-122"/>
                        </a:rPr>
                        <a:t>TPS</a:t>
                      </a:r>
                      <a:endParaRPr lang="en-US" sz="1400" b="1"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313055">
                <a:tc rowSpan="2">
                  <a:txBody>
                    <a:bodyPr/>
                    <a:lstStyle/>
                    <a:p>
                      <a:pPr marL="0" indent="0" algn="ctr">
                        <a:lnSpc>
                          <a:spcPts val="2000"/>
                        </a:lnSpc>
                        <a:spcBef>
                          <a:spcPct val="0"/>
                        </a:spcBef>
                        <a:spcAft>
                          <a:spcPct val="0"/>
                        </a:spcAft>
                      </a:pPr>
                      <a:r>
                        <a:rPr lang="zh-CN" altLang="en-US" sz="1200" i="0">
                          <a:solidFill>
                            <a:srgbClr val="333333"/>
                          </a:solidFill>
                          <a:latin typeface="微软雅黑" panose="020B0503020204020204" pitchFamily="34" charset="-122"/>
                          <a:ea typeface="微软雅黑" panose="020B0503020204020204" pitchFamily="34" charset="-122"/>
                        </a:rPr>
                        <a:t>低负载</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1200" i="0">
                          <a:solidFill>
                            <a:srgbClr val="333333"/>
                          </a:solidFill>
                          <a:latin typeface="微软雅黑" panose="020B0503020204020204" pitchFamily="34" charset="-122"/>
                          <a:ea typeface="微软雅黑" panose="020B0503020204020204" pitchFamily="34" charset="-122"/>
                        </a:rPr>
                        <a:t>默认调度策略</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574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109</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704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 0.02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vMerge="1">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1200" i="0">
                          <a:solidFill>
                            <a:srgbClr val="333333"/>
                          </a:solidFill>
                          <a:latin typeface="微软雅黑" panose="020B0503020204020204" pitchFamily="34" charset="-122"/>
                          <a:ea typeface="微软雅黑" panose="020B0503020204020204" pitchFamily="34" charset="-122"/>
                        </a:rPr>
                        <a:t>自定义调度策略</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533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 99</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684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en-US" altLang="zh-CN" sz="1200" i="0">
                          <a:solidFill>
                            <a:srgbClr val="333333"/>
                          </a:solidFill>
                          <a:latin typeface="微软雅黑" panose="020B0503020204020204" pitchFamily="34" charset="-122"/>
                          <a:ea typeface="微软雅黑" panose="020B0503020204020204" pitchFamily="34" charset="-122"/>
                        </a:rPr>
                        <a:t>2.03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 0.02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rowSpan="2">
                  <a:txBody>
                    <a:bodyPr/>
                    <a:lstStyle/>
                    <a:p>
                      <a:pPr marL="0" indent="0" algn="ctr">
                        <a:lnSpc>
                          <a:spcPts val="2000"/>
                        </a:lnSpc>
                        <a:spcBef>
                          <a:spcPct val="0"/>
                        </a:spcBef>
                        <a:spcAft>
                          <a:spcPct val="0"/>
                        </a:spcAft>
                        <a:buNone/>
                      </a:pPr>
                      <a:r>
                        <a:rPr lang="zh-CN" altLang="en-US" sz="1200" i="0">
                          <a:solidFill>
                            <a:srgbClr val="333333"/>
                          </a:solidFill>
                          <a:latin typeface="微软雅黑" panose="020B0503020204020204" pitchFamily="34" charset="-122"/>
                          <a:ea typeface="微软雅黑" panose="020B0503020204020204" pitchFamily="34" charset="-122"/>
                        </a:rPr>
                        <a:t>高负载</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1200" i="0">
                          <a:solidFill>
                            <a:srgbClr val="333333"/>
                          </a:solidFill>
                          <a:latin typeface="微软雅黑" panose="020B0503020204020204" pitchFamily="34" charset="-122"/>
                          <a:ea typeface="微软雅黑" panose="020B0503020204020204" pitchFamily="34" charset="-122"/>
                        </a:rPr>
                        <a:t>默认调度策略</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i="0">
                          <a:solidFill>
                            <a:srgbClr val="333333"/>
                          </a:solidFill>
                          <a:latin typeface="微软雅黑" panose="020B0503020204020204" pitchFamily="34" charset="-122"/>
                          <a:ea typeface="微软雅黑" panose="020B0503020204020204" pitchFamily="34" charset="-122"/>
                        </a:rPr>
                        <a:t>2260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 583</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i="0">
                          <a:solidFill>
                            <a:srgbClr val="333333"/>
                          </a:solidFill>
                          <a:latin typeface="微软雅黑" panose="020B0503020204020204" pitchFamily="34" charset="-122"/>
                          <a:ea typeface="微软雅黑" panose="020B0503020204020204" pitchFamily="34" charset="-122"/>
                        </a:rPr>
                        <a:t>3439</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a:solidFill>
                            <a:srgbClr val="333333"/>
                          </a:solidFill>
                          <a:latin typeface="微软雅黑" panose="020B0503020204020204" pitchFamily="34" charset="-122"/>
                          <a:ea typeface="微软雅黑" panose="020B0503020204020204" pitchFamily="34" charset="-122"/>
                          <a:sym typeface="+mn-ea"/>
                        </a:rPr>
                        <a:t>0.5 </a:t>
                      </a:r>
                      <a:r>
                        <a:rPr lang="zh-CN" altLang="en-US" sz="1200">
                          <a:solidFill>
                            <a:srgbClr val="333333"/>
                          </a:solidFill>
                          <a:latin typeface="微软雅黑" panose="020B0503020204020204" pitchFamily="34" charset="-122"/>
                          <a:ea typeface="微软雅黑" panose="020B0503020204020204" pitchFamily="34" charset="-122"/>
                          <a:sym typeface="+mn-ea"/>
                        </a:rPr>
                        <a:t>±</a:t>
                      </a:r>
                      <a:r>
                        <a:rPr lang="en-US" altLang="zh-CN" sz="1200">
                          <a:solidFill>
                            <a:srgbClr val="333333"/>
                          </a:solidFill>
                          <a:latin typeface="微软雅黑" panose="020B0503020204020204" pitchFamily="34" charset="-122"/>
                          <a:ea typeface="微软雅黑" panose="020B0503020204020204" pitchFamily="34" charset="-122"/>
                          <a:sym typeface="+mn-ea"/>
                        </a:rPr>
                        <a:t> 0.01</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0">
                <a:tc vMerge="1">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1200" i="0">
                          <a:solidFill>
                            <a:srgbClr val="333333"/>
                          </a:solidFill>
                          <a:latin typeface="微软雅黑" panose="020B0503020204020204" pitchFamily="34" charset="-122"/>
                          <a:ea typeface="微软雅黑" panose="020B0503020204020204" pitchFamily="34" charset="-122"/>
                        </a:rPr>
                        <a:t>自定义调度策略</a:t>
                      </a:r>
                      <a:endParaRPr lang="zh-CN" altLang="en-US"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i="0">
                          <a:solidFill>
                            <a:srgbClr val="333333"/>
                          </a:solidFill>
                          <a:latin typeface="微软雅黑" panose="020B0503020204020204" pitchFamily="34" charset="-122"/>
                          <a:ea typeface="微软雅黑" panose="020B0503020204020204" pitchFamily="34" charset="-122"/>
                        </a:rPr>
                        <a:t>1730 </a:t>
                      </a:r>
                      <a:r>
                        <a:rPr lang="zh-CN" altLang="en-US" sz="1200" i="0">
                          <a:solidFill>
                            <a:srgbClr val="333333"/>
                          </a:solidFill>
                          <a:latin typeface="微软雅黑" panose="020B0503020204020204" pitchFamily="34" charset="-122"/>
                          <a:ea typeface="微软雅黑" panose="020B0503020204020204" pitchFamily="34" charset="-122"/>
                        </a:rPr>
                        <a:t>±</a:t>
                      </a:r>
                      <a:r>
                        <a:rPr lang="en-US" altLang="zh-CN" sz="1200" i="0">
                          <a:solidFill>
                            <a:srgbClr val="333333"/>
                          </a:solidFill>
                          <a:latin typeface="微软雅黑" panose="020B0503020204020204" pitchFamily="34" charset="-122"/>
                          <a:ea typeface="微软雅黑" panose="020B0503020204020204" pitchFamily="34" charset="-122"/>
                        </a:rPr>
                        <a:t> 649</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i="0">
                          <a:solidFill>
                            <a:srgbClr val="333333"/>
                          </a:solidFill>
                          <a:latin typeface="微软雅黑" panose="020B0503020204020204" pitchFamily="34" charset="-122"/>
                          <a:ea typeface="微软雅黑" panose="020B0503020204020204" pitchFamily="34" charset="-122"/>
                        </a:rPr>
                        <a:t>4944</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buNone/>
                      </a:pPr>
                      <a:r>
                        <a:rPr lang="en-US" altLang="zh-CN" sz="1200">
                          <a:solidFill>
                            <a:srgbClr val="333333"/>
                          </a:solidFill>
                          <a:latin typeface="微软雅黑" panose="020B0503020204020204" pitchFamily="34" charset="-122"/>
                          <a:ea typeface="微软雅黑" panose="020B0503020204020204" pitchFamily="34" charset="-122"/>
                          <a:sym typeface="+mn-ea"/>
                        </a:rPr>
                        <a:t>1.02 </a:t>
                      </a:r>
                      <a:r>
                        <a:rPr lang="zh-CN" altLang="en-US" sz="1200">
                          <a:solidFill>
                            <a:srgbClr val="333333"/>
                          </a:solidFill>
                          <a:latin typeface="微软雅黑" panose="020B0503020204020204" pitchFamily="34" charset="-122"/>
                          <a:ea typeface="微软雅黑" panose="020B0503020204020204" pitchFamily="34" charset="-122"/>
                          <a:sym typeface="+mn-ea"/>
                        </a:rPr>
                        <a:t>±</a:t>
                      </a:r>
                      <a:r>
                        <a:rPr lang="en-US" altLang="zh-CN" sz="1200">
                          <a:solidFill>
                            <a:srgbClr val="333333"/>
                          </a:solidFill>
                          <a:latin typeface="微软雅黑" panose="020B0503020204020204" pitchFamily="34" charset="-122"/>
                          <a:ea typeface="微软雅黑" panose="020B0503020204020204" pitchFamily="34" charset="-122"/>
                          <a:sym typeface="+mn-ea"/>
                        </a:rPr>
                        <a:t> 0.22</a:t>
                      </a:r>
                      <a:endParaRPr lang="en-US" altLang="zh-CN" sz="1200" i="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sp>
        <p:nvSpPr>
          <p:cNvPr id="5" name="矩形: 圆顶角 12"/>
          <p:cNvSpPr/>
          <p:nvPr>
            <p:custDataLst>
              <p:tags r:id="rId1"/>
            </p:custDataLst>
          </p:nvPr>
        </p:nvSpPr>
        <p:spPr>
          <a:xfrm>
            <a:off x="2774950" y="3460750"/>
            <a:ext cx="5768340" cy="510540"/>
          </a:xfrm>
          <a:prstGeom prst="round2SameRect">
            <a:avLst>
              <a:gd name="adj1" fmla="val 12935"/>
              <a:gd name="adj2" fmla="val 0"/>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自定义调度结果分析</a:t>
            </a:r>
            <a:endParaRPr lang="zh-CN" alt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2774950" y="3971290"/>
            <a:ext cx="5768340" cy="2056765"/>
          </a:xfrm>
          <a:prstGeom prst="rect">
            <a:avLst/>
          </a:prstGeom>
          <a:solidFill>
            <a:schemeClr val="bg1"/>
          </a:solidFill>
          <a:ln w="28575">
            <a:solidFill>
              <a:schemeClr val="accent4">
                <a:lumMod val="60000"/>
                <a:lumOff val="4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低负载下，</a:t>
            </a:r>
            <a:r>
              <a:rPr lang="en-US" altLang="zh-CN" sz="1600" dirty="0">
                <a:solidFill>
                  <a:schemeClr val="tx1"/>
                </a:solidFill>
                <a:latin typeface="微软雅黑" panose="020B0503020204020204" pitchFamily="34" charset="-122"/>
                <a:ea typeface="微软雅黑" panose="020B0503020204020204" pitchFamily="34" charset="-122"/>
                <a:sym typeface="+mn-ea"/>
              </a:rPr>
              <a:t>TTFT </a:t>
            </a:r>
            <a:r>
              <a:rPr lang="zh-CN" altLang="en-US" sz="1600" dirty="0">
                <a:solidFill>
                  <a:schemeClr val="tx1"/>
                </a:solidFill>
                <a:latin typeface="微软雅黑" panose="020B0503020204020204" pitchFamily="34" charset="-122"/>
                <a:ea typeface="微软雅黑" panose="020B0503020204020204" pitchFamily="34" charset="-122"/>
                <a:sym typeface="+mn-ea"/>
              </a:rPr>
              <a:t>均在</a:t>
            </a:r>
            <a:r>
              <a:rPr lang="en-US" altLang="zh-CN" sz="1600" dirty="0">
                <a:solidFill>
                  <a:schemeClr val="tx1"/>
                </a:solidFill>
                <a:latin typeface="微软雅黑" panose="020B0503020204020204" pitchFamily="34" charset="-122"/>
                <a:ea typeface="微软雅黑" panose="020B0503020204020204" pitchFamily="34" charset="-122"/>
                <a:sym typeface="+mn-ea"/>
              </a:rPr>
              <a:t> 530-580 ms </a:t>
            </a:r>
            <a:r>
              <a:rPr lang="zh-CN" altLang="en-US" sz="1600" dirty="0">
                <a:solidFill>
                  <a:schemeClr val="tx1"/>
                </a:solidFill>
                <a:latin typeface="微软雅黑" panose="020B0503020204020204" pitchFamily="34" charset="-122"/>
                <a:ea typeface="微软雅黑" panose="020B0503020204020204" pitchFamily="34" charset="-122"/>
                <a:sym typeface="+mn-ea"/>
              </a:rPr>
              <a:t>区间内浮动，说明当前计算吞吐已接近硬件上线，自定义调度策略很难取得进一步的性能提升。</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a:p>
            <a:pPr marL="285750" indent="-285750">
              <a:lnSpc>
                <a:spcPct val="130000"/>
              </a:lnSpc>
              <a:buFont typeface="Wingdings" panose="05000000000000000000" pitchFamily="2" charset="2"/>
              <a:buChar char="p"/>
            </a:pPr>
            <a:r>
              <a:rPr lang="zh-CN" altLang="en-US" sz="1600" dirty="0">
                <a:solidFill>
                  <a:schemeClr val="tx1"/>
                </a:solidFill>
                <a:latin typeface="微软雅黑" panose="020B0503020204020204" pitchFamily="34" charset="-122"/>
                <a:ea typeface="微软雅黑" panose="020B0503020204020204" pitchFamily="34" charset="-122"/>
                <a:sym typeface="+mn-ea"/>
              </a:rPr>
              <a:t>高负载下，自定义调度策略较默认调度策略有明显的性能提升，</a:t>
            </a:r>
            <a:r>
              <a:rPr lang="en-US" altLang="zh-CN" sz="1600" dirty="0">
                <a:solidFill>
                  <a:schemeClr val="tx1"/>
                </a:solidFill>
                <a:latin typeface="微软雅黑" panose="020B0503020204020204" pitchFamily="34" charset="-122"/>
                <a:ea typeface="微软雅黑" panose="020B0503020204020204" pitchFamily="34" charset="-122"/>
                <a:sym typeface="+mn-ea"/>
              </a:rPr>
              <a:t>TPS</a:t>
            </a:r>
            <a:r>
              <a:rPr lang="zh-CN" altLang="en-US" sz="1600" dirty="0">
                <a:solidFill>
                  <a:schemeClr val="tx1"/>
                </a:solidFill>
                <a:latin typeface="微软雅黑" panose="020B0503020204020204" pitchFamily="34" charset="-122"/>
                <a:ea typeface="微软雅黑" panose="020B0503020204020204" pitchFamily="34" charset="-122"/>
                <a:sym typeface="+mn-ea"/>
              </a:rPr>
              <a:t>提升约</a:t>
            </a:r>
            <a:r>
              <a:rPr lang="en-US" altLang="zh-CN" sz="1600" dirty="0">
                <a:solidFill>
                  <a:schemeClr val="tx1"/>
                </a:solidFill>
                <a:latin typeface="微软雅黑" panose="020B0503020204020204" pitchFamily="34" charset="-122"/>
                <a:ea typeface="微软雅黑" panose="020B0503020204020204" pitchFamily="34" charset="-122"/>
                <a:sym typeface="+mn-ea"/>
              </a:rPr>
              <a:t>104%</a:t>
            </a:r>
            <a:r>
              <a:rPr lang="zh-CN" altLang="en-US" sz="1600" dirty="0">
                <a:solidFill>
                  <a:schemeClr val="tx1"/>
                </a:solidFill>
                <a:latin typeface="微软雅黑" panose="020B0503020204020204" pitchFamily="34" charset="-122"/>
                <a:ea typeface="微软雅黑" panose="020B0503020204020204" pitchFamily="34" charset="-122"/>
                <a:sym typeface="+mn-ea"/>
              </a:rPr>
              <a:t>，说明自定义策略能够充分使用核心进行推理计算，减少</a:t>
            </a:r>
            <a:r>
              <a:rPr lang="en-US" altLang="zh-CN" sz="1600" dirty="0">
                <a:solidFill>
                  <a:schemeClr val="tx1"/>
                </a:solidFill>
                <a:latin typeface="微软雅黑" panose="020B0503020204020204" pitchFamily="34" charset="-122"/>
                <a:ea typeface="微软雅黑" panose="020B0503020204020204" pitchFamily="34" charset="-122"/>
                <a:sym typeface="+mn-ea"/>
              </a:rPr>
              <a:t> </a:t>
            </a:r>
            <a:r>
              <a:rPr lang="zh-CN" altLang="en-US" sz="1600" dirty="0">
                <a:solidFill>
                  <a:schemeClr val="tx1"/>
                </a:solidFill>
                <a:latin typeface="微软雅黑" panose="020B0503020204020204" pitchFamily="34" charset="-122"/>
                <a:ea typeface="微软雅黑" panose="020B0503020204020204" pitchFamily="34" charset="-122"/>
                <a:sym typeface="+mn-ea"/>
              </a:rPr>
              <a:t>推理任务中断的次数。</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sp>
        <p:nvSpPr>
          <p:cNvPr id="9" name="下箭头 9"/>
          <p:cNvSpPr/>
          <p:nvPr/>
        </p:nvSpPr>
        <p:spPr>
          <a:xfrm>
            <a:off x="6245860" y="2976880"/>
            <a:ext cx="138430" cy="314325"/>
          </a:xfrm>
          <a:prstGeom prst="downArrow">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下箭头 9"/>
          <p:cNvSpPr/>
          <p:nvPr/>
        </p:nvSpPr>
        <p:spPr>
          <a:xfrm>
            <a:off x="6245860" y="2265680"/>
            <a:ext cx="138430" cy="314325"/>
          </a:xfrm>
          <a:prstGeom prst="downArrow">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上箭头 6"/>
          <p:cNvSpPr/>
          <p:nvPr/>
        </p:nvSpPr>
        <p:spPr>
          <a:xfrm>
            <a:off x="8404860" y="2265680"/>
            <a:ext cx="138430" cy="309245"/>
          </a:xfrm>
          <a:prstGeom prst="up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上箭头 7"/>
          <p:cNvSpPr/>
          <p:nvPr/>
        </p:nvSpPr>
        <p:spPr>
          <a:xfrm>
            <a:off x="8404860" y="2900680"/>
            <a:ext cx="138430" cy="309245"/>
          </a:xfrm>
          <a:prstGeom prst="up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4.4 </a:t>
            </a:r>
            <a:r>
              <a:rPr lang="zh-CN" altLang="en-US" dirty="0"/>
              <a:t>测试结论</a:t>
            </a:r>
            <a:r>
              <a:rPr lang="en-US" altLang="zh-CN" dirty="0"/>
              <a:t> </a:t>
            </a:r>
            <a:endParaRPr lang="zh-CN" altLang="en-US" dirty="0"/>
          </a:p>
        </p:txBody>
      </p:sp>
      <p:sp>
        <p:nvSpPr>
          <p:cNvPr id="4" name="矩形: 圆角 5"/>
          <p:cNvSpPr/>
          <p:nvPr/>
        </p:nvSpPr>
        <p:spPr>
          <a:xfrm>
            <a:off x="2078181" y="1926771"/>
            <a:ext cx="1244190" cy="1395003"/>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独占隔离</a:t>
            </a:r>
            <a:endPar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优于</a:t>
            </a:r>
            <a:endPar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单纯绑核</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3317919" y="1926770"/>
            <a:ext cx="6386695" cy="1395005"/>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1600" dirty="0">
                <a:solidFill>
                  <a:schemeClr val="tx1"/>
                </a:solidFill>
                <a:latin typeface="微软雅黑" panose="020B0503020204020204" pitchFamily="34" charset="-122"/>
                <a:ea typeface="微软雅黑" panose="020B0503020204020204" pitchFamily="34" charset="-122"/>
              </a:rPr>
              <a:t>单纯 </a:t>
            </a:r>
            <a:r>
              <a:rPr lang="en-US" altLang="zh-CN" sz="1600" dirty="0">
                <a:solidFill>
                  <a:schemeClr val="tx1"/>
                </a:solidFill>
                <a:latin typeface="微软雅黑" panose="020B0503020204020204" pitchFamily="34" charset="-122"/>
                <a:ea typeface="微软雅黑" panose="020B0503020204020204" pitchFamily="34" charset="-122"/>
              </a:rPr>
              <a:t>taskset </a:t>
            </a:r>
            <a:r>
              <a:rPr lang="zh-CN" altLang="en-US" sz="1600" dirty="0">
                <a:solidFill>
                  <a:schemeClr val="tx1"/>
                </a:solidFill>
                <a:latin typeface="微软雅黑" panose="020B0503020204020204" pitchFamily="34" charset="-122"/>
                <a:ea typeface="微软雅黑" panose="020B0503020204020204" pitchFamily="34" charset="-122"/>
              </a:rPr>
              <a:t>绑核和非独占 </a:t>
            </a:r>
            <a:r>
              <a:rPr lang="en-US" altLang="zh-CN" sz="1600" dirty="0" err="1">
                <a:solidFill>
                  <a:schemeClr val="tx1"/>
                </a:solidFill>
                <a:latin typeface="微软雅黑" panose="020B0503020204020204" pitchFamily="34" charset="-122"/>
                <a:ea typeface="微软雅黑" panose="020B0503020204020204" pitchFamily="34" charset="-122"/>
              </a:rPr>
              <a:t>cpuset</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对 </a:t>
            </a:r>
            <a:r>
              <a:rPr lang="en-US" altLang="zh-CN" sz="1600" dirty="0">
                <a:solidFill>
                  <a:schemeClr val="tx1"/>
                </a:solidFill>
                <a:latin typeface="微软雅黑" panose="020B0503020204020204" pitchFamily="34" charset="-122"/>
                <a:ea typeface="微软雅黑" panose="020B0503020204020204" pitchFamily="34" charset="-122"/>
              </a:rPr>
              <a:t>V-state </a:t>
            </a:r>
            <a:r>
              <a:rPr lang="zh-CN" altLang="en-US" sz="1600" dirty="0">
                <a:solidFill>
                  <a:schemeClr val="tx1"/>
                </a:solidFill>
                <a:latin typeface="微软雅黑" panose="020B0503020204020204" pitchFamily="34" charset="-122"/>
                <a:ea typeface="微软雅黑" panose="020B0503020204020204" pitchFamily="34" charset="-122"/>
              </a:rPr>
              <a:t>保存频次的抑制有限。</a:t>
            </a:r>
            <a:r>
              <a:rPr lang="en-US" altLang="zh-CN" sz="1600" dirty="0">
                <a:solidFill>
                  <a:schemeClr val="tx1"/>
                </a:solidFill>
                <a:latin typeface="微软雅黑" panose="020B0503020204020204" pitchFamily="34" charset="-122"/>
                <a:ea typeface="微软雅黑" panose="020B0503020204020204" pitchFamily="34" charset="-122"/>
              </a:rPr>
              <a:t>partition-root </a:t>
            </a:r>
            <a:r>
              <a:rPr lang="zh-CN" altLang="en-US" sz="1600" dirty="0">
                <a:solidFill>
                  <a:schemeClr val="tx1"/>
                </a:solidFill>
                <a:latin typeface="微软雅黑" panose="020B0503020204020204" pitchFamily="34" charset="-122"/>
                <a:ea typeface="微软雅黑" panose="020B0503020204020204" pitchFamily="34" charset="-122"/>
              </a:rPr>
              <a:t>通过建立独立调度域，将 </a:t>
            </a:r>
            <a:r>
              <a:rPr lang="en-US" altLang="zh-CN" sz="1600" dirty="0">
                <a:solidFill>
                  <a:schemeClr val="tx1"/>
                </a:solidFill>
                <a:latin typeface="微软雅黑" panose="020B0503020204020204" pitchFamily="34" charset="-122"/>
                <a:ea typeface="微软雅黑" panose="020B0503020204020204" pitchFamily="34" charset="-122"/>
              </a:rPr>
              <a:t>V/</a:t>
            </a:r>
            <a:r>
              <a:rPr lang="en-US" altLang="zh-CN" sz="1600" dirty="0" err="1">
                <a:solidFill>
                  <a:schemeClr val="tx1"/>
                </a:solidFill>
                <a:latin typeface="微软雅黑" panose="020B0503020204020204" pitchFamily="34" charset="-122"/>
                <a:ea typeface="微软雅黑" panose="020B0503020204020204" pitchFamily="34" charset="-122"/>
              </a:rPr>
              <a:t>ktok</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降低 </a:t>
            </a:r>
            <a:r>
              <a:rPr lang="en-US" altLang="zh-CN" sz="1600" dirty="0">
                <a:solidFill>
                  <a:schemeClr val="tx1"/>
                </a:solidFill>
                <a:latin typeface="微软雅黑" panose="020B0503020204020204" pitchFamily="34" charset="-122"/>
                <a:ea typeface="微软雅黑" panose="020B0503020204020204" pitchFamily="34" charset="-122"/>
              </a:rPr>
              <a:t>59.6%</a:t>
            </a:r>
            <a:r>
              <a:rPr lang="zh-CN" altLang="en-US" sz="1600" dirty="0">
                <a:solidFill>
                  <a:schemeClr val="tx1"/>
                </a:solidFill>
                <a:latin typeface="微软雅黑" panose="020B0503020204020204" pitchFamily="34" charset="-122"/>
                <a:ea typeface="微软雅黑" panose="020B0503020204020204" pitchFamily="34" charset="-122"/>
              </a:rPr>
              <a:t>，同时性能数据未下降，是六类静态策略中综合效果最优的方案。</a:t>
            </a:r>
            <a:r>
              <a:rPr lang="en-US" altLang="zh-CN" sz="1600" dirty="0">
                <a:solidFill>
                  <a:schemeClr val="tx1"/>
                </a:solidFill>
                <a:latin typeface="微软雅黑" panose="020B0503020204020204" pitchFamily="34" charset="-122"/>
                <a:ea typeface="微软雅黑" panose="020B0503020204020204" pitchFamily="34" charset="-122"/>
              </a:rPr>
              <a:t>SCHED_FIFO </a:t>
            </a:r>
            <a:r>
              <a:rPr lang="zh-CN" altLang="en-US" sz="1600" dirty="0">
                <a:solidFill>
                  <a:schemeClr val="tx1"/>
                </a:solidFill>
                <a:latin typeface="微软雅黑" panose="020B0503020204020204" pitchFamily="34" charset="-122"/>
                <a:ea typeface="微软雅黑" panose="020B0503020204020204" pitchFamily="34" charset="-122"/>
              </a:rPr>
              <a:t>可将 </a:t>
            </a:r>
            <a:r>
              <a:rPr lang="en-US" altLang="zh-CN" sz="1600" dirty="0">
                <a:solidFill>
                  <a:schemeClr val="tx1"/>
                </a:solidFill>
                <a:latin typeface="微软雅黑" panose="020B0503020204020204" pitchFamily="34" charset="-122"/>
                <a:ea typeface="微软雅黑" panose="020B0503020204020204" pitchFamily="34" charset="-122"/>
              </a:rPr>
              <a:t>V/</a:t>
            </a:r>
            <a:r>
              <a:rPr lang="en-US" altLang="zh-CN" sz="1600" dirty="0" err="1">
                <a:solidFill>
                  <a:schemeClr val="tx1"/>
                </a:solidFill>
                <a:latin typeface="微软雅黑" panose="020B0503020204020204" pitchFamily="34" charset="-122"/>
                <a:ea typeface="微软雅黑" panose="020B0503020204020204" pitchFamily="34" charset="-122"/>
              </a:rPr>
              <a:t>ktok</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降低 </a:t>
            </a:r>
            <a:r>
              <a:rPr lang="en-US" altLang="zh-CN" sz="1600" dirty="0">
                <a:solidFill>
                  <a:schemeClr val="tx1"/>
                </a:solidFill>
                <a:latin typeface="微软雅黑" panose="020B0503020204020204" pitchFamily="34" charset="-122"/>
                <a:ea typeface="微软雅黑" panose="020B0503020204020204" pitchFamily="34" charset="-122"/>
              </a:rPr>
              <a:t>91.1%</a:t>
            </a:r>
            <a:r>
              <a:rPr lang="zh-CN" altLang="en-US" sz="1600" dirty="0">
                <a:solidFill>
                  <a:schemeClr val="tx1"/>
                </a:solidFill>
                <a:latin typeface="微软雅黑" panose="020B0503020204020204" pitchFamily="34" charset="-122"/>
                <a:ea typeface="微软雅黑" panose="020B0503020204020204" pitchFamily="34" charset="-122"/>
              </a:rPr>
              <a:t>，但会带来吞吐和延迟代价。</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073729" y="3761012"/>
            <a:ext cx="1244190" cy="1395003"/>
          </a:xfrm>
          <a:prstGeom prst="roundRect">
            <a:avLst>
              <a:gd name="adj" fmla="val 0"/>
            </a:avLst>
          </a:prstGeom>
          <a:solidFill>
            <a:srgbClr val="FFF2CC"/>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自定义调度提升</a:t>
            </a:r>
            <a:endParaRPr kumimoji="0" lang="en-US" altLang="zh-CN"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高负载表现</a:t>
            </a:r>
            <a:endParaRPr kumimoji="0" lang="zh-CN" altLang="en-US" sz="1600" b="1" i="0" u="none" strike="noStrike" kern="1200"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nvSpPr>
        <p:spPr>
          <a:xfrm>
            <a:off x="3322371" y="3761012"/>
            <a:ext cx="6386695" cy="1395005"/>
          </a:xfrm>
          <a:prstGeom prst="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sz="1600" dirty="0" err="1">
                <a:solidFill>
                  <a:schemeClr val="tx1"/>
                </a:solidFill>
                <a:latin typeface="微软雅黑" panose="020B0503020204020204" pitchFamily="34" charset="-122"/>
                <a:ea typeface="微软雅黑" panose="020B0503020204020204" pitchFamily="34" charset="-122"/>
              </a:rPr>
              <a:t>sched_ext</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将推理线程分配至 </a:t>
            </a:r>
            <a:r>
              <a:rPr lang="en-US" altLang="zh-CN" sz="1600" dirty="0">
                <a:solidFill>
                  <a:schemeClr val="tx1"/>
                </a:solidFill>
                <a:latin typeface="微软雅黑" panose="020B0503020204020204" pitchFamily="34" charset="-122"/>
                <a:ea typeface="微软雅黑" panose="020B0503020204020204" pitchFamily="34" charset="-122"/>
              </a:rPr>
              <a:t>AI </a:t>
            </a:r>
            <a:r>
              <a:rPr lang="zh-CN" altLang="en-US" sz="1600" dirty="0">
                <a:solidFill>
                  <a:schemeClr val="tx1"/>
                </a:solidFill>
                <a:latin typeface="微软雅黑" panose="020B0503020204020204" pitchFamily="34" charset="-122"/>
                <a:ea typeface="微软雅黑" panose="020B0503020204020204" pitchFamily="34" charset="-122"/>
              </a:rPr>
              <a:t>核心，并结合缓存亲和和差异化时间片进行动态调度。在全核高负载下，</a:t>
            </a:r>
            <a:r>
              <a:rPr lang="en-US" altLang="zh-CN" sz="1600" dirty="0">
                <a:solidFill>
                  <a:schemeClr val="tx1"/>
                </a:solidFill>
                <a:latin typeface="微软雅黑" panose="020B0503020204020204" pitchFamily="34" charset="-122"/>
                <a:ea typeface="微软雅黑" panose="020B0503020204020204" pitchFamily="34" charset="-122"/>
              </a:rPr>
              <a:t>TPS </a:t>
            </a:r>
            <a:r>
              <a:rPr lang="zh-CN" altLang="en-US" sz="1600" dirty="0">
                <a:solidFill>
                  <a:schemeClr val="tx1"/>
                </a:solidFill>
                <a:latin typeface="微软雅黑" panose="020B0503020204020204" pitchFamily="34" charset="-122"/>
                <a:ea typeface="微软雅黑" panose="020B0503020204020204" pitchFamily="34" charset="-122"/>
              </a:rPr>
              <a:t>从 </a:t>
            </a:r>
            <a:r>
              <a:rPr lang="en-US" altLang="zh-CN" sz="1600" dirty="0">
                <a:solidFill>
                  <a:schemeClr val="tx1"/>
                </a:solidFill>
                <a:latin typeface="微软雅黑" panose="020B0503020204020204" pitchFamily="34" charset="-122"/>
                <a:ea typeface="微软雅黑" panose="020B0503020204020204" pitchFamily="34" charset="-122"/>
              </a:rPr>
              <a:t>0.50 </a:t>
            </a:r>
            <a:r>
              <a:rPr lang="zh-CN" altLang="en-US" sz="1600" dirty="0">
                <a:solidFill>
                  <a:schemeClr val="tx1"/>
                </a:solidFill>
                <a:latin typeface="微软雅黑" panose="020B0503020204020204" pitchFamily="34" charset="-122"/>
                <a:ea typeface="微软雅黑" panose="020B0503020204020204" pitchFamily="34" charset="-122"/>
              </a:rPr>
              <a:t>提升至 </a:t>
            </a:r>
            <a:r>
              <a:rPr lang="en-US" altLang="zh-CN" sz="1600" dirty="0">
                <a:solidFill>
                  <a:schemeClr val="tx1"/>
                </a:solidFill>
                <a:latin typeface="微软雅黑" panose="020B0503020204020204" pitchFamily="34" charset="-122"/>
                <a:ea typeface="微软雅黑" panose="020B0503020204020204" pitchFamily="34" charset="-122"/>
              </a:rPr>
              <a:t>1.02(+104%)</a:t>
            </a:r>
            <a:r>
              <a:rPr lang="zh-CN" altLang="en-US" sz="1600" dirty="0">
                <a:solidFill>
                  <a:schemeClr val="tx1"/>
                </a:solidFill>
                <a:latin typeface="微软雅黑" panose="020B0503020204020204" pitchFamily="34" charset="-122"/>
                <a:ea typeface="微软雅黑" panose="020B0503020204020204" pitchFamily="34" charset="-122"/>
              </a:rPr>
              <a:t>，平均 </a:t>
            </a:r>
            <a:r>
              <a:rPr lang="en-US" altLang="zh-CN" sz="1600" dirty="0">
                <a:solidFill>
                  <a:schemeClr val="tx1"/>
                </a:solidFill>
                <a:latin typeface="微软雅黑" panose="020B0503020204020204" pitchFamily="34" charset="-122"/>
                <a:ea typeface="微软雅黑" panose="020B0503020204020204" pitchFamily="34" charset="-122"/>
              </a:rPr>
              <a:t>TTFT </a:t>
            </a:r>
            <a:r>
              <a:rPr lang="zh-CN" altLang="en-US" sz="1600" dirty="0">
                <a:solidFill>
                  <a:schemeClr val="tx1"/>
                </a:solidFill>
                <a:latin typeface="微软雅黑" panose="020B0503020204020204" pitchFamily="34" charset="-122"/>
                <a:ea typeface="微软雅黑" panose="020B0503020204020204" pitchFamily="34" charset="-122"/>
              </a:rPr>
              <a:t>从 </a:t>
            </a:r>
            <a:r>
              <a:rPr lang="en-US" altLang="zh-CN" sz="1600" dirty="0">
                <a:solidFill>
                  <a:schemeClr val="tx1"/>
                </a:solidFill>
                <a:latin typeface="微软雅黑" panose="020B0503020204020204" pitchFamily="34" charset="-122"/>
                <a:ea typeface="微软雅黑" panose="020B0503020204020204" pitchFamily="34" charset="-122"/>
              </a:rPr>
              <a:t>2260 </a:t>
            </a:r>
            <a:r>
              <a:rPr lang="en-US" altLang="zh-CN" sz="1600" dirty="0" err="1">
                <a:solidFill>
                  <a:schemeClr val="tx1"/>
                </a:solidFill>
                <a:latin typeface="微软雅黑" panose="020B0503020204020204" pitchFamily="34" charset="-122"/>
                <a:ea typeface="微软雅黑" panose="020B0503020204020204" pitchFamily="34" charset="-122"/>
              </a:rPr>
              <a:t>ms</a:t>
            </a:r>
            <a:r>
              <a:rPr lang="en-US" altLang="zh-CN" sz="1600" dirty="0">
                <a:solidFill>
                  <a:schemeClr val="tx1"/>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降至 </a:t>
            </a:r>
            <a:r>
              <a:rPr lang="en-US" altLang="zh-CN" sz="1600" dirty="0">
                <a:solidFill>
                  <a:schemeClr val="tx1"/>
                </a:solidFill>
                <a:latin typeface="微软雅黑" panose="020B0503020204020204" pitchFamily="34" charset="-122"/>
                <a:ea typeface="微软雅黑" panose="020B0503020204020204" pitchFamily="34" charset="-122"/>
              </a:rPr>
              <a:t>1730 </a:t>
            </a:r>
            <a:r>
              <a:rPr lang="en-US" altLang="zh-CN" sz="1600" dirty="0" err="1">
                <a:solidFill>
                  <a:schemeClr val="tx1"/>
                </a:solidFill>
                <a:latin typeface="微软雅黑" panose="020B0503020204020204" pitchFamily="34" charset="-122"/>
                <a:ea typeface="微软雅黑" panose="020B0503020204020204" pitchFamily="34" charset="-122"/>
              </a:rPr>
              <a:t>ms</a:t>
            </a:r>
            <a:r>
              <a:rPr lang="en-US" altLang="zh-CN" sz="1600" dirty="0">
                <a:solidFill>
                  <a:schemeClr val="tx1"/>
                </a:solidFill>
                <a:latin typeface="微软雅黑" panose="020B0503020204020204" pitchFamily="34" charset="-122"/>
                <a:ea typeface="微软雅黑" panose="020B0503020204020204" pitchFamily="34" charset="-122"/>
              </a:rPr>
              <a:t>(-23.5%)</a:t>
            </a:r>
            <a:r>
              <a:rPr lang="zh-CN" altLang="en-US" sz="1600" dirty="0">
                <a:solidFill>
                  <a:schemeClr val="tx1"/>
                </a:solidFill>
                <a:latin typeface="微软雅黑" panose="020B0503020204020204" pitchFamily="34" charset="-122"/>
                <a:ea typeface="微软雅黑" panose="020B0503020204020204" pitchFamily="34" charset="-122"/>
              </a:rPr>
              <a:t>，为复杂高负载推理服务提供了更高的性能上限。</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696f2f6c22aa10c174ab00a21ebd985">
            <a:hlinkClick r:id="" action="ppaction://media"/>
          </p:cNvPr>
          <p:cNvPicPr>
            <a:picLocks noGrp="1" noChangeAspect="1"/>
          </p:cNvPicPr>
          <p:nvPr>
            <p:ph type="media" sz="quarter" idx="15"/>
            <a:videoFile r:link="rId1"/>
            <p:extLst>
              <p:ext uri="{DAA4B4D4-6D71-4841-9C94-3DE7FCFB9230}">
                <p14:media xmlns:p14="http://schemas.microsoft.com/office/powerpoint/2010/main" r:embed="rId2"/>
              </p:ext>
            </p:extLst>
          </p:nvPr>
        </p:nvPicPr>
        <p:blipFill>
          <a:blip r:embed="rId3"/>
          <a:stretch>
            <a:fillRect/>
          </a:stretch>
        </p:blipFill>
        <p:spPr>
          <a:xfrm>
            <a:off x="1556037" y="1197551"/>
            <a:ext cx="9125207" cy="5018521"/>
          </a:xfrm>
        </p:spPr>
      </p:pic>
      <p:sp>
        <p:nvSpPr>
          <p:cNvPr id="3" name="标题 2"/>
          <p:cNvSpPr>
            <a:spLocks noGrp="1"/>
          </p:cNvSpPr>
          <p:nvPr>
            <p:ph type="title"/>
          </p:nvPr>
        </p:nvSpPr>
        <p:spPr>
          <a:xfrm>
            <a:off x="528955" y="522605"/>
            <a:ext cx="7624445" cy="491490"/>
          </a:xfrm>
        </p:spPr>
        <p:txBody>
          <a:bodyPr/>
          <a:lstStyle/>
          <a:p>
            <a:r>
              <a:rPr lang="en-US" altLang="zh-CN" dirty="0"/>
              <a:t>4.5 </a:t>
            </a:r>
            <a:r>
              <a:rPr lang="zh-CN" altLang="en-US" dirty="0"/>
              <a:t>作品演示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177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192421" y="2453241"/>
            <a:ext cx="5452133" cy="1115113"/>
          </a:xfrm>
        </p:spPr>
        <p:txBody>
          <a:bodyPr/>
          <a:lstStyle/>
          <a:p>
            <a:r>
              <a:rPr lang="zh-CN" altLang="en-US" dirty="0"/>
              <a:t>总结与展望</a:t>
            </a:r>
            <a:endParaRPr lang="zh-CN" altLang="en-US" dirty="0"/>
          </a:p>
        </p:txBody>
      </p:sp>
      <p:sp>
        <p:nvSpPr>
          <p:cNvPr id="3" name="文本占位符 2"/>
          <p:cNvSpPr>
            <a:spLocks noGrp="1"/>
          </p:cNvSpPr>
          <p:nvPr>
            <p:ph type="body" sz="quarter" idx="14"/>
          </p:nvPr>
        </p:nvSpPr>
        <p:spPr/>
        <p:txBody>
          <a:bodyP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5.1 </a:t>
            </a:r>
            <a:r>
              <a:rPr lang="zh-CN" altLang="en-US" dirty="0"/>
              <a:t>总结</a:t>
            </a:r>
            <a:endParaRPr lang="zh-CN" altLang="en-US" dirty="0"/>
          </a:p>
        </p:txBody>
      </p:sp>
      <p:sp>
        <p:nvSpPr>
          <p:cNvPr id="4" name="矩形: 圆角 3"/>
          <p:cNvSpPr/>
          <p:nvPr/>
        </p:nvSpPr>
        <p:spPr>
          <a:xfrm>
            <a:off x="600075" y="1445895"/>
            <a:ext cx="10897235" cy="791845"/>
          </a:xfrm>
          <a:prstGeom prst="roundRect">
            <a:avLst/>
          </a:prstGeom>
          <a:solidFill>
            <a:schemeClr val="bg1"/>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b="1" dirty="0">
                <a:solidFill>
                  <a:schemeClr val="accent1">
                    <a:lumMod val="75000"/>
                  </a:schemeClr>
                </a:solidFill>
                <a:latin typeface="微软雅黑" panose="020B0503020204020204" pitchFamily="34" charset="-122"/>
                <a:ea typeface="微软雅黑" panose="020B0503020204020204" pitchFamily="34" charset="-122"/>
              </a:rPr>
              <a:t>本项目在</a:t>
            </a:r>
            <a:r>
              <a:rPr lang="en-US" altLang="zh-CN" b="1" dirty="0">
                <a:solidFill>
                  <a:schemeClr val="accent1">
                    <a:lumMod val="75000"/>
                  </a:schemeClr>
                </a:solidFill>
                <a:latin typeface="微软雅黑" panose="020B0503020204020204" pitchFamily="34" charset="-122"/>
                <a:ea typeface="微软雅黑" panose="020B0503020204020204" pitchFamily="34" charset="-122"/>
              </a:rPr>
              <a:t>Milk-V Jupiter</a:t>
            </a:r>
            <a:r>
              <a:rPr lang="zh-CN" altLang="en-US" b="1" dirty="0">
                <a:solidFill>
                  <a:schemeClr val="accent1">
                    <a:lumMod val="75000"/>
                  </a:schemeClr>
                </a:solidFill>
                <a:latin typeface="微软雅黑" panose="020B0503020204020204" pitchFamily="34" charset="-122"/>
                <a:ea typeface="微软雅黑" panose="020B0503020204020204" pitchFamily="34" charset="-122"/>
              </a:rPr>
              <a:t>开发板上成功完成多并发推理场景下</a:t>
            </a:r>
            <a:r>
              <a:rPr lang="en-US" altLang="zh-CN" b="1" dirty="0">
                <a:solidFill>
                  <a:schemeClr val="accent1">
                    <a:lumMod val="75000"/>
                  </a:schemeClr>
                </a:solidFill>
                <a:latin typeface="微软雅黑" panose="020B0503020204020204" pitchFamily="34" charset="-122"/>
                <a:ea typeface="微软雅黑" panose="020B0503020204020204" pitchFamily="34" charset="-122"/>
              </a:rPr>
              <a:t>V</a:t>
            </a:r>
            <a:r>
              <a:rPr lang="zh-CN" altLang="en-US" b="1" dirty="0">
                <a:solidFill>
                  <a:schemeClr val="accent1">
                    <a:lumMod val="75000"/>
                  </a:schemeClr>
                </a:solidFill>
                <a:latin typeface="微软雅黑" panose="020B0503020204020204" pitchFamily="34" charset="-122"/>
                <a:ea typeface="微软雅黑" panose="020B0503020204020204" pitchFamily="34" charset="-122"/>
              </a:rPr>
              <a:t>状态切换开销的量化分析，</a:t>
            </a:r>
            <a:endParaRPr lang="zh-CN" altLang="en-US" b="1" dirty="0">
              <a:solidFill>
                <a:schemeClr val="accent1">
                  <a:lumMod val="7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b="1" dirty="0">
                <a:solidFill>
                  <a:schemeClr val="accent1">
                    <a:lumMod val="75000"/>
                  </a:schemeClr>
                </a:solidFill>
                <a:latin typeface="微软雅黑" panose="020B0503020204020204" pitchFamily="34" charset="-122"/>
                <a:ea typeface="微软雅黑" panose="020B0503020204020204" pitchFamily="34" charset="-122"/>
              </a:rPr>
              <a:t>并自主实现了绑核、隔离、既有调度与自定义调度四类七种优化策略及自动化评测框架。</a:t>
            </a:r>
            <a:endParaRPr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600369" y="2396665"/>
            <a:ext cx="10859392" cy="3494405"/>
            <a:chOff x="6074122" y="3153832"/>
            <a:chExt cx="6435867" cy="3131753"/>
          </a:xfrm>
          <a:effectLst>
            <a:outerShdw blurRad="50800" dist="38100" dir="2700000" algn="tl" rotWithShape="0">
              <a:prstClr val="black">
                <a:alpha val="40000"/>
              </a:prstClr>
            </a:outerShdw>
          </a:effectLst>
        </p:grpSpPr>
        <p:sp>
          <p:nvSpPr>
            <p:cNvPr id="6" name="矩形 5"/>
            <p:cNvSpPr/>
            <p:nvPr/>
          </p:nvSpPr>
          <p:spPr>
            <a:xfrm>
              <a:off x="6074122" y="3665452"/>
              <a:ext cx="6435715" cy="2620133"/>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量化了多并发LLM推理下V状态切换的实际开销：</a:t>
              </a:r>
              <a:r>
                <a:rPr lang="zh-CN" altLang="en-US" sz="1600" dirty="0">
                  <a:solidFill>
                    <a:schemeClr val="tx1"/>
                  </a:solidFill>
                  <a:latin typeface="微软雅黑" panose="020B0503020204020204" pitchFamily="34" charset="-122"/>
                  <a:ea typeface="微软雅黑" panose="020B0503020204020204" pitchFamily="34" charset="-122"/>
                </a:rPr>
                <a:t>通过</a:t>
              </a:r>
              <a:r>
                <a:rPr lang="en-US" altLang="zh-CN" sz="1600" dirty="0">
                  <a:solidFill>
                    <a:schemeClr val="tx1"/>
                  </a:solidFill>
                  <a:latin typeface="微软雅黑" panose="020B0503020204020204" pitchFamily="34" charset="-122"/>
                  <a:ea typeface="微软雅黑" panose="020B0503020204020204" pitchFamily="34" charset="-122"/>
                </a:rPr>
                <a:t>bpftrace</a:t>
              </a:r>
              <a:r>
                <a:rPr lang="zh-CN" altLang="en-US" sz="1600" dirty="0">
                  <a:solidFill>
                    <a:schemeClr val="tx1"/>
                  </a:solidFill>
                  <a:latin typeface="微软雅黑" panose="020B0503020204020204" pitchFamily="34" charset="-122"/>
                  <a:ea typeface="微软雅黑" panose="020B0503020204020204" pitchFamily="34" charset="-122"/>
                </a:rPr>
                <a:t>挂载内核</a:t>
              </a:r>
              <a:r>
                <a:rPr lang="en-US" altLang="zh-CN" sz="1600" dirty="0">
                  <a:solidFill>
                    <a:schemeClr val="tx1"/>
                  </a:solidFill>
                  <a:latin typeface="微软雅黑" panose="020B0503020204020204" pitchFamily="34" charset="-122"/>
                  <a:ea typeface="微软雅黑" panose="020B0503020204020204" pitchFamily="34" charset="-122"/>
                </a:rPr>
                <a:t>tracepoint</a:t>
              </a:r>
              <a:r>
                <a:rPr lang="zh-CN" altLang="en-US" sz="1600" dirty="0">
                  <a:solidFill>
                    <a:schemeClr val="tx1"/>
                  </a:solidFill>
                  <a:latin typeface="微软雅黑" panose="020B0503020204020204" pitchFamily="34" charset="-122"/>
                  <a:ea typeface="微软雅黑" panose="020B0503020204020204" pitchFamily="34" charset="-122"/>
                </a:rPr>
                <a:t>，建立了</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状态切换与并发数、模型规模之间的量化关系，确认</a:t>
              </a:r>
              <a:r>
                <a:rPr lang="en-US" altLang="zh-CN" sz="1600" dirty="0">
                  <a:solidFill>
                    <a:schemeClr val="tx1"/>
                  </a:solidFill>
                  <a:latin typeface="微软雅黑" panose="020B0503020204020204" pitchFamily="34" charset="-122"/>
                  <a:ea typeface="微软雅黑" panose="020B0503020204020204" pitchFamily="34" charset="-122"/>
                </a:rPr>
                <a:t>CFS</a:t>
              </a:r>
              <a:r>
                <a:rPr lang="zh-CN" altLang="en-US" sz="1600" dirty="0">
                  <a:solidFill>
                    <a:schemeClr val="tx1"/>
                  </a:solidFill>
                  <a:latin typeface="微软雅黑" panose="020B0503020204020204" pitchFamily="34" charset="-122"/>
                  <a:ea typeface="微软雅黑" panose="020B0503020204020204" pitchFamily="34" charset="-122"/>
                </a:rPr>
                <a:t>调度下推理线程频繁被抢占导致</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状态保存</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恢复次数随并发数显著增长。</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实现了四类七种调度优化策略并验证了效果：</a:t>
              </a:r>
              <a:r>
                <a:rPr lang="zh-CN" altLang="en-US" sz="1600" dirty="0">
                  <a:solidFill>
                    <a:schemeClr val="tx1"/>
                  </a:solidFill>
                  <a:latin typeface="微软雅黑" panose="020B0503020204020204" pitchFamily="34" charset="-122"/>
                  <a:ea typeface="微软雅黑" panose="020B0503020204020204" pitchFamily="34" charset="-122"/>
                </a:rPr>
                <a:t>从绑定核心、隔离核心到自定义调度策略，实现了针对</a:t>
              </a:r>
              <a:r>
                <a:rPr lang="en-US" altLang="zh-CN" sz="1600" dirty="0">
                  <a:solidFill>
                    <a:schemeClr val="tx1"/>
                  </a:solidFill>
                  <a:latin typeface="微软雅黑" panose="020B0503020204020204" pitchFamily="34" charset="-122"/>
                  <a:ea typeface="微软雅黑" panose="020B0503020204020204" pitchFamily="34" charset="-122"/>
                </a:rPr>
                <a:t>V</a:t>
              </a:r>
              <a:r>
                <a:rPr lang="zh-CN" altLang="en-US" sz="1600" dirty="0">
                  <a:solidFill>
                    <a:schemeClr val="tx1"/>
                  </a:solidFill>
                  <a:latin typeface="微软雅黑" panose="020B0503020204020204" pitchFamily="34" charset="-122"/>
                  <a:ea typeface="微软雅黑" panose="020B0503020204020204" pitchFamily="34" charset="-122"/>
                </a:rPr>
                <a:t>状态迁移的不同优化策略。</a:t>
              </a:r>
              <a:endParaRPr lang="zh-CN" altLang="en-US"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构建了自动化评测框架完成多维度对比测试</a:t>
              </a:r>
              <a:r>
                <a:rPr lang="zh-CN" altLang="en-US" sz="1600" dirty="0">
                  <a:solidFill>
                    <a:schemeClr val="tx1"/>
                  </a:solidFill>
                  <a:latin typeface="微软雅黑" panose="020B0503020204020204" pitchFamily="34" charset="-122"/>
                  <a:ea typeface="微软雅黑" panose="020B0503020204020204" pitchFamily="34" charset="-122"/>
                </a:rPr>
                <a:t>：以</a:t>
              </a:r>
              <a:r>
                <a:rPr lang="en-US" altLang="zh-CN" sz="1600" dirty="0">
                  <a:solidFill>
                    <a:schemeClr val="tx1"/>
                  </a:solidFill>
                  <a:latin typeface="微软雅黑" panose="020B0503020204020204" pitchFamily="34" charset="-122"/>
                  <a:ea typeface="微软雅黑" panose="020B0503020204020204" pitchFamily="34" charset="-122"/>
                </a:rPr>
                <a:t>llama.cpp server</a:t>
              </a:r>
              <a:r>
                <a:rPr lang="zh-CN" altLang="en-US" sz="1600" dirty="0">
                  <a:solidFill>
                    <a:schemeClr val="tx1"/>
                  </a:solidFill>
                  <a:latin typeface="微软雅黑" panose="020B0503020204020204" pitchFamily="34" charset="-122"/>
                  <a:ea typeface="微软雅黑" panose="020B0503020204020204" pitchFamily="34" charset="-122"/>
                </a:rPr>
                <a:t>为基准，覆盖</a:t>
              </a:r>
              <a:r>
                <a:rPr lang="en-US" altLang="zh-CN" sz="1600" dirty="0">
                  <a:solidFill>
                    <a:schemeClr val="tx1"/>
                  </a:solidFill>
                  <a:latin typeface="微软雅黑" panose="020B0503020204020204" pitchFamily="34" charset="-122"/>
                  <a:ea typeface="微软雅黑" panose="020B0503020204020204" pitchFamily="34" charset="-122"/>
                </a:rPr>
                <a:t>2/4/8</a:t>
              </a:r>
              <a:r>
                <a:rPr lang="zh-CN" altLang="en-US" sz="1600" dirty="0">
                  <a:solidFill>
                    <a:schemeClr val="tx1"/>
                  </a:solidFill>
                  <a:latin typeface="微软雅黑" panose="020B0503020204020204" pitchFamily="34" charset="-122"/>
                  <a:ea typeface="微软雅黑" panose="020B0503020204020204" pitchFamily="34" charset="-122"/>
                </a:rPr>
                <a:t>并发、</a:t>
              </a:r>
              <a:r>
                <a:rPr lang="en-US" altLang="zh-CN" sz="1600" dirty="0">
                  <a:solidFill>
                    <a:schemeClr val="tx1"/>
                  </a:solidFill>
                  <a:latin typeface="微软雅黑" panose="020B0503020204020204" pitchFamily="34" charset="-122"/>
                  <a:ea typeface="微软雅黑" panose="020B0503020204020204" pitchFamily="34" charset="-122"/>
                </a:rPr>
                <a:t>1B/3B</a:t>
              </a:r>
              <a:r>
                <a:rPr lang="zh-CN" altLang="en-US" sz="1600" dirty="0">
                  <a:solidFill>
                    <a:schemeClr val="tx1"/>
                  </a:solidFill>
                  <a:latin typeface="微软雅黑" panose="020B0503020204020204" pitchFamily="34" charset="-122"/>
                  <a:ea typeface="微软雅黑" panose="020B0503020204020204" pitchFamily="34" charset="-122"/>
                </a:rPr>
                <a:t>模型、多档</a:t>
              </a:r>
              <a:r>
                <a:rPr lang="en-US" altLang="zh-CN" sz="1600" dirty="0">
                  <a:solidFill>
                    <a:schemeClr val="tx1"/>
                  </a:solidFill>
                  <a:latin typeface="微软雅黑" panose="020B0503020204020204" pitchFamily="34" charset="-122"/>
                  <a:ea typeface="微软雅黑" panose="020B0503020204020204" pitchFamily="34" charset="-122"/>
                </a:rPr>
                <a:t>prompt/output</a:t>
              </a:r>
              <a:r>
                <a:rPr lang="zh-CN" altLang="en-US" sz="1600" dirty="0">
                  <a:solidFill>
                    <a:schemeClr val="tx1"/>
                  </a:solidFill>
                  <a:latin typeface="微软雅黑" panose="020B0503020204020204" pitchFamily="34" charset="-122"/>
                  <a:ea typeface="微软雅黑" panose="020B0503020204020204" pitchFamily="34" charset="-122"/>
                </a:rPr>
                <a:t>长度，采集</a:t>
              </a:r>
              <a:r>
                <a:rPr lang="en-US" altLang="zh-CN" sz="1600" dirty="0">
                  <a:solidFill>
                    <a:schemeClr val="tx1"/>
                  </a:solidFill>
                  <a:latin typeface="微软雅黑" panose="020B0503020204020204" pitchFamily="34" charset="-122"/>
                  <a:ea typeface="微软雅黑" panose="020B0503020204020204" pitchFamily="34" charset="-122"/>
                </a:rPr>
                <a:t>TPS</a:t>
              </a: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TTFT</a:t>
              </a:r>
              <a:r>
                <a:rPr lang="zh-CN" altLang="en-US" sz="1600"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P95</a:t>
              </a:r>
              <a:r>
                <a:rPr lang="zh-CN" altLang="en-US" sz="1600" dirty="0">
                  <a:solidFill>
                    <a:schemeClr val="tx1"/>
                  </a:solidFill>
                  <a:latin typeface="微软雅黑" panose="020B0503020204020204" pitchFamily="34" charset="-122"/>
                  <a:ea typeface="微软雅黑" panose="020B0503020204020204" pitchFamily="34" charset="-122"/>
                </a:rPr>
                <a:t>等指标，输出结构化数据并分析。</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7" name="矩形: 圆顶角 5"/>
            <p:cNvSpPr/>
            <p:nvPr/>
          </p:nvSpPr>
          <p:spPr>
            <a:xfrm>
              <a:off x="6074122" y="3153832"/>
              <a:ext cx="6435867" cy="511502"/>
            </a:xfrm>
            <a:prstGeom prst="round2SameRect">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lnSpc>
                  <a:spcPct val="130000"/>
                </a:lnSpc>
              </a:pPr>
              <a:r>
                <a:rPr kumimoji="1" lang="zh-CN" altLang="en-US" b="1" dirty="0">
                  <a:solidFill>
                    <a:schemeClr val="accent1">
                      <a:lumMod val="75000"/>
                    </a:schemeClr>
                  </a:solidFill>
                  <a:latin typeface="微软雅黑" panose="020B0503020204020204" pitchFamily="34" charset="-122"/>
                  <a:ea typeface="微软雅黑" panose="020B0503020204020204" pitchFamily="34" charset="-122"/>
                </a:rPr>
                <a:t>核心成果</a:t>
              </a:r>
              <a:endParaRPr kumimoji="1"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5.2 </a:t>
            </a:r>
            <a:r>
              <a:rPr lang="zh-CN" altLang="en-US" dirty="0"/>
              <a:t>项目成果</a:t>
            </a:r>
            <a:endParaRPr lang="zh-CN" altLang="en-US" dirty="0"/>
          </a:p>
        </p:txBody>
      </p:sp>
      <p:graphicFrame>
        <p:nvGraphicFramePr>
          <p:cNvPr id="2" name="表格 1"/>
          <p:cNvGraphicFramePr/>
          <p:nvPr/>
        </p:nvGraphicFramePr>
        <p:xfrm>
          <a:off x="629428" y="1325128"/>
          <a:ext cx="10703589" cy="4988885"/>
        </p:xfrm>
        <a:graphic>
          <a:graphicData uri="http://schemas.openxmlformats.org/drawingml/2006/table">
            <a:tbl>
              <a:tblPr/>
              <a:tblGrid>
                <a:gridCol w="4302790"/>
                <a:gridCol w="6400799"/>
              </a:tblGrid>
              <a:tr h="540617">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赛题要求</a:t>
                      </a:r>
                      <a:endParaRPr lang="zh-CN"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完成情况</a:t>
                      </a:r>
                      <a:endParaRPr lang="zh-CN" altLang="en-US"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dirty="0"/>
                        <a:t>基于</a:t>
                      </a:r>
                      <a:r>
                        <a:rPr lang="zh-CN" altLang="en-US" sz="1600" b="1" dirty="0"/>
                        <a:t>至少一种国内主流开源操作系统</a:t>
                      </a:r>
                      <a:r>
                        <a:rPr lang="zh-CN" altLang="en-US" sz="1600" dirty="0"/>
                        <a:t>开展开 发、编译、运行与测试。</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在</a:t>
                      </a:r>
                      <a:r>
                        <a:rPr lang="en-US" altLang="zh-CN" sz="1600" dirty="0"/>
                        <a:t>Milk-VJupiter</a:t>
                      </a:r>
                      <a:r>
                        <a:rPr lang="zh-CN" altLang="en-US" sz="1600" dirty="0"/>
                        <a:t>平台的</a:t>
                      </a:r>
                      <a:r>
                        <a:rPr lang="en-US" altLang="zh-CN" sz="1600" dirty="0" err="1"/>
                        <a:t>BianbuOS</a:t>
                      </a:r>
                      <a:r>
                        <a:rPr lang="zh-CN" altLang="en-US" sz="1600" dirty="0"/>
                        <a:t>与 </a:t>
                      </a:r>
                      <a:r>
                        <a:rPr lang="en-US" altLang="zh-CN" sz="1600" dirty="0" err="1"/>
                        <a:t>openEuler</a:t>
                      </a:r>
                      <a:r>
                        <a:rPr lang="zh-CN" altLang="en-US" sz="1600" dirty="0"/>
                        <a:t>环境中完成</a:t>
                      </a:r>
                      <a:r>
                        <a:rPr lang="en-US" altLang="zh-CN" sz="1600" dirty="0"/>
                        <a:t>RVV</a:t>
                      </a:r>
                      <a:r>
                        <a:rPr lang="zh-CN" altLang="en-US" sz="1600" dirty="0"/>
                        <a:t>推理服务部署、</a:t>
                      </a:r>
                      <a:r>
                        <a:rPr lang="en-US" altLang="zh-CN" sz="1600" dirty="0"/>
                        <a:t>V</a:t>
                      </a:r>
                      <a:r>
                        <a:rPr lang="zh-CN" altLang="en-US" sz="1600" dirty="0"/>
                        <a:t>状态 观测和性能测试。</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nchorCtr="0">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b="1" dirty="0"/>
                        <a:t>问题量化</a:t>
                      </a:r>
                      <a:r>
                        <a:rPr lang="zh-CN" altLang="en-US" sz="1600" dirty="0"/>
                        <a:t>：建立可复现的</a:t>
                      </a:r>
                      <a:r>
                        <a:rPr lang="en-US" altLang="zh-CN" sz="1600" dirty="0"/>
                        <a:t>V</a:t>
                      </a:r>
                      <a:r>
                        <a:rPr lang="zh-CN" altLang="en-US" sz="1600" dirty="0"/>
                        <a:t>状态保存</a:t>
                      </a:r>
                      <a:r>
                        <a:rPr lang="en-US" altLang="zh-CN" sz="1600" dirty="0"/>
                        <a:t>/</a:t>
                      </a:r>
                      <a:r>
                        <a:rPr lang="zh-CN" altLang="en-US" sz="1600" dirty="0"/>
                        <a:t>恢复路径观测方法，分析其与并发度、模型规模及推理性能之间的关系。</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基于</a:t>
                      </a:r>
                      <a:r>
                        <a:rPr lang="en-US" altLang="zh-CN" sz="1600" dirty="0" err="1"/>
                        <a:t>bpftrace</a:t>
                      </a:r>
                      <a:r>
                        <a:rPr lang="zh-CN" altLang="en-US" sz="1600" dirty="0"/>
                        <a:t>实现了</a:t>
                      </a:r>
                      <a:r>
                        <a:rPr lang="en-US" altLang="zh-CN" sz="1600" dirty="0"/>
                        <a:t>V</a:t>
                      </a:r>
                      <a:r>
                        <a:rPr lang="zh-CN" altLang="en-US" sz="1600" dirty="0"/>
                        <a:t>状态条件事件 观测，能够统计保存</a:t>
                      </a:r>
                      <a:r>
                        <a:rPr lang="en-US" altLang="zh-CN" sz="1600" dirty="0"/>
                        <a:t>/</a:t>
                      </a:r>
                      <a:r>
                        <a:rPr lang="zh-CN" altLang="en-US" sz="1600" dirty="0"/>
                        <a:t>恢复条件事件、完成线程与 </a:t>
                      </a:r>
                      <a:r>
                        <a:rPr lang="en-US" altLang="zh-CN" sz="1600" dirty="0"/>
                        <a:t>CPU</a:t>
                      </a:r>
                      <a:r>
                        <a:rPr lang="zh-CN" altLang="en-US" sz="1600" dirty="0"/>
                        <a:t>归因，并对相关调度切换路径进行计时；在 </a:t>
                      </a:r>
                      <a:r>
                        <a:rPr lang="en-US" altLang="zh-CN" sz="1600" dirty="0"/>
                        <a:t>1B</a:t>
                      </a:r>
                      <a:r>
                        <a:rPr lang="zh-CN" altLang="en-US" sz="1600" dirty="0"/>
                        <a:t>、</a:t>
                      </a:r>
                      <a:r>
                        <a:rPr lang="en-US" altLang="zh-CN" sz="1600" dirty="0"/>
                        <a:t>3B</a:t>
                      </a:r>
                      <a:r>
                        <a:rPr lang="zh-CN" altLang="en-US" sz="1600" dirty="0"/>
                        <a:t>模型和</a:t>
                      </a:r>
                      <a:r>
                        <a:rPr lang="en-US" altLang="zh-CN" sz="1600" dirty="0"/>
                        <a:t>2</a:t>
                      </a:r>
                      <a:r>
                        <a:rPr lang="zh-CN" altLang="en-US" sz="1600" dirty="0"/>
                        <a:t>、</a:t>
                      </a:r>
                      <a:r>
                        <a:rPr lang="en-US" altLang="zh-CN" sz="1600" dirty="0"/>
                        <a:t>4</a:t>
                      </a:r>
                      <a:r>
                        <a:rPr lang="zh-CN" altLang="en-US" sz="1600" dirty="0"/>
                        <a:t>、</a:t>
                      </a:r>
                      <a:r>
                        <a:rPr lang="en-US" altLang="zh-CN" sz="1600" dirty="0"/>
                        <a:t>8</a:t>
                      </a:r>
                      <a:r>
                        <a:rPr lang="zh-CN" altLang="en-US" sz="1600" dirty="0"/>
                        <a:t>并发配置下完成了基线采集 与量化分析。</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nchorCtr="0">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性能评测</a:t>
                      </a:r>
                      <a:r>
                        <a:rPr lang="zh-CN" altLang="en-US" sz="1600" dirty="0"/>
                        <a:t>：在真实</a:t>
                      </a:r>
                      <a:r>
                        <a:rPr lang="en-US" altLang="zh-CN" sz="1600" dirty="0"/>
                        <a:t>RVV1.0</a:t>
                      </a:r>
                      <a:r>
                        <a:rPr lang="zh-CN" altLang="en-US" sz="1600" dirty="0"/>
                        <a:t>硬件上，采用参数 规模不超过</a:t>
                      </a:r>
                      <a:r>
                        <a:rPr lang="en-US" altLang="zh-CN" sz="1600" dirty="0"/>
                        <a:t>3B</a:t>
                      </a:r>
                      <a:r>
                        <a:rPr lang="zh-CN" altLang="en-US" sz="1600" dirty="0"/>
                        <a:t>的量化模型，在</a:t>
                      </a:r>
                      <a:r>
                        <a:rPr lang="en-US" altLang="zh-CN" sz="1600" dirty="0"/>
                        <a:t>2</a:t>
                      </a:r>
                      <a:r>
                        <a:rPr lang="zh-CN" altLang="en-US" sz="1600" dirty="0"/>
                        <a:t>、</a:t>
                      </a:r>
                      <a:r>
                        <a:rPr lang="en-US" altLang="zh-CN" sz="1600" dirty="0"/>
                        <a:t>4</a:t>
                      </a:r>
                      <a:r>
                        <a:rPr lang="zh-CN" altLang="en-US" sz="1600" dirty="0"/>
                        <a:t>、</a:t>
                      </a:r>
                      <a:r>
                        <a:rPr lang="en-US" altLang="zh-CN" sz="1600" dirty="0"/>
                        <a:t>8</a:t>
                      </a:r>
                      <a:r>
                        <a:rPr lang="zh-CN" altLang="en-US" sz="1600" dirty="0"/>
                        <a:t>并发 配置下开展重复测试，并对比</a:t>
                      </a:r>
                      <a:r>
                        <a:rPr lang="en-US" altLang="zh-CN" sz="1600" dirty="0"/>
                        <a:t>TPS</a:t>
                      </a:r>
                      <a:r>
                        <a:rPr lang="zh-CN" altLang="en-US" sz="1600" dirty="0"/>
                        <a:t>、平均 </a:t>
                      </a:r>
                      <a:r>
                        <a:rPr lang="en-US" altLang="zh-CN" sz="1600" dirty="0"/>
                        <a:t>TTFT</a:t>
                      </a:r>
                      <a:r>
                        <a:rPr lang="zh-CN" altLang="en-US" sz="1600" dirty="0"/>
                        <a:t>和</a:t>
                      </a:r>
                      <a:r>
                        <a:rPr lang="en-US" altLang="zh-CN" sz="1600" dirty="0"/>
                        <a:t>P95TTFT</a:t>
                      </a:r>
                      <a:r>
                        <a:rPr lang="zh-CN" altLang="en-US" sz="1600" dirty="0"/>
                        <a:t>。</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在</a:t>
                      </a:r>
                      <a:r>
                        <a:rPr lang="en-US" altLang="zh-CN" sz="1600" dirty="0"/>
                        <a:t>Milk-VJupiter</a:t>
                      </a:r>
                      <a:r>
                        <a:rPr lang="zh-CN" altLang="en-US" sz="1600" dirty="0"/>
                        <a:t>真实</a:t>
                      </a:r>
                      <a:r>
                        <a:rPr lang="en-US" altLang="zh-CN" sz="1600" dirty="0"/>
                        <a:t>RVV1.0</a:t>
                      </a:r>
                      <a:r>
                        <a:rPr lang="zh-CN" altLang="en-US" sz="1600" dirty="0"/>
                        <a:t>硬件上， 采用</a:t>
                      </a:r>
                      <a:r>
                        <a:rPr lang="en-US" altLang="zh-CN" sz="1600" dirty="0"/>
                        <a:t>Llama3.21B</a:t>
                      </a:r>
                      <a:r>
                        <a:rPr lang="zh-CN" altLang="en-US" sz="1600" dirty="0"/>
                        <a:t>、</a:t>
                      </a:r>
                      <a:r>
                        <a:rPr lang="en-US" altLang="zh-CN" sz="1600" dirty="0"/>
                        <a:t>3BQ4_K_M</a:t>
                      </a:r>
                      <a:r>
                        <a:rPr lang="zh-CN" altLang="en-US" sz="1600" dirty="0"/>
                        <a:t>模型完成了多轮重 复试验，并统一归档</a:t>
                      </a:r>
                      <a:r>
                        <a:rPr lang="en-US" altLang="zh-CN" sz="1600" dirty="0"/>
                        <a:t>TPS</a:t>
                      </a:r>
                      <a:r>
                        <a:rPr lang="zh-CN" altLang="en-US" sz="1600" dirty="0"/>
                        <a:t>、平均</a:t>
                      </a:r>
                      <a:r>
                        <a:rPr lang="en-US" altLang="zh-CN" sz="1600" dirty="0"/>
                        <a:t>TTFT</a:t>
                      </a:r>
                      <a:r>
                        <a:rPr lang="zh-CN" altLang="en-US" sz="1600" dirty="0"/>
                        <a:t>、</a:t>
                      </a:r>
                      <a:r>
                        <a:rPr lang="en-US" altLang="zh-CN" sz="1600" dirty="0"/>
                        <a:t>P95TTFT</a:t>
                      </a:r>
                      <a:r>
                        <a:rPr lang="zh-CN" altLang="en-US" sz="1600" dirty="0"/>
                        <a:t>、 </a:t>
                      </a:r>
                      <a:r>
                        <a:rPr lang="en-US" altLang="zh-CN" sz="1600" dirty="0"/>
                        <a:t>V</a:t>
                      </a:r>
                      <a:r>
                        <a:rPr lang="zh-CN" altLang="en-US" sz="1600" dirty="0"/>
                        <a:t>状态条件事件和单请求明细</a:t>
                      </a:r>
                      <a:r>
                        <a:rPr lang="en-US" altLang="zh-CN" sz="1600" dirty="0"/>
                        <a:t>CSV</a:t>
                      </a:r>
                      <a:r>
                        <a:rPr lang="zh-CN" altLang="en-US" sz="1600" dirty="0"/>
                        <a:t>。</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nchorCtr="0">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dirty="0"/>
                        <a:t>与</a:t>
                      </a:r>
                      <a:r>
                        <a:rPr lang="en-US" altLang="zh-CN" sz="1600" dirty="0"/>
                        <a:t>x86AVX2/AVX-512</a:t>
                      </a:r>
                      <a:r>
                        <a:rPr lang="zh-CN" altLang="en-US" sz="1600" dirty="0"/>
                        <a:t>平台进行</a:t>
                      </a:r>
                      <a:r>
                        <a:rPr lang="zh-CN" altLang="en-US" sz="1600" b="1" dirty="0"/>
                        <a:t>横向对比</a:t>
                      </a:r>
                      <a:r>
                        <a:rPr lang="zh-CN" altLang="en-US" sz="1600" dirty="0"/>
                        <a:t>，分 析</a:t>
                      </a:r>
                      <a:r>
                        <a:rPr lang="en-US" altLang="zh-CN" sz="1600" dirty="0"/>
                        <a:t>RVVVLA</a:t>
                      </a:r>
                      <a:r>
                        <a:rPr lang="zh-CN" altLang="en-US" sz="1600" dirty="0"/>
                        <a:t>设计在</a:t>
                      </a:r>
                      <a:r>
                        <a:rPr lang="en-US" altLang="zh-CN" sz="1600" dirty="0"/>
                        <a:t>V</a:t>
                      </a:r>
                      <a:r>
                        <a:rPr lang="zh-CN" altLang="en-US" sz="1600" dirty="0"/>
                        <a:t>状态切换问题上的特殊性。</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在</a:t>
                      </a:r>
                      <a:r>
                        <a:rPr lang="en-US" altLang="zh-CN" sz="1600" dirty="0"/>
                        <a:t>AMDRyzen78745H</a:t>
                      </a:r>
                      <a:r>
                        <a:rPr lang="zh-CN" altLang="en-US" sz="1600" dirty="0"/>
                        <a:t>的</a:t>
                      </a:r>
                      <a:r>
                        <a:rPr lang="en-US" altLang="zh-CN" sz="1600" dirty="0"/>
                        <a:t>AVX-512</a:t>
                      </a:r>
                      <a:r>
                        <a:rPr lang="zh-CN" altLang="en-US" sz="1600" dirty="0"/>
                        <a:t>环 境中完成了</a:t>
                      </a:r>
                      <a:r>
                        <a:rPr lang="en-US" altLang="zh-CN" sz="1600" dirty="0"/>
                        <a:t>3B</a:t>
                      </a:r>
                      <a:r>
                        <a:rPr lang="zh-CN" altLang="en-US" sz="1600" dirty="0"/>
                        <a:t>模型、</a:t>
                      </a:r>
                      <a:r>
                        <a:rPr lang="en-US" altLang="zh-CN" sz="1600" dirty="0"/>
                        <a:t>4</a:t>
                      </a:r>
                      <a:r>
                        <a:rPr lang="zh-CN" altLang="en-US" sz="1600" dirty="0"/>
                        <a:t>并发配置下的观测，并对比 分析了</a:t>
                      </a:r>
                      <a:r>
                        <a:rPr lang="en-US" altLang="zh-CN" sz="1600" dirty="0"/>
                        <a:t>RVV</a:t>
                      </a:r>
                      <a:r>
                        <a:rPr lang="zh-CN" altLang="en-US" sz="1600" dirty="0"/>
                        <a:t>的</a:t>
                      </a:r>
                      <a:r>
                        <a:rPr lang="en-US" altLang="zh-CN" sz="1600" dirty="0"/>
                        <a:t>VS</a:t>
                      </a:r>
                      <a:r>
                        <a:rPr lang="zh-CN" altLang="en-US" sz="1600" dirty="0"/>
                        <a:t>状态机制与</a:t>
                      </a:r>
                      <a:r>
                        <a:rPr lang="en-US" altLang="zh-CN" sz="1600" dirty="0"/>
                        <a:t>x86</a:t>
                      </a:r>
                      <a:r>
                        <a:rPr lang="zh-CN" altLang="en-US" sz="1600" dirty="0"/>
                        <a:t>的 </a:t>
                      </a:r>
                      <a:r>
                        <a:rPr lang="en-US" altLang="zh-CN" sz="1600" dirty="0"/>
                        <a:t>XSAVE/XSTATE_BV</a:t>
                      </a:r>
                      <a:r>
                        <a:rPr lang="zh-CN" altLang="en-US" sz="1600" dirty="0"/>
                        <a:t>状态管理及保存路径。</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nchorCtr="0">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量化分析工具功能</a:t>
                      </a:r>
                      <a:r>
                        <a:rPr lang="zh-CN" altLang="en-US" sz="1600" dirty="0"/>
                        <a:t>：统计</a:t>
                      </a:r>
                      <a:r>
                        <a:rPr lang="en-US" altLang="zh-CN" sz="1600" dirty="0"/>
                        <a:t>V</a:t>
                      </a:r>
                      <a:r>
                        <a:rPr lang="zh-CN" altLang="en-US" sz="1600" dirty="0"/>
                        <a:t>状态保存</a:t>
                      </a:r>
                      <a:r>
                        <a:rPr lang="en-US" altLang="zh-CN" sz="1600" dirty="0"/>
                        <a:t>/</a:t>
                      </a:r>
                      <a:r>
                        <a:rPr lang="zh-CN" altLang="en-US" sz="1600" dirty="0"/>
                        <a:t>恢复条 件事件、相关调度路径事件或</a:t>
                      </a:r>
                      <a:r>
                        <a:rPr lang="en-US" altLang="zh-CN" sz="1600" dirty="0" err="1"/>
                        <a:t>DirtyV</a:t>
                      </a:r>
                      <a:r>
                        <a:rPr lang="zh-CN" altLang="en-US" sz="1600" dirty="0"/>
                        <a:t>线程被 抢占事件，并对其开销进行量化。</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实现了</a:t>
                      </a:r>
                      <a:r>
                        <a:rPr lang="en-US" altLang="zh-CN" sz="1600" dirty="0"/>
                        <a:t>V</a:t>
                      </a:r>
                      <a:r>
                        <a:rPr lang="zh-CN" altLang="en-US" sz="1600" dirty="0"/>
                        <a:t>状态追踪脚本与自动化采集 流程，在</a:t>
                      </a:r>
                      <a:r>
                        <a:rPr lang="en-US" altLang="zh-CN" sz="1600" dirty="0" err="1"/>
                        <a:t>sched_switch</a:t>
                      </a:r>
                      <a:r>
                        <a:rPr lang="zh-CN" altLang="en-US" sz="1600" dirty="0"/>
                        <a:t>处识别满足</a:t>
                      </a:r>
                      <a:r>
                        <a:rPr lang="en-US" altLang="zh-CN" sz="1600" dirty="0"/>
                        <a:t>Dirty</a:t>
                      </a:r>
                      <a:r>
                        <a:rPr lang="zh-CN" altLang="en-US" sz="1600" dirty="0"/>
                        <a:t>条件的任务 切换，并通过</a:t>
                      </a:r>
                      <a:r>
                        <a:rPr lang="en-US" altLang="zh-CN" sz="1600" dirty="0" err="1"/>
                        <a:t>finish_task_switch</a:t>
                      </a:r>
                      <a:r>
                        <a:rPr lang="zh-CN" altLang="en-US" sz="1600" dirty="0"/>
                        <a:t>路径计时估算涉及 </a:t>
                      </a:r>
                      <a:r>
                        <a:rPr lang="en-US" altLang="zh-CN" sz="1600" dirty="0"/>
                        <a:t>V</a:t>
                      </a:r>
                      <a:r>
                        <a:rPr lang="zh-CN" altLang="en-US" sz="1600" dirty="0"/>
                        <a:t>状态任务的切换开销。</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nchorCtr="0">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pic>
        <p:nvPicPr>
          <p:cNvPr id="4" name="图片 3" descr="对号"/>
          <p:cNvPicPr>
            <a:picLocks noChangeAspect="1"/>
          </p:cNvPicPr>
          <p:nvPr/>
        </p:nvPicPr>
        <p:blipFill>
          <a:blip r:embed="rId1"/>
          <a:stretch>
            <a:fillRect/>
          </a:stretch>
        </p:blipFill>
        <p:spPr>
          <a:xfrm>
            <a:off x="10913110" y="2120900"/>
            <a:ext cx="653415" cy="653415"/>
          </a:xfrm>
          <a:prstGeom prst="rect">
            <a:avLst/>
          </a:prstGeom>
        </p:spPr>
      </p:pic>
      <p:pic>
        <p:nvPicPr>
          <p:cNvPr id="5" name="图片 4" descr="对号"/>
          <p:cNvPicPr>
            <a:picLocks noChangeAspect="1"/>
          </p:cNvPicPr>
          <p:nvPr/>
        </p:nvPicPr>
        <p:blipFill>
          <a:blip r:embed="rId1"/>
          <a:stretch>
            <a:fillRect/>
          </a:stretch>
        </p:blipFill>
        <p:spPr>
          <a:xfrm>
            <a:off x="10913110" y="2965450"/>
            <a:ext cx="653415" cy="653415"/>
          </a:xfrm>
          <a:prstGeom prst="rect">
            <a:avLst/>
          </a:prstGeom>
        </p:spPr>
      </p:pic>
      <p:pic>
        <p:nvPicPr>
          <p:cNvPr id="6" name="图片 5" descr="对号"/>
          <p:cNvPicPr>
            <a:picLocks noChangeAspect="1"/>
          </p:cNvPicPr>
          <p:nvPr/>
        </p:nvPicPr>
        <p:blipFill>
          <a:blip r:embed="rId1"/>
          <a:stretch>
            <a:fillRect/>
          </a:stretch>
        </p:blipFill>
        <p:spPr>
          <a:xfrm>
            <a:off x="10913110" y="4039235"/>
            <a:ext cx="653415" cy="653415"/>
          </a:xfrm>
          <a:prstGeom prst="rect">
            <a:avLst/>
          </a:prstGeom>
        </p:spPr>
      </p:pic>
      <p:pic>
        <p:nvPicPr>
          <p:cNvPr id="7" name="图片 6" descr="对号"/>
          <p:cNvPicPr>
            <a:picLocks noChangeAspect="1"/>
          </p:cNvPicPr>
          <p:nvPr/>
        </p:nvPicPr>
        <p:blipFill>
          <a:blip r:embed="rId1"/>
          <a:stretch>
            <a:fillRect/>
          </a:stretch>
        </p:blipFill>
        <p:spPr>
          <a:xfrm>
            <a:off x="10913110" y="5017135"/>
            <a:ext cx="653415" cy="653415"/>
          </a:xfrm>
          <a:prstGeom prst="rect">
            <a:avLst/>
          </a:prstGeom>
        </p:spPr>
      </p:pic>
      <p:pic>
        <p:nvPicPr>
          <p:cNvPr id="8" name="图片 7" descr="对号"/>
          <p:cNvPicPr>
            <a:picLocks noChangeAspect="1"/>
          </p:cNvPicPr>
          <p:nvPr/>
        </p:nvPicPr>
        <p:blipFill>
          <a:blip r:embed="rId1"/>
          <a:stretch>
            <a:fillRect/>
          </a:stretch>
        </p:blipFill>
        <p:spPr>
          <a:xfrm>
            <a:off x="10913110" y="5854065"/>
            <a:ext cx="653415" cy="6534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5.2 </a:t>
            </a:r>
            <a:r>
              <a:rPr lang="zh-CN" altLang="en-US" dirty="0"/>
              <a:t>项目成果</a:t>
            </a:r>
            <a:endParaRPr lang="zh-CN" altLang="en-US" dirty="0"/>
          </a:p>
        </p:txBody>
      </p:sp>
      <p:graphicFrame>
        <p:nvGraphicFramePr>
          <p:cNvPr id="9" name="表格 8"/>
          <p:cNvGraphicFramePr/>
          <p:nvPr/>
        </p:nvGraphicFramePr>
        <p:xfrm>
          <a:off x="629428" y="1325128"/>
          <a:ext cx="10703589" cy="4682273"/>
        </p:xfrm>
        <a:graphic>
          <a:graphicData uri="http://schemas.openxmlformats.org/drawingml/2006/table">
            <a:tbl>
              <a:tblPr/>
              <a:tblGrid>
                <a:gridCol w="4302790"/>
                <a:gridCol w="6400799"/>
              </a:tblGrid>
              <a:tr h="540617">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赛题要求</a:t>
                      </a:r>
                      <a:endParaRPr lang="zh-CN"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完成情况</a:t>
                      </a:r>
                      <a:endParaRPr lang="zh-CN" altLang="en-US"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b="1" dirty="0"/>
                        <a:t>调度优化策略功能</a:t>
                      </a:r>
                      <a:r>
                        <a:rPr lang="zh-CN" altLang="en-US" sz="1600" dirty="0"/>
                        <a:t>：至少一种调度策略功能完 整且能够正常运行。</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六种通用调度策略与</a:t>
                      </a:r>
                      <a:r>
                        <a:rPr lang="en-US" altLang="zh-CN" sz="1600" dirty="0" err="1"/>
                        <a:t>sched_ext</a:t>
                      </a:r>
                      <a:r>
                        <a:rPr lang="zh-CN" altLang="en-US" sz="1600" dirty="0"/>
                        <a:t>自定义 调度原型均已纳入自动化评测流程，并完成了相应 的功能验证。</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b="1" dirty="0"/>
                        <a:t>代码正确性与性能</a:t>
                      </a:r>
                      <a:r>
                        <a:rPr lang="zh-CN" altLang="en-US" sz="1600" dirty="0"/>
                        <a:t>：在多种并发场景下验证优 化效果的稳定性与可重复性。</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已使用不同规模的模型，在</a:t>
                      </a:r>
                      <a:r>
                        <a:rPr lang="en-US" altLang="zh-CN" sz="1600" dirty="0"/>
                        <a:t>2</a:t>
                      </a:r>
                      <a:r>
                        <a:rPr lang="zh-CN" altLang="en-US" sz="1600" dirty="0"/>
                        <a:t>、</a:t>
                      </a:r>
                      <a:r>
                        <a:rPr lang="en-US" altLang="zh-CN" sz="1600" dirty="0"/>
                        <a:t>4</a:t>
                      </a:r>
                      <a:r>
                        <a:rPr lang="zh-CN" altLang="en-US" sz="1600" dirty="0"/>
                        <a:t>、</a:t>
                      </a:r>
                      <a:r>
                        <a:rPr lang="en-US" altLang="zh-CN" sz="1600" dirty="0"/>
                        <a:t>8</a:t>
                      </a:r>
                      <a:r>
                        <a:rPr lang="zh-CN" altLang="en-US" sz="1600" dirty="0"/>
                        <a:t>并 发配置下开展重复测试，并通过统一的参数配置与 结果归档流程保证试验过程可复现。</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代码风格、注释、质量与构建说明</a:t>
                      </a:r>
                      <a:r>
                        <a:rPr lang="zh-CN" altLang="en-US" sz="1600" dirty="0"/>
                        <a:t>。</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提供了包含必要注释和</a:t>
                      </a:r>
                      <a:r>
                        <a:rPr lang="en-US" altLang="zh-CN" sz="1600" dirty="0"/>
                        <a:t>Markdown</a:t>
                      </a:r>
                      <a:r>
                        <a:rPr lang="zh-CN" altLang="en-US" sz="1600" dirty="0"/>
                        <a:t>说明 文档的自动化评测脚本、</a:t>
                      </a:r>
                      <a:r>
                        <a:rPr lang="en-US" altLang="zh-CN" sz="1600" dirty="0"/>
                        <a:t>trace</a:t>
                      </a:r>
                      <a:r>
                        <a:rPr lang="zh-CN" altLang="en-US" sz="1600" dirty="0"/>
                        <a:t>追踪脚本、自定义调 度配置及通用策略配置，可用于复现主要测试流程。</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设计方案</a:t>
                      </a:r>
                      <a:r>
                        <a:rPr lang="zh-CN" altLang="en-US" sz="1600" dirty="0"/>
                        <a:t>：准确分析</a:t>
                      </a:r>
                      <a:r>
                        <a:rPr lang="en-US" altLang="zh-CN" sz="1600" dirty="0"/>
                        <a:t>V</a:t>
                      </a:r>
                      <a:r>
                        <a:rPr lang="zh-CN" altLang="en-US" sz="1600" dirty="0"/>
                        <a:t>状态切换问题，并阐明 其与</a:t>
                      </a:r>
                      <a:r>
                        <a:rPr lang="en-US" altLang="zh-CN" sz="1600" dirty="0"/>
                        <a:t>Linux</a:t>
                      </a:r>
                      <a:r>
                        <a:rPr lang="zh-CN" altLang="en-US" sz="1600" dirty="0"/>
                        <a:t>调度机制之间的关系。</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分析了</a:t>
                      </a:r>
                      <a:r>
                        <a:rPr lang="en-US" altLang="zh-CN" sz="1600" dirty="0" err="1"/>
                        <a:t>RVVDirty</a:t>
                      </a:r>
                      <a:r>
                        <a:rPr lang="zh-CN" altLang="en-US" sz="1600" dirty="0"/>
                        <a:t>状态、上下文切换路 径、</a:t>
                      </a:r>
                      <a:r>
                        <a:rPr lang="en-US" altLang="zh-CN" sz="1600" dirty="0"/>
                        <a:t>CFS</a:t>
                      </a:r>
                      <a:r>
                        <a:rPr lang="zh-CN" altLang="en-US" sz="1600" dirty="0"/>
                        <a:t>调度竞争与线程迁移之间的关系，并说明 了</a:t>
                      </a:r>
                      <a:r>
                        <a:rPr lang="en-US" altLang="zh-CN" sz="1600" dirty="0"/>
                        <a:t>SCHED_BATCH</a:t>
                      </a:r>
                      <a:r>
                        <a:rPr lang="zh-CN" altLang="en-US" sz="1600" dirty="0"/>
                        <a:t>、</a:t>
                      </a:r>
                      <a:r>
                        <a:rPr lang="en-US" altLang="zh-CN" sz="1600" dirty="0"/>
                        <a:t>SCHED_FIFO</a:t>
                      </a:r>
                      <a:r>
                        <a:rPr lang="zh-CN" altLang="en-US" sz="1600" dirty="0"/>
                        <a:t>和</a:t>
                      </a:r>
                      <a:r>
                        <a:rPr lang="en-US" altLang="zh-CN" sz="1600" dirty="0" err="1"/>
                        <a:t>sched_ext</a:t>
                      </a:r>
                      <a:r>
                        <a:rPr lang="zh-CN" altLang="en-US" sz="1600" dirty="0"/>
                        <a:t>的 适用场景。</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实现方案</a:t>
                      </a:r>
                      <a:r>
                        <a:rPr lang="zh-CN" altLang="en-US" sz="1600" dirty="0"/>
                        <a:t>：完整说明系统架构、关键流程、实 现细节及相关技术调研。</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给出了用户层、内核层和</a:t>
                      </a:r>
                      <a:r>
                        <a:rPr lang="en-US" altLang="zh-CN" sz="1600" dirty="0"/>
                        <a:t>CPU</a:t>
                      </a:r>
                      <a:r>
                        <a:rPr lang="zh-CN" altLang="en-US" sz="1600" dirty="0"/>
                        <a:t>层的系 统架构，说明了</a:t>
                      </a:r>
                      <a:r>
                        <a:rPr lang="en-US" altLang="zh-CN" sz="1600" dirty="0"/>
                        <a:t>llama-server</a:t>
                      </a:r>
                      <a:r>
                        <a:rPr lang="zh-CN" altLang="en-US" sz="1600" dirty="0"/>
                        <a:t>请求处理、</a:t>
                      </a:r>
                      <a:r>
                        <a:rPr lang="en-US" altLang="zh-CN" sz="1600" dirty="0"/>
                        <a:t>V</a:t>
                      </a:r>
                      <a:r>
                        <a:rPr lang="zh-CN" altLang="en-US" sz="1600" dirty="0"/>
                        <a:t>状态追 踪、调度策略部署及结果归档流程，并补充了 </a:t>
                      </a:r>
                      <a:r>
                        <a:rPr lang="en-US" altLang="zh-CN" sz="1600" dirty="0" err="1"/>
                        <a:t>sched_ext</a:t>
                      </a:r>
                      <a:r>
                        <a:rPr lang="zh-CN" altLang="en-US" sz="1600" dirty="0"/>
                        <a:t>、</a:t>
                      </a:r>
                      <a:r>
                        <a:rPr lang="en-US" altLang="zh-CN" sz="1600" dirty="0"/>
                        <a:t>RVV</a:t>
                      </a:r>
                      <a:r>
                        <a:rPr lang="zh-CN" altLang="en-US" sz="1600" dirty="0"/>
                        <a:t>与</a:t>
                      </a:r>
                      <a:r>
                        <a:rPr lang="en-US" altLang="zh-CN" sz="1600" dirty="0"/>
                        <a:t>x86</a:t>
                      </a:r>
                      <a:r>
                        <a:rPr lang="zh-CN" altLang="en-US" sz="1600" dirty="0"/>
                        <a:t>状态管理机制的相关调研。</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bl>
          </a:graphicData>
        </a:graphic>
      </p:graphicFrame>
      <p:pic>
        <p:nvPicPr>
          <p:cNvPr id="4" name="图片 3" descr="对号"/>
          <p:cNvPicPr>
            <a:picLocks noChangeAspect="1"/>
          </p:cNvPicPr>
          <p:nvPr/>
        </p:nvPicPr>
        <p:blipFill>
          <a:blip r:embed="rId1"/>
          <a:stretch>
            <a:fillRect/>
          </a:stretch>
        </p:blipFill>
        <p:spPr>
          <a:xfrm>
            <a:off x="10913110" y="2120900"/>
            <a:ext cx="653415" cy="653415"/>
          </a:xfrm>
          <a:prstGeom prst="rect">
            <a:avLst/>
          </a:prstGeom>
        </p:spPr>
      </p:pic>
      <p:pic>
        <p:nvPicPr>
          <p:cNvPr id="2" name="图片 1" descr="对号"/>
          <p:cNvPicPr>
            <a:picLocks noChangeAspect="1"/>
          </p:cNvPicPr>
          <p:nvPr/>
        </p:nvPicPr>
        <p:blipFill>
          <a:blip r:embed="rId1"/>
          <a:stretch>
            <a:fillRect/>
          </a:stretch>
        </p:blipFill>
        <p:spPr>
          <a:xfrm>
            <a:off x="10913110" y="2891155"/>
            <a:ext cx="653415" cy="653415"/>
          </a:xfrm>
          <a:prstGeom prst="rect">
            <a:avLst/>
          </a:prstGeom>
        </p:spPr>
      </p:pic>
      <p:pic>
        <p:nvPicPr>
          <p:cNvPr id="5" name="图片 4" descr="对号"/>
          <p:cNvPicPr>
            <a:picLocks noChangeAspect="1"/>
          </p:cNvPicPr>
          <p:nvPr/>
        </p:nvPicPr>
        <p:blipFill>
          <a:blip r:embed="rId1"/>
          <a:stretch>
            <a:fillRect/>
          </a:stretch>
        </p:blipFill>
        <p:spPr>
          <a:xfrm>
            <a:off x="10913110" y="3735705"/>
            <a:ext cx="653415" cy="653415"/>
          </a:xfrm>
          <a:prstGeom prst="rect">
            <a:avLst/>
          </a:prstGeom>
        </p:spPr>
      </p:pic>
      <p:pic>
        <p:nvPicPr>
          <p:cNvPr id="6" name="图片 5" descr="对号"/>
          <p:cNvPicPr>
            <a:picLocks noChangeAspect="1"/>
          </p:cNvPicPr>
          <p:nvPr/>
        </p:nvPicPr>
        <p:blipFill>
          <a:blip r:embed="rId1"/>
          <a:stretch>
            <a:fillRect/>
          </a:stretch>
        </p:blipFill>
        <p:spPr>
          <a:xfrm>
            <a:off x="10913110" y="4639310"/>
            <a:ext cx="653415" cy="653415"/>
          </a:xfrm>
          <a:prstGeom prst="rect">
            <a:avLst/>
          </a:prstGeom>
        </p:spPr>
      </p:pic>
      <p:pic>
        <p:nvPicPr>
          <p:cNvPr id="7" name="图片 6" descr="对号"/>
          <p:cNvPicPr>
            <a:picLocks noChangeAspect="1"/>
          </p:cNvPicPr>
          <p:nvPr/>
        </p:nvPicPr>
        <p:blipFill>
          <a:blip r:embed="rId1"/>
          <a:stretch>
            <a:fillRect/>
          </a:stretch>
        </p:blipFill>
        <p:spPr>
          <a:xfrm>
            <a:off x="10913110" y="5490845"/>
            <a:ext cx="653415" cy="6534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5.2 </a:t>
            </a:r>
            <a:r>
              <a:rPr lang="zh-CN" altLang="en-US" dirty="0"/>
              <a:t>项目成果</a:t>
            </a:r>
            <a:endParaRPr lang="zh-CN" altLang="en-US" dirty="0"/>
          </a:p>
        </p:txBody>
      </p:sp>
      <p:graphicFrame>
        <p:nvGraphicFramePr>
          <p:cNvPr id="2" name="表格 1"/>
          <p:cNvGraphicFramePr/>
          <p:nvPr/>
        </p:nvGraphicFramePr>
        <p:xfrm>
          <a:off x="629428" y="1325128"/>
          <a:ext cx="10703589" cy="3798353"/>
        </p:xfrm>
        <a:graphic>
          <a:graphicData uri="http://schemas.openxmlformats.org/drawingml/2006/table">
            <a:tbl>
              <a:tblPr/>
              <a:tblGrid>
                <a:gridCol w="4302790"/>
                <a:gridCol w="6400799"/>
              </a:tblGrid>
              <a:tr h="540617">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赛题要求</a:t>
                      </a:r>
                      <a:endParaRPr lang="zh-CN"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ctr">
                        <a:lnSpc>
                          <a:spcPts val="2000"/>
                        </a:lnSpc>
                        <a:spcBef>
                          <a:spcPct val="0"/>
                        </a:spcBef>
                        <a:spcAft>
                          <a:spcPct val="0"/>
                        </a:spcAft>
                      </a:pPr>
                      <a:r>
                        <a:rPr lang="zh-CN" altLang="en-US" sz="2000" b="1" i="0" dirty="0">
                          <a:solidFill>
                            <a:srgbClr val="333333"/>
                          </a:solidFill>
                          <a:latin typeface="微软雅黑" panose="020B0503020204020204" pitchFamily="34" charset="-122"/>
                          <a:ea typeface="微软雅黑" panose="020B0503020204020204" pitchFamily="34" charset="-122"/>
                        </a:rPr>
                        <a:t>完成情况</a:t>
                      </a:r>
                      <a:endParaRPr lang="zh-CN" altLang="en-US" sz="2000" b="1"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solidFill>
                        <a:srgbClr val="767C85"/>
                      </a:solidFill>
                      <a:prstDash val="solid"/>
                      <a:headEnd type="none" w="med" len="med"/>
                      <a:tailEnd type="none" w="med" len="med"/>
                    </a:lnL>
                    <a:lnR w="6350" cap="flat" cmpd="sng">
                      <a:solidFill>
                        <a:srgbClr val="767C85"/>
                      </a:solidFill>
                      <a:prstDash val="solid"/>
                      <a:headEnd type="none" w="med" len="med"/>
                      <a:tailEnd type="none" w="med" len="med"/>
                    </a:lnR>
                    <a:lnT w="6350" cap="flat" cmpd="sng">
                      <a:solidFill>
                        <a:srgbClr val="767C85"/>
                      </a:solidFill>
                      <a:prstDash val="soli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b="1" dirty="0"/>
                        <a:t>运行效果与测试结果</a:t>
                      </a:r>
                      <a:r>
                        <a:rPr lang="zh-CN" altLang="en-US" sz="1600" dirty="0"/>
                        <a:t>：规范说明测试环境、统 一基线、重复试验、结果归档及可复现流程。</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完整记录了软硬件环境、模型与服务参 数、并发配置、</a:t>
                      </a:r>
                      <a:r>
                        <a:rPr lang="en-US" altLang="zh-CN" sz="1600" dirty="0"/>
                        <a:t>CPU</a:t>
                      </a:r>
                      <a:r>
                        <a:rPr lang="zh-CN" altLang="en-US" sz="1600" dirty="0"/>
                        <a:t>调度策略和原始试验结果，并 提供了相应的实验演示视频。</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solidFill>
                        <a:srgbClr val="767C85"/>
                      </a:solidFill>
                      <a:prstDash val="solid"/>
                      <a:headEnd type="none" w="med" len="med"/>
                      <a:tailEnd type="none" w="med" len="med"/>
                    </a:lnB>
                    <a:solidFill>
                      <a:srgbClr val="FFFFFF"/>
                    </a:solidFill>
                  </a:tcPr>
                </a:tc>
              </a:tr>
              <a:tr h="783048">
                <a:tc>
                  <a:txBody>
                    <a:bodyPr/>
                    <a:lstStyle/>
                    <a:p>
                      <a:r>
                        <a:rPr lang="zh-CN" altLang="en-US" sz="1600" b="1" dirty="0"/>
                        <a:t>特色创新</a:t>
                      </a:r>
                      <a:r>
                        <a:rPr lang="zh-CN" altLang="en-US" sz="1600" dirty="0"/>
                        <a:t>：提出新的调度原语或用户态</a:t>
                      </a:r>
                      <a:r>
                        <a:rPr lang="en-US" altLang="zh-CN" sz="1600" dirty="0"/>
                        <a:t>–</a:t>
                      </a:r>
                      <a:r>
                        <a:rPr lang="zh-CN" altLang="en-US" sz="1600" dirty="0"/>
                        <a:t>内核 态协同机制，或形成更深入的问题分析。</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在常规核心绑定和调度类参数调整之 外，实现了基于</a:t>
                      </a:r>
                      <a:r>
                        <a:rPr lang="en-US" altLang="zh-CN" sz="1600" dirty="0" err="1"/>
                        <a:t>sched_extBPF</a:t>
                      </a:r>
                      <a:r>
                        <a:rPr lang="zh-CN" altLang="en-US" sz="1600" dirty="0"/>
                        <a:t>的自定义调度原型。</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代码提交情况</a:t>
                      </a:r>
                      <a:r>
                        <a:rPr lang="zh-CN" altLang="en-US" sz="1600" dirty="0"/>
                        <a:t>：</a:t>
                      </a:r>
                      <a:r>
                        <a:rPr lang="en-US" altLang="zh-CN" sz="1600" dirty="0"/>
                        <a:t>Git</a:t>
                      </a:r>
                      <a:r>
                        <a:rPr lang="zh-CN" altLang="en-US" sz="1600" dirty="0"/>
                        <a:t>提交历史规范、工作量分布合理，提交信息能够清晰反映项目迭代过程。</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en-US" altLang="zh-CN" sz="1600" dirty="0"/>
                        <a:t>Git</a:t>
                      </a:r>
                      <a:r>
                        <a:rPr lang="zh-CN" altLang="en-US" sz="1600" dirty="0"/>
                        <a:t>仓库提交分支清晰，工作量合理，提交信息规范。</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r h="783048">
                <a:tc>
                  <a:txBody>
                    <a:bodyPr/>
                    <a:lstStyle/>
                    <a:p>
                      <a:r>
                        <a:rPr lang="zh-CN" altLang="en-US" sz="1600" b="1" dirty="0"/>
                        <a:t>团队协作</a:t>
                      </a:r>
                      <a:r>
                        <a:rPr lang="zh-CN" altLang="en-US" sz="1600" dirty="0"/>
                        <a:t>情况：成员分工明确，协作机制有效。</a:t>
                      </a:r>
                      <a:endParaRPr lang="zh-CN" sz="1600" dirty="0"/>
                    </a:p>
                  </a:txBody>
                  <a:tcPr marL="123825" marR="123825" marT="57150" marB="57150" anchor="ctr">
                    <a:lnL w="6350" cap="flat" cmpd="sng">
                      <a:solidFill>
                        <a:srgbClr val="767C85"/>
                      </a:solidFill>
                      <a:prstDash val="solid"/>
                      <a:headEnd type="none" w="med" len="med"/>
                      <a:tailEnd type="none" w="med" len="med"/>
                    </a:lnL>
                    <a:lnR w="6350" cap="flat" cmpd="sng" algn="ctr">
                      <a:solidFill>
                        <a:srgbClr val="767C85"/>
                      </a:solidFill>
                      <a:prstDash val="solid"/>
                      <a:roun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c>
                  <a:txBody>
                    <a:bodyPr/>
                    <a:lstStyle/>
                    <a:p>
                      <a:pPr marL="0" indent="0" algn="l">
                        <a:lnSpc>
                          <a:spcPts val="2000"/>
                        </a:lnSpc>
                        <a:spcBef>
                          <a:spcPct val="0"/>
                        </a:spcBef>
                        <a:spcAft>
                          <a:spcPct val="0"/>
                        </a:spcAft>
                      </a:pPr>
                      <a:r>
                        <a:rPr lang="zh-CN" altLang="en-US" sz="1600" dirty="0"/>
                        <a:t>团队通过飞书开展任务分工、技术讨 论与进度同步，并使用</a:t>
                      </a:r>
                      <a:r>
                        <a:rPr lang="en-US" altLang="zh-CN" sz="1600" dirty="0"/>
                        <a:t>Git</a:t>
                      </a:r>
                      <a:r>
                        <a:rPr lang="zh-CN" altLang="en-US" sz="1600" dirty="0"/>
                        <a:t>进行版本管理，通过提 交记录持续跟踪各模块的开发、集成与测试进展。</a:t>
                      </a:r>
                      <a:endParaRPr lang="zh-CN" altLang="en-US" sz="1600" i="0" dirty="0">
                        <a:solidFill>
                          <a:srgbClr val="333333"/>
                        </a:solidFill>
                        <a:latin typeface="微软雅黑" panose="020B0503020204020204" pitchFamily="34" charset="-122"/>
                        <a:ea typeface="微软雅黑" panose="020B0503020204020204" pitchFamily="34" charset="-122"/>
                      </a:endParaRPr>
                    </a:p>
                  </a:txBody>
                  <a:tcPr marL="123825" marR="123825" marT="57150" marB="57150" anchor="ctr">
                    <a:lnL w="6350" cap="flat" cmpd="sng" algn="ctr">
                      <a:solidFill>
                        <a:srgbClr val="767C85"/>
                      </a:solidFill>
                      <a:prstDash val="solid"/>
                      <a:round/>
                      <a:headEnd type="none" w="med" len="med"/>
                      <a:tailEnd type="none" w="med" len="med"/>
                    </a:lnL>
                    <a:lnR w="6350" cap="flat" cmpd="sng">
                      <a:solidFill>
                        <a:srgbClr val="767C85"/>
                      </a:solidFill>
                      <a:prstDash val="solid"/>
                      <a:headEnd type="none" w="med" len="med"/>
                      <a:tailEnd type="none" w="med" len="med"/>
                    </a:lnR>
                    <a:lnT w="6350" cap="flat" cmpd="sng" algn="ctr">
                      <a:solidFill>
                        <a:srgbClr val="767C85"/>
                      </a:solidFill>
                      <a:prstDash val="solid"/>
                      <a:round/>
                      <a:headEnd type="none" w="med" len="med"/>
                      <a:tailEnd type="none" w="med" len="med"/>
                    </a:lnT>
                    <a:lnB w="6350" cap="flat" cmpd="sng" algn="ctr">
                      <a:solidFill>
                        <a:srgbClr val="767C85"/>
                      </a:solidFill>
                      <a:prstDash val="solid"/>
                      <a:round/>
                      <a:headEnd type="none" w="med" len="med"/>
                      <a:tailEnd type="none" w="med" len="med"/>
                    </a:lnB>
                    <a:solidFill>
                      <a:srgbClr val="FFFFFF"/>
                    </a:solidFill>
                  </a:tcPr>
                </a:tc>
              </a:tr>
            </a:tbl>
          </a:graphicData>
        </a:graphic>
      </p:graphicFrame>
      <p:pic>
        <p:nvPicPr>
          <p:cNvPr id="4" name="图片 3" descr="对号"/>
          <p:cNvPicPr>
            <a:picLocks noChangeAspect="1"/>
          </p:cNvPicPr>
          <p:nvPr/>
        </p:nvPicPr>
        <p:blipFill>
          <a:blip r:embed="rId1"/>
          <a:stretch>
            <a:fillRect/>
          </a:stretch>
        </p:blipFill>
        <p:spPr>
          <a:xfrm>
            <a:off x="10913110" y="2120900"/>
            <a:ext cx="653415" cy="653415"/>
          </a:xfrm>
          <a:prstGeom prst="rect">
            <a:avLst/>
          </a:prstGeom>
        </p:spPr>
      </p:pic>
      <p:pic>
        <p:nvPicPr>
          <p:cNvPr id="5" name="图片 4" descr="对号"/>
          <p:cNvPicPr>
            <a:picLocks noChangeAspect="1"/>
          </p:cNvPicPr>
          <p:nvPr/>
        </p:nvPicPr>
        <p:blipFill>
          <a:blip r:embed="rId1"/>
          <a:stretch>
            <a:fillRect/>
          </a:stretch>
        </p:blipFill>
        <p:spPr>
          <a:xfrm>
            <a:off x="10913110" y="2897505"/>
            <a:ext cx="653415" cy="653415"/>
          </a:xfrm>
          <a:prstGeom prst="rect">
            <a:avLst/>
          </a:prstGeom>
        </p:spPr>
      </p:pic>
      <p:pic>
        <p:nvPicPr>
          <p:cNvPr id="6" name="图片 5" descr="对号"/>
          <p:cNvPicPr>
            <a:picLocks noChangeAspect="1"/>
          </p:cNvPicPr>
          <p:nvPr/>
        </p:nvPicPr>
        <p:blipFill>
          <a:blip r:embed="rId1"/>
          <a:stretch>
            <a:fillRect/>
          </a:stretch>
        </p:blipFill>
        <p:spPr>
          <a:xfrm>
            <a:off x="10913110" y="3764280"/>
            <a:ext cx="653415" cy="653415"/>
          </a:xfrm>
          <a:prstGeom prst="rect">
            <a:avLst/>
          </a:prstGeom>
        </p:spPr>
      </p:pic>
      <p:pic>
        <p:nvPicPr>
          <p:cNvPr id="7" name="图片 6" descr="对号"/>
          <p:cNvPicPr>
            <a:picLocks noChangeAspect="1"/>
          </p:cNvPicPr>
          <p:nvPr/>
        </p:nvPicPr>
        <p:blipFill>
          <a:blip r:embed="rId1"/>
          <a:stretch>
            <a:fillRect/>
          </a:stretch>
        </p:blipFill>
        <p:spPr>
          <a:xfrm>
            <a:off x="10913110" y="4631055"/>
            <a:ext cx="653415" cy="6534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8955" y="522605"/>
            <a:ext cx="7624445" cy="491490"/>
          </a:xfrm>
        </p:spPr>
        <p:txBody>
          <a:bodyPr/>
          <a:lstStyle/>
          <a:p>
            <a:r>
              <a:rPr lang="en-US" altLang="zh-CN" dirty="0"/>
              <a:t>5.3 </a:t>
            </a:r>
            <a:r>
              <a:rPr lang="zh-CN" altLang="en-US" dirty="0"/>
              <a:t>展望</a:t>
            </a:r>
            <a:endParaRPr lang="zh-CN" altLang="en-US" dirty="0"/>
          </a:p>
        </p:txBody>
      </p:sp>
      <p:grpSp>
        <p:nvGrpSpPr>
          <p:cNvPr id="7" name="组合 6"/>
          <p:cNvGrpSpPr/>
          <p:nvPr/>
        </p:nvGrpSpPr>
        <p:grpSpPr>
          <a:xfrm>
            <a:off x="1741805" y="1706880"/>
            <a:ext cx="8736965" cy="3909695"/>
            <a:chOff x="6074122" y="2794742"/>
            <a:chExt cx="5545400" cy="3503844"/>
          </a:xfrm>
          <a:effectLst>
            <a:outerShdw blurRad="50800" dist="38100" dir="2700000" algn="tl" rotWithShape="0">
              <a:prstClr val="black">
                <a:alpha val="40000"/>
              </a:prstClr>
            </a:outerShdw>
          </a:effectLst>
        </p:grpSpPr>
        <p:sp>
          <p:nvSpPr>
            <p:cNvPr id="8" name="矩形 7"/>
            <p:cNvSpPr/>
            <p:nvPr/>
          </p:nvSpPr>
          <p:spPr>
            <a:xfrm>
              <a:off x="6074122" y="3306348"/>
              <a:ext cx="5545400" cy="2992238"/>
            </a:xfrm>
            <a:prstGeom prst="rect">
              <a:avLst/>
            </a:prstGeom>
            <a:solidFill>
              <a:schemeClr val="bg1"/>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lnSpc>
                  <a:spcPct val="150000"/>
                </a:lnSpc>
                <a:buClrTx/>
                <a:buSzTx/>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sym typeface="+mn-ea"/>
                </a:rPr>
                <a:t>打通芯片-系统-推理框架三层协同分析路径：</a:t>
              </a:r>
              <a:r>
                <a:rPr lang="zh-CN" altLang="en-US" dirty="0">
                  <a:solidFill>
                    <a:schemeClr val="tx1"/>
                  </a:solidFill>
                  <a:latin typeface="微软雅黑" panose="020B0503020204020204" pitchFamily="34" charset="-122"/>
                  <a:ea typeface="微软雅黑" panose="020B0503020204020204" pitchFamily="34" charset="-122"/>
                  <a:sym typeface="+mn-ea"/>
                </a:rPr>
                <a:t>联合分析向量扩展支持、内核调度机制与 </a:t>
              </a:r>
              <a:r>
                <a:rPr lang="en-US" altLang="zh-CN" dirty="0">
                  <a:solidFill>
                    <a:schemeClr val="tx1"/>
                  </a:solidFill>
                  <a:latin typeface="微软雅黑" panose="020B0503020204020204" pitchFamily="34" charset="-122"/>
                  <a:ea typeface="微软雅黑" panose="020B0503020204020204" pitchFamily="34" charset="-122"/>
                  <a:sym typeface="+mn-ea"/>
                </a:rPr>
                <a:t>llama-server </a:t>
              </a:r>
              <a:r>
                <a:rPr lang="zh-CN" altLang="en-US" dirty="0">
                  <a:solidFill>
                    <a:schemeClr val="tx1"/>
                  </a:solidFill>
                  <a:latin typeface="微软雅黑" panose="020B0503020204020204" pitchFamily="34" charset="-122"/>
                  <a:ea typeface="微软雅黑" panose="020B0503020204020204" pitchFamily="34" charset="-122"/>
                  <a:sym typeface="+mn-ea"/>
                </a:rPr>
                <a:t>并发行为，探索用户态可编程调度与向量上下文切换的协同优化空间，为 </a:t>
              </a:r>
              <a:r>
                <a:rPr lang="en-US" altLang="zh-CN" dirty="0">
                  <a:solidFill>
                    <a:schemeClr val="tx1"/>
                  </a:solidFill>
                  <a:latin typeface="微软雅黑" panose="020B0503020204020204" pitchFamily="34" charset="-122"/>
                  <a:ea typeface="微软雅黑" panose="020B0503020204020204" pitchFamily="34" charset="-122"/>
                  <a:sym typeface="+mn-ea"/>
                </a:rPr>
                <a:t>RISC-V </a:t>
              </a:r>
              <a:r>
                <a:rPr lang="zh-CN" altLang="en-US" dirty="0">
                  <a:solidFill>
                    <a:schemeClr val="tx1"/>
                  </a:solidFill>
                  <a:latin typeface="微软雅黑" panose="020B0503020204020204" pitchFamily="34" charset="-122"/>
                  <a:ea typeface="微软雅黑" panose="020B0503020204020204" pitchFamily="34" charset="-122"/>
                  <a:sym typeface="+mn-ea"/>
                </a:rPr>
                <a:t>平台进入 </a:t>
              </a:r>
              <a:r>
                <a:rPr lang="en-US" altLang="zh-CN" dirty="0">
                  <a:solidFill>
                    <a:schemeClr val="tx1"/>
                  </a:solidFill>
                  <a:latin typeface="微软雅黑" panose="020B0503020204020204" pitchFamily="34" charset="-122"/>
                  <a:ea typeface="微软雅黑" panose="020B0503020204020204" pitchFamily="34" charset="-122"/>
                  <a:sym typeface="+mn-ea"/>
                </a:rPr>
                <a:t>AI </a:t>
              </a:r>
              <a:r>
                <a:rPr lang="zh-CN" altLang="en-US" dirty="0">
                  <a:solidFill>
                    <a:schemeClr val="tx1"/>
                  </a:solidFill>
                  <a:latin typeface="微软雅黑" panose="020B0503020204020204" pitchFamily="34" charset="-122"/>
                  <a:ea typeface="微软雅黑" panose="020B0503020204020204" pitchFamily="34" charset="-122"/>
                  <a:sym typeface="+mn-ea"/>
                </a:rPr>
                <a:t>边缘推理场景提供定量参考。</a:t>
              </a:r>
              <a:endParaRPr lang="zh-CN" altLang="en-US" dirty="0">
                <a:solidFill>
                  <a:schemeClr val="tx1"/>
                </a:soli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sym typeface="+mn-ea"/>
                </a:rPr>
                <a:t>构建可复现的评测与追踪方法论：</a:t>
              </a:r>
              <a:r>
                <a:rPr lang="zh-CN" altLang="en-US" dirty="0">
                  <a:solidFill>
                    <a:schemeClr val="tx1"/>
                  </a:solidFill>
                  <a:latin typeface="微软雅黑" panose="020B0503020204020204" pitchFamily="34" charset="-122"/>
                  <a:ea typeface="微软雅黑" panose="020B0503020204020204" pitchFamily="34" charset="-122"/>
                  <a:sym typeface="+mn-ea"/>
                </a:rPr>
                <a:t>统一软硬件基线、并发配置与模型参数,确保实验结果可横向对比，提供从 </a:t>
              </a:r>
              <a:r>
                <a:rPr lang="en-US" altLang="zh-CN" dirty="0">
                  <a:solidFill>
                    <a:schemeClr val="tx1"/>
                  </a:solidFill>
                  <a:latin typeface="微软雅黑" panose="020B0503020204020204" pitchFamily="34" charset="-122"/>
                  <a:ea typeface="微软雅黑" panose="020B0503020204020204" pitchFamily="34" charset="-122"/>
                  <a:sym typeface="+mn-ea"/>
                </a:rPr>
                <a:t>eBPF/dmesg </a:t>
              </a:r>
              <a:r>
                <a:rPr lang="zh-CN" altLang="en-US" dirty="0">
                  <a:solidFill>
                    <a:schemeClr val="tx1"/>
                  </a:solidFill>
                  <a:latin typeface="微软雅黑" panose="020B0503020204020204" pitchFamily="34" charset="-122"/>
                  <a:ea typeface="微软雅黑" panose="020B0503020204020204" pitchFamily="34" charset="-122"/>
                  <a:sym typeface="+mn-ea"/>
                </a:rPr>
                <a:t>数据采集到量化分析的完整流程，形成可迁移到其他 </a:t>
              </a:r>
              <a:r>
                <a:rPr lang="en-US" altLang="zh-CN" dirty="0">
                  <a:solidFill>
                    <a:schemeClr val="tx1"/>
                  </a:solidFill>
                  <a:latin typeface="微软雅黑" panose="020B0503020204020204" pitchFamily="34" charset="-122"/>
                  <a:ea typeface="微软雅黑" panose="020B0503020204020204" pitchFamily="34" charset="-122"/>
                  <a:sym typeface="+mn-ea"/>
                </a:rPr>
                <a:t>RISC-V </a:t>
              </a:r>
              <a:r>
                <a:rPr lang="zh-CN" altLang="en-US" dirty="0">
                  <a:solidFill>
                    <a:schemeClr val="tx1"/>
                  </a:solidFill>
                  <a:latin typeface="微软雅黑" panose="020B0503020204020204" pitchFamily="34" charset="-122"/>
                  <a:ea typeface="微软雅黑" panose="020B0503020204020204" pitchFamily="34" charset="-122"/>
                  <a:sym typeface="+mn-ea"/>
                </a:rPr>
                <a:t>平台或推理框架的评测框架。</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9" name="矩形: 圆顶角 7"/>
            <p:cNvSpPr/>
            <p:nvPr/>
          </p:nvSpPr>
          <p:spPr>
            <a:xfrm>
              <a:off x="6074122" y="2794742"/>
              <a:ext cx="5545400" cy="511606"/>
            </a:xfrm>
            <a:prstGeom prst="round2SameRect">
              <a:avLst/>
            </a:prstGeom>
            <a:solidFill>
              <a:schemeClr val="accent4">
                <a:lumMod val="20000"/>
                <a:lumOff val="8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hangingPunct="0">
                <a:lnSpc>
                  <a:spcPct val="130000"/>
                </a:lnSpc>
              </a:pPr>
              <a:r>
                <a:rPr kumimoji="1" lang="zh-CN" altLang="en-US" b="1" dirty="0">
                  <a:solidFill>
                    <a:schemeClr val="accent1">
                      <a:lumMod val="75000"/>
                    </a:schemeClr>
                  </a:solidFill>
                  <a:latin typeface="微软雅黑" panose="020B0503020204020204" pitchFamily="34" charset="-122"/>
                  <a:ea typeface="微软雅黑" panose="020B0503020204020204" pitchFamily="34" charset="-122"/>
                </a:rPr>
                <a:t>项目贡献</a:t>
              </a:r>
              <a:endParaRPr kumimoji="1" lang="zh-CN" altLang="en-US" b="1" dirty="0">
                <a:solidFill>
                  <a:schemeClr val="accent1">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36"/>
          <p:cNvSpPr>
            <a:spLocks noGrp="1"/>
          </p:cNvSpPr>
          <p:nvPr>
            <p:ph type="ctrTitle"/>
          </p:nvPr>
        </p:nvSpPr>
        <p:spPr/>
        <p:txBody>
          <a:bodyPr/>
          <a:lstStyle/>
          <a:p>
            <a:r>
              <a:rPr lang="zh-CN" altLang="en-US" dirty="0"/>
              <a:t>感谢各位老师的指导！</a:t>
            </a:r>
            <a:endParaRPr lang="zh-CN" altLang="en-US" dirty="0"/>
          </a:p>
        </p:txBody>
      </p:sp>
      <p:sp>
        <p:nvSpPr>
          <p:cNvPr id="38" name="文本占位符 37"/>
          <p:cNvSpPr>
            <a:spLocks noGrp="1"/>
          </p:cNvSpPr>
          <p:nvPr>
            <p:ph type="body" sz="quarter" idx="14"/>
          </p:nvPr>
        </p:nvSpPr>
        <p:spPr/>
        <p:txBody>
          <a:bodyPr/>
          <a:lstStyle/>
          <a:p>
            <a:r>
              <a:rPr lang="zh-CN" altLang="en-US" dirty="0"/>
              <a:t>芯火燎原</a:t>
            </a:r>
            <a:endParaRPr lang="zh-CN" altLang="en-US" dirty="0"/>
          </a:p>
          <a:p>
            <a:endParaRPr lang="zh-CN" altLang="en-US" dirty="0"/>
          </a:p>
        </p:txBody>
      </p:sp>
      <p:sp>
        <p:nvSpPr>
          <p:cNvPr id="40" name="文本占位符 39"/>
          <p:cNvSpPr>
            <a:spLocks noGrp="1"/>
          </p:cNvSpPr>
          <p:nvPr>
            <p:ph type="body" sz="quarter" idx="20"/>
          </p:nvPr>
        </p:nvSpPr>
        <p:spPr/>
        <p:txBody>
          <a:bodyPr/>
          <a:lstStyle/>
          <a:p>
            <a:r>
              <a:rPr lang="en-US" altLang="zh-CN" dirty="0"/>
              <a:t>2026/7/29</a:t>
            </a:r>
            <a:endParaRPr lang="zh-CN" altLang="en-US" dirty="0"/>
          </a:p>
          <a:p>
            <a:endParaRPr lang="zh-CN" altLang="en-US" dirty="0"/>
          </a:p>
        </p:txBody>
      </p:sp>
      <p:sp>
        <p:nvSpPr>
          <p:cNvPr id="41" name="文本占位符 40"/>
          <p:cNvSpPr>
            <a:spLocks noGrp="1"/>
          </p:cNvSpPr>
          <p:nvPr>
            <p:ph type="body" sz="quarter" idx="22"/>
          </p:nvPr>
        </p:nvSpPr>
        <p:spPr/>
        <p:txBody>
          <a:bodyPr/>
          <a:lstStyle/>
          <a:p>
            <a:endParaRPr lang="zh-CN" altLang="en-US"/>
          </a:p>
        </p:txBody>
      </p:sp>
      <p:sp>
        <p:nvSpPr>
          <p:cNvPr id="42" name="文本占位符 41"/>
          <p:cNvSpPr>
            <a:spLocks noGrp="1"/>
          </p:cNvSpPr>
          <p:nvPr>
            <p:ph type="body" sz="quarter" idx="25"/>
          </p:nvPr>
        </p:nvSpPr>
        <p:spPr/>
        <p:txBody>
          <a:bodyPr/>
          <a:lstStyle/>
          <a:p>
            <a:endParaRPr lang="zh-CN" altLang="en-US"/>
          </a:p>
        </p:txBody>
      </p:sp>
      <p:sp>
        <p:nvSpPr>
          <p:cNvPr id="33" name="文本占位符 50"/>
          <p:cNvSpPr>
            <a:spLocks noGrp="1"/>
          </p:cNvSpPr>
          <p:nvPr/>
        </p:nvSpPr>
        <p:spPr>
          <a:xfrm>
            <a:off x="3937218" y="4640664"/>
            <a:ext cx="1161805" cy="29036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参赛团队：</a:t>
            </a:r>
            <a:endParaRPr lang="zh-CN" altLang="en-US"/>
          </a:p>
        </p:txBody>
      </p:sp>
      <p:sp>
        <p:nvSpPr>
          <p:cNvPr id="34" name="文本占位符 53"/>
          <p:cNvSpPr>
            <a:spLocks noGrp="1"/>
          </p:cNvSpPr>
          <p:nvPr/>
        </p:nvSpPr>
        <p:spPr>
          <a:xfrm>
            <a:off x="3937218" y="5077480"/>
            <a:ext cx="1161805" cy="29037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完成日期：</a:t>
            </a:r>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DIAGRAM_VIRTUALLY_FRAME" val="{&quot;height&quot;:329.9507086614173,&quot;left&quot;:74.69401574803149,&quot;top&quot;:173.80062992125983,&quot;width&quot;:375.8755118110236}"/>
</p:tagLst>
</file>

<file path=ppt/tags/tag66.xml><?xml version="1.0" encoding="utf-8"?>
<p:tagLst xmlns:p="http://schemas.openxmlformats.org/presentationml/2006/main">
  <p:tag name="KSO_WM_DIAGRAM_VIRTUALLY_FRAME" val="{&quot;height&quot;:329.9507086614173,&quot;left&quot;:74.69401574803149,&quot;top&quot;:173.80062992125983,&quot;width&quot;:375.8755118110236}"/>
</p:tagLst>
</file>

<file path=ppt/tags/tag67.xml><?xml version="1.0" encoding="utf-8"?>
<p:tagLst xmlns:p="http://schemas.openxmlformats.org/presentationml/2006/main">
  <p:tag name="KSO_WM_DIAGRAM_VIRTUALLY_FRAME" val="{&quot;height&quot;:348.45133858267707,&quot;left&quot;:74.69401574803149,&quot;top&quot;:155.3,&quot;width&quot;:375.8755118110236}"/>
</p:tagLst>
</file>

<file path=ppt/tags/tag68.xml><?xml version="1.0" encoding="utf-8"?>
<p:tagLst xmlns:p="http://schemas.openxmlformats.org/presentationml/2006/main">
  <p:tag name="KSO_WM_DIAGRAM_VIRTUALLY_FRAME" val="{&quot;height&quot;:348.45133858267707,&quot;left&quot;:74.69401574803149,&quot;top&quot;:155.3,&quot;width&quot;:375.8755118110236}"/>
</p:tagLst>
</file>

<file path=ppt/tags/tag69.xml><?xml version="1.0" encoding="utf-8"?>
<p:tagLst xmlns:p="http://schemas.openxmlformats.org/presentationml/2006/main">
  <p:tag name="KSO_WM_DIAGRAM_VIRTUALLY_FRAME" val="{&quot;height&quot;:348.45133858267707,&quot;left&quot;:74.69401574803149,&quot;top&quot;:155.3,&quot;width&quot;:375.8755118110236}"/>
</p:tagLst>
</file>

<file path=ppt/tags/tag70.xml><?xml version="1.0" encoding="utf-8"?>
<p:tagLst xmlns:p="http://schemas.openxmlformats.org/presentationml/2006/main">
  <p:tag name="KSO_WM_DIAGRAM_VIRTUALLY_FRAME" val="{&quot;height&quot;:348.45133858267707,&quot;left&quot;:74.69401574803149,&quot;top&quot;:155.3,&quot;width&quot;:375.8755118110236}"/>
</p:tagLst>
</file>

<file path=ppt/tags/tag71.xml><?xml version="1.0" encoding="utf-8"?>
<p:tagLst xmlns:p="http://schemas.openxmlformats.org/presentationml/2006/main">
  <p:tag name="KSO_WM_DIAGRAM_VIRTUALLY_FRAME" val="{&quot;height&quot;:348.45133858267707,&quot;left&quot;:74.69401574803149,&quot;top&quot;:155.3,&quot;width&quot;:375.8755118110236}"/>
</p:tagLst>
</file>

<file path=ppt/tags/tag72.xml><?xml version="1.0" encoding="utf-8"?>
<p:tagLst xmlns:p="http://schemas.openxmlformats.org/presentationml/2006/main">
  <p:tag name="KSO_WM_DIAGRAM_VIRTUALLY_FRAME" val="{&quot;height&quot;:348.45133858267707,&quot;left&quot;:74.69401574803149,&quot;top&quot;:155.3,&quot;width&quot;:375.8755118110236}"/>
</p:tagLst>
</file>

<file path=ppt/tags/tag73.xml><?xml version="1.0" encoding="utf-8"?>
<p:tagLst xmlns:p="http://schemas.openxmlformats.org/presentationml/2006/main">
  <p:tag name="KSO_WM_DIAGRAM_VIRTUALLY_FRAME" val="{&quot;height&quot;:348.45133858267707,&quot;left&quot;:74.69401574803149,&quot;top&quot;:155.3,&quot;width&quot;:375.8755118110236}"/>
</p:tagLst>
</file>

<file path=ppt/tags/tag74.xml><?xml version="1.0" encoding="utf-8"?>
<p:tagLst xmlns:p="http://schemas.openxmlformats.org/presentationml/2006/main">
  <p:tag name="KSO_WM_DIAGRAM_VIRTUALLY_FRAME" val="{&quot;height&quot;:348.45133858267707,&quot;left&quot;:74.69401574803149,&quot;top&quot;:155.3,&quot;width&quot;:375.8755118110236}"/>
</p:tagLst>
</file>

<file path=ppt/tags/tag75.xml><?xml version="1.0" encoding="utf-8"?>
<p:tagLst xmlns:p="http://schemas.openxmlformats.org/presentationml/2006/main">
  <p:tag name="KSO_WM_DIAGRAM_VIRTUALLY_FRAME" val="{&quot;height&quot;:348.45133858267707,&quot;left&quot;:74.69401574803149,&quot;top&quot;:155.3,&quot;width&quot;:375.8755118110236}"/>
</p:tagLst>
</file>

<file path=ppt/tags/tag76.xml><?xml version="1.0" encoding="utf-8"?>
<p:tagLst xmlns:p="http://schemas.openxmlformats.org/presentationml/2006/main">
  <p:tag name="KSO_WM_DIAGRAM_VIRTUALLY_FRAME" val="{&quot;height&quot;:348.45133858267707,&quot;left&quot;:74.69401574803149,&quot;top&quot;:155.3,&quot;width&quot;:375.8755118110236}"/>
</p:tagLst>
</file>

<file path=ppt/tags/tag77.xml><?xml version="1.0" encoding="utf-8"?>
<p:tagLst xmlns:p="http://schemas.openxmlformats.org/presentationml/2006/main">
  <p:tag name="KSO_WM_DIAGRAM_VIRTUALLY_FRAME" val="{&quot;height&quot;:348.45133858267707,&quot;left&quot;:74.69401574803149,&quot;top&quot;:155.3,&quot;width&quot;:375.8755118110236}"/>
</p:tagLst>
</file>

<file path=ppt/tags/tag78.xml><?xml version="1.0" encoding="utf-8"?>
<p:tagLst xmlns:p="http://schemas.openxmlformats.org/presentationml/2006/main">
  <p:tag name="KSO_WM_DIAGRAM_VIRTUALLY_FRAME" val="{&quot;height&quot;:348.45133858267707,&quot;left&quot;:74.69401574803149,&quot;top&quot;:155.3,&quot;width&quot;:375.8755118110236}"/>
</p:tagLst>
</file>

<file path=ppt/tags/tag79.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0.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1.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2.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3.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4.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5.xml><?xml version="1.0" encoding="utf-8"?>
<p:tagLst xmlns:p="http://schemas.openxmlformats.org/presentationml/2006/main">
  <p:tag name="KSO_WM_DIAGRAM_VIRTUALLY_FRAME" val="{&quot;height&quot;:329.95070866141725,&quot;left&quot;:74.69401574803149,&quot;top&quot;:173.80062992125983,&quot;width&quot;:750.0559842519685}"/>
</p:tagLst>
</file>

<file path=ppt/tags/tag86.xml><?xml version="1.0" encoding="utf-8"?>
<p:tagLst xmlns:p="http://schemas.openxmlformats.org/presentationml/2006/main">
  <p:tag name="KSO_WM_DIAGRAM_VIRTUALLY_FRAME" val="{&quot;height&quot;:329.9507086614173,&quot;left&quot;:74.69401574803149,&quot;top&quot;:173.80062992125983,&quot;width&quot;:375.8755118110236}"/>
</p:tagLst>
</file>

<file path=ppt/tags/tag87.xml><?xml version="1.0" encoding="utf-8"?>
<p:tagLst xmlns:p="http://schemas.openxmlformats.org/presentationml/2006/main">
  <p:tag name="KSO_WM_DIAGRAM_VIRTUALLY_FRAME" val="{&quot;height&quot;:329.9507086614173,&quot;left&quot;:74.69401574803149,&quot;top&quot;:173.80062992125983,&quot;width&quot;:375.8755118110236}"/>
</p:tagLst>
</file>

<file path=ppt/tags/tag88.xml><?xml version="1.0" encoding="utf-8"?>
<p:tagLst xmlns:p="http://schemas.openxmlformats.org/presentationml/2006/main">
  <p:tag name="KSO_WM_DIAGRAM_VIRTUALLY_FRAME" val="{&quot;height&quot;:329.9507086614173,&quot;left&quot;:74.69401574803149,&quot;top&quot;:173.80062992125983,&quot;width&quot;:375.8755118110236}"/>
</p:tagLst>
</file>

<file path=ppt/tags/tag89.xml><?xml version="1.0" encoding="utf-8"?>
<p:tagLst xmlns:p="http://schemas.openxmlformats.org/presentationml/2006/main">
  <p:tag name="KSO_WM_AICARD_INVALID" val="Invalid"/>
</p:tagLst>
</file>

<file path=ppt/tags/tag90.xml><?xml version="1.0" encoding="utf-8"?>
<p:tagLst xmlns:p="http://schemas.openxmlformats.org/presentationml/2006/main">
  <p:tag name="COMMONDATA" val="eyJoZGlkIjoiZDFlMjQ2NDczNzA0OWJlNDA3OTJmZGZiMDA3NzgwZj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6034</Words>
  <Application>WPS 演示</Application>
  <PresentationFormat>宽屏</PresentationFormat>
  <Paragraphs>762</Paragraphs>
  <Slides>31</Slides>
  <Notes>0</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Arial</vt:lpstr>
      <vt:lpstr>宋体</vt:lpstr>
      <vt:lpstr>Wingdings</vt:lpstr>
      <vt:lpstr>微软雅黑</vt:lpstr>
      <vt:lpstr>黑体</vt:lpstr>
      <vt:lpstr>Arial Unicode MS</vt:lpstr>
      <vt:lpstr>等线</vt:lpstr>
      <vt:lpstr>Arial</vt:lpstr>
      <vt:lpstr>Arial</vt:lpstr>
      <vt:lpstr>Arial</vt:lpstr>
      <vt:lpstr>Office 主题​​</vt:lpstr>
      <vt:lpstr>面向 RISC-V Vector 扩展的大语言模型推理并发调度优化</vt:lpstr>
      <vt:lpstr>项目背景</vt:lpstr>
      <vt:lpstr>PowerPoint 演示文稿</vt:lpstr>
      <vt:lpstr>1.1 赛题背景</vt:lpstr>
      <vt:lpstr>PowerPoint 演示文稿</vt:lpstr>
      <vt:lpstr>2.1 现状与问题</vt:lpstr>
      <vt:lpstr>PowerPoint 演示文稿</vt:lpstr>
      <vt:lpstr>3.1 Linux的CFS调度与V状态切换</vt:lpstr>
      <vt:lpstr>3.2 量化V状态切换和推理关系</vt:lpstr>
      <vt:lpstr>3.2 量化V状态切换和推理关系</vt:lpstr>
      <vt:lpstr>3.3 优化策略</vt:lpstr>
      <vt:lpstr>3.4 总体架构</vt:lpstr>
      <vt:lpstr>3.5 七类优化策略</vt:lpstr>
      <vt:lpstr>3.5 七类优化策略</vt:lpstr>
      <vt:lpstr>3.5 七类优化策略</vt:lpstr>
      <vt:lpstr>3.5 七类优化策略</vt:lpstr>
      <vt:lpstr>PowerPoint 演示文稿</vt:lpstr>
      <vt:lpstr>4.1 测试方案</vt:lpstr>
      <vt:lpstr>4.1 测试方案</vt:lpstr>
      <vt:lpstr>4.2 测试环境</vt:lpstr>
      <vt:lpstr>4.3 测试结果与分析</vt:lpstr>
      <vt:lpstr>4.3 测试结果与分析</vt:lpstr>
      <vt:lpstr>4.4 测试结论 </vt:lpstr>
      <vt:lpstr>5.3 作品演示</vt:lpstr>
      <vt:lpstr>PowerPoint 演示文稿</vt:lpstr>
      <vt:lpstr>5.1 总结</vt:lpstr>
      <vt:lpstr>5.2 项目成果</vt:lpstr>
      <vt:lpstr>5.2 项目成果</vt:lpstr>
      <vt:lpstr>5.2 项目成果</vt:lpstr>
      <vt:lpstr>5.4 展望</vt:lpstr>
      <vt:lpstr>感谢各位老师的指导！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果一</cp:lastModifiedBy>
  <cp:revision>115</cp:revision>
  <dcterms:created xsi:type="dcterms:W3CDTF">2024-08-05T03:21:00Z</dcterms:created>
  <dcterms:modified xsi:type="dcterms:W3CDTF">2026-07-30T06:24:08Z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CA42E000A0D742FDB2A382337821ED55_13</vt:lpwstr>
  </property>
  <property fmtid="{D5CDD505-2E9C-101B-9397-08002B2CF9AE}" pid="3" name="KSOProductBuildVer">
    <vt:lpwstr>2052-12.1.0.23122</vt:lpwstr>
  </property>
</Properties>
</file>